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microsoft.com/office/2020/02/relationships/classificationlabels" Target="docMetadata/LabelInfo.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72" r:id="rId12"/>
    <p:sldId id="268" r:id="rId13"/>
    <p:sldId id="269" r:id="rId14"/>
    <p:sldId id="270" r:id="rId15"/>
    <p:sldId id="27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50" d="100"/>
          <a:sy n="150" d="100"/>
        </p:scale>
        <p:origin x="654" y="1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presProps" Target="pres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theme" Target="theme/theme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2D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731520"/>
            <a:ext cx="9144000" cy="240066"/>
          </a:xfrm>
          <a:prstGeom prst="rect">
            <a:avLst/>
          </a:prstGeom>
          <a:noFill/>
        </p:spPr>
        <p:txBody>
          <a:bodyPr wrap="square" lIns="45720" tIns="27432" rIns="45720" bIns="27432" anchor="t">
            <a:spAutoFit/>
          </a:bodyPr>
          <a:lstStyle/>
          <a:p>
            <a:pPr algn="l"/>
            <a:r>
              <a:rPr sz="1200" b="1" i="0" dirty="0">
                <a:solidFill>
                  <a:srgbClr val="68ACE5"/>
                </a:solidFill>
                <a:latin typeface="Outfit"/>
              </a:rPr>
              <a:t>STRATEGIC BLUEPRINT  |  BOEHRINGER INGELHEIM KOREA</a:t>
            </a:r>
          </a:p>
        </p:txBody>
      </p:sp>
      <p:sp>
        <p:nvSpPr>
          <p:cNvPr id="5" name="TextBox 4"/>
          <p:cNvSpPr txBox="1"/>
          <p:nvPr/>
        </p:nvSpPr>
        <p:spPr>
          <a:xfrm>
            <a:off x="914400" y="1737360"/>
            <a:ext cx="10515600" cy="1645920"/>
          </a:xfrm>
          <a:prstGeom prst="rect">
            <a:avLst/>
          </a:prstGeom>
          <a:noFill/>
        </p:spPr>
        <p:txBody>
          <a:bodyPr wrap="square" lIns="45720" tIns="27432" rIns="45720" bIns="27432" anchor="t">
            <a:spAutoFit/>
          </a:bodyPr>
          <a:lstStyle/>
          <a:p>
            <a:pPr algn="l"/>
            <a:r>
              <a:rPr sz="5200" b="1" i="0" dirty="0">
                <a:solidFill>
                  <a:srgbClr val="FFFFFF"/>
                </a:solidFill>
                <a:latin typeface="Outfit"/>
              </a:rPr>
              <a:t>Korea MASLD / MASH</a:t>
            </a:r>
          </a:p>
          <a:p>
            <a:pPr algn="l"/>
            <a:r>
              <a:rPr sz="5200" b="1" i="0" dirty="0">
                <a:solidFill>
                  <a:srgbClr val="FFFFFF"/>
                </a:solidFill>
                <a:latin typeface="Outfit"/>
              </a:rPr>
              <a:t>Ecosystem Blueprint</a:t>
            </a:r>
          </a:p>
        </p:txBody>
      </p:sp>
      <p:sp>
        <p:nvSpPr>
          <p:cNvPr id="6" name="TextBox 5"/>
          <p:cNvSpPr txBox="1"/>
          <p:nvPr/>
        </p:nvSpPr>
        <p:spPr>
          <a:xfrm>
            <a:off x="914400" y="3840480"/>
            <a:ext cx="10515600" cy="1097280"/>
          </a:xfrm>
          <a:prstGeom prst="rect">
            <a:avLst/>
          </a:prstGeom>
          <a:noFill/>
        </p:spPr>
        <p:txBody>
          <a:bodyPr wrap="square" lIns="45720" tIns="27432" rIns="45720" bIns="27432" anchor="t">
            <a:spAutoFit/>
          </a:bodyPr>
          <a:lstStyle/>
          <a:p>
            <a:pPr algn="l"/>
            <a:r>
              <a:rPr sz="2200" b="0" i="0">
                <a:solidFill>
                  <a:srgbClr val="68ACE5"/>
                </a:solidFill>
                <a:latin typeface="Outfit"/>
              </a:rPr>
              <a:t>Systems Analysis, Gap Identification, and Strategic Framework</a:t>
            </a:r>
          </a:p>
        </p:txBody>
      </p:sp>
      <p:sp>
        <p:nvSpPr>
          <p:cNvPr id="7" name="Rectangle 6"/>
          <p:cNvSpPr/>
          <p:nvPr/>
        </p:nvSpPr>
        <p:spPr>
          <a:xfrm>
            <a:off x="914400" y="4937760"/>
            <a:ext cx="3657600" cy="19050"/>
          </a:xfrm>
          <a:prstGeom prst="rect">
            <a:avLst/>
          </a:prstGeom>
          <a:solidFill>
            <a:srgbClr val="68A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5074920"/>
            <a:ext cx="9144000" cy="270843"/>
          </a:xfrm>
          <a:prstGeom prst="rect">
            <a:avLst/>
          </a:prstGeom>
          <a:noFill/>
        </p:spPr>
        <p:txBody>
          <a:bodyPr wrap="square" lIns="45720" tIns="27432" rIns="45720" bIns="27432" anchor="t">
            <a:spAutoFit/>
          </a:bodyPr>
          <a:lstStyle/>
          <a:p>
            <a:pPr algn="l"/>
            <a:r>
              <a:rPr sz="1400" b="0" i="0" dirty="0">
                <a:solidFill>
                  <a:srgbClr val="FFFFFF"/>
                </a:solidFill>
                <a:latin typeface="Outfit"/>
              </a:rPr>
              <a:t>Dr. Kyungmoon Kim, M</a:t>
            </a:r>
            <a:r>
              <a:rPr lang="en-US" sz="1400" b="0" i="0" dirty="0">
                <a:solidFill>
                  <a:srgbClr val="FFFFFF"/>
                </a:solidFill>
                <a:latin typeface="Outfit"/>
              </a:rPr>
              <a:t>.</a:t>
            </a:r>
            <a:r>
              <a:rPr sz="1400" b="0" i="0" dirty="0">
                <a:solidFill>
                  <a:srgbClr val="FFFFFF"/>
                </a:solidFill>
                <a:latin typeface="Outfit"/>
              </a:rPr>
              <a:t>D</a:t>
            </a:r>
            <a:r>
              <a:rPr lang="en-US" sz="1400" b="0" i="0" dirty="0">
                <a:solidFill>
                  <a:srgbClr val="FFFFFF"/>
                </a:solidFill>
                <a:latin typeface="Outfit"/>
              </a:rPr>
              <a:t>., MPH</a:t>
            </a:r>
            <a:r>
              <a:rPr sz="1400" b="0" i="0" dirty="0">
                <a:solidFill>
                  <a:srgbClr val="FFFFFF"/>
                </a:solidFill>
                <a:latin typeface="Outfit"/>
              </a:rPr>
              <a:t>  ·  Medical Affairs</a:t>
            </a:r>
          </a:p>
        </p:txBody>
      </p:sp>
      <p:sp>
        <p:nvSpPr>
          <p:cNvPr id="10" name="TextBox 9"/>
          <p:cNvSpPr txBox="1"/>
          <p:nvPr/>
        </p:nvSpPr>
        <p:spPr>
          <a:xfrm>
            <a:off x="914400" y="5852160"/>
            <a:ext cx="9144000" cy="224677"/>
          </a:xfrm>
          <a:prstGeom prst="rect">
            <a:avLst/>
          </a:prstGeom>
          <a:noFill/>
        </p:spPr>
        <p:txBody>
          <a:bodyPr wrap="square" lIns="45720" tIns="27432" rIns="45720" bIns="27432" anchor="t">
            <a:spAutoFit/>
          </a:bodyPr>
          <a:lstStyle/>
          <a:p>
            <a:pPr algn="l"/>
            <a:r>
              <a:rPr lang="en-US" sz="1100" b="0" i="0" dirty="0">
                <a:solidFill>
                  <a:srgbClr val="898885"/>
                </a:solidFill>
                <a:latin typeface="Outfit"/>
              </a:rPr>
              <a:t>Apr 2026</a:t>
            </a:r>
            <a:r>
              <a:rPr sz="1100" b="0" i="0" dirty="0">
                <a:solidFill>
                  <a:srgbClr val="898885"/>
                </a:solidFill>
                <a:latin typeface="Outfit"/>
              </a:rPr>
              <a:t>  |  Johns Hopkins Bloomberg School of Public Health  ·  MPH Practicum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002D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9144000" cy="320040"/>
          </a:xfrm>
          <a:prstGeom prst="rect">
            <a:avLst/>
          </a:prstGeom>
          <a:noFill/>
        </p:spPr>
        <p:txBody>
          <a:bodyPr wrap="square" lIns="45720" tIns="27432" rIns="45720" bIns="27432" anchor="t">
            <a:spAutoFit/>
          </a:bodyPr>
          <a:lstStyle/>
          <a:p>
            <a:pPr algn="l"/>
            <a:r>
              <a:rPr sz="1000" b="1" i="0">
                <a:solidFill>
                  <a:srgbClr val="68ACE5"/>
                </a:solidFill>
                <a:latin typeface="Outfit"/>
              </a:rPr>
              <a:t>EXECUTIVE SUMMARY</a:t>
            </a:r>
          </a:p>
        </p:txBody>
      </p:sp>
      <p:sp>
        <p:nvSpPr>
          <p:cNvPr id="4" name="TextBox 3"/>
          <p:cNvSpPr txBox="1"/>
          <p:nvPr/>
        </p:nvSpPr>
        <p:spPr>
          <a:xfrm>
            <a:off x="502920" y="457200"/>
            <a:ext cx="10515600" cy="424732"/>
          </a:xfrm>
          <a:prstGeom prst="rect">
            <a:avLst/>
          </a:prstGeom>
          <a:noFill/>
        </p:spPr>
        <p:txBody>
          <a:bodyPr wrap="square" lIns="45720" tIns="27432" rIns="45720" bIns="27432" anchor="t">
            <a:spAutoFit/>
          </a:bodyPr>
          <a:lstStyle/>
          <a:p>
            <a:pPr algn="l"/>
            <a:r>
              <a:rPr lang="en-US" sz="2400" b="1" i="0" dirty="0">
                <a:solidFill>
                  <a:srgbClr val="FFFFFF"/>
                </a:solidFill>
                <a:latin typeface="Outfit"/>
              </a:rPr>
              <a:t>Current clinical gap in MASH/MASLD</a:t>
            </a:r>
            <a:endParaRPr sz="2400" b="1" i="0" dirty="0">
              <a:solidFill>
                <a:srgbClr val="FFFFFF"/>
              </a:solidFill>
              <a:latin typeface="Outfit"/>
            </a:endParaRPr>
          </a:p>
        </p:txBody>
      </p:sp>
      <p:sp>
        <p:nvSpPr>
          <p:cNvPr id="5" name="TextBox 4"/>
          <p:cNvSpPr txBox="1"/>
          <p:nvPr/>
        </p:nvSpPr>
        <p:spPr>
          <a:xfrm>
            <a:off x="11338560" y="256032"/>
            <a:ext cx="640080" cy="365760"/>
          </a:xfrm>
          <a:prstGeom prst="rect">
            <a:avLst/>
          </a:prstGeom>
          <a:noFill/>
        </p:spPr>
        <p:txBody>
          <a:bodyPr wrap="square" lIns="45720" tIns="27432" rIns="45720" bIns="27432" anchor="t">
            <a:spAutoFit/>
          </a:bodyPr>
          <a:lstStyle/>
          <a:p>
            <a:pPr algn="r"/>
            <a:r>
              <a:rPr sz="1100" b="1" i="0">
                <a:solidFill>
                  <a:srgbClr val="68ACE5"/>
                </a:solidFill>
                <a:latin typeface="Outfit"/>
              </a:rPr>
              <a:t>2</a:t>
            </a:r>
          </a:p>
        </p:txBody>
      </p:sp>
      <p:sp>
        <p:nvSpPr>
          <p:cNvPr id="6" name="Rectangle 5"/>
          <p:cNvSpPr/>
          <p:nvPr/>
        </p:nvSpPr>
        <p:spPr>
          <a:xfrm>
            <a:off x="502920" y="1280160"/>
            <a:ext cx="3657600" cy="16459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7" name="TextBox 6"/>
          <p:cNvSpPr txBox="1"/>
          <p:nvPr/>
        </p:nvSpPr>
        <p:spPr>
          <a:xfrm>
            <a:off x="502920" y="1325880"/>
            <a:ext cx="3657600" cy="1071062"/>
          </a:xfrm>
          <a:prstGeom prst="rect">
            <a:avLst/>
          </a:prstGeom>
          <a:noFill/>
        </p:spPr>
        <p:txBody>
          <a:bodyPr wrap="square" lIns="45720" tIns="27432" rIns="45720" bIns="27432" anchor="t">
            <a:spAutoFit/>
          </a:bodyPr>
          <a:lstStyle/>
          <a:p>
            <a:pPr algn="ctr"/>
            <a:r>
              <a:rPr sz="6600" b="1" i="0">
                <a:solidFill>
                  <a:srgbClr val="002D72"/>
                </a:solidFill>
                <a:latin typeface="Outfit"/>
              </a:rPr>
              <a:t>13 M</a:t>
            </a:r>
          </a:p>
        </p:txBody>
      </p:sp>
      <p:sp>
        <p:nvSpPr>
          <p:cNvPr id="8" name="TextBox 7"/>
          <p:cNvSpPr txBox="1"/>
          <p:nvPr/>
        </p:nvSpPr>
        <p:spPr>
          <a:xfrm>
            <a:off x="502920" y="2240280"/>
            <a:ext cx="3657600" cy="547842"/>
          </a:xfrm>
          <a:prstGeom prst="rect">
            <a:avLst/>
          </a:prstGeom>
          <a:noFill/>
        </p:spPr>
        <p:txBody>
          <a:bodyPr wrap="square" lIns="45720" tIns="27432" rIns="45720" bIns="27432" anchor="t">
            <a:spAutoFit/>
          </a:bodyPr>
          <a:lstStyle/>
          <a:p>
            <a:pPr algn="ctr"/>
            <a:r>
              <a:rPr sz="1600" b="0" i="0" dirty="0">
                <a:solidFill>
                  <a:srgbClr val="002D72"/>
                </a:solidFill>
                <a:latin typeface="Outfit"/>
              </a:rPr>
              <a:t>Koreans estimated to have MASLD</a:t>
            </a:r>
          </a:p>
          <a:p>
            <a:pPr algn="ctr"/>
            <a:r>
              <a:rPr sz="1600" b="0" i="0" dirty="0">
                <a:solidFill>
                  <a:srgbClr val="002D72"/>
                </a:solidFill>
                <a:latin typeface="Outfit"/>
              </a:rPr>
              <a:t>(~30% of adults 20+)</a:t>
            </a:r>
          </a:p>
        </p:txBody>
      </p:sp>
      <p:sp>
        <p:nvSpPr>
          <p:cNvPr id="9" name="Rectangle 8"/>
          <p:cNvSpPr/>
          <p:nvPr/>
        </p:nvSpPr>
        <p:spPr>
          <a:xfrm>
            <a:off x="4251960" y="1280160"/>
            <a:ext cx="3657600" cy="16459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0" name="TextBox 9"/>
          <p:cNvSpPr txBox="1"/>
          <p:nvPr/>
        </p:nvSpPr>
        <p:spPr>
          <a:xfrm>
            <a:off x="4251960" y="1325880"/>
            <a:ext cx="3657600" cy="1071062"/>
          </a:xfrm>
          <a:prstGeom prst="rect">
            <a:avLst/>
          </a:prstGeom>
          <a:noFill/>
        </p:spPr>
        <p:txBody>
          <a:bodyPr wrap="square" lIns="45720" tIns="27432" rIns="45720" bIns="27432" anchor="t">
            <a:spAutoFit/>
          </a:bodyPr>
          <a:lstStyle/>
          <a:p>
            <a:pPr algn="ctr"/>
            <a:r>
              <a:rPr sz="6600" b="1" i="0">
                <a:solidFill>
                  <a:srgbClr val="002D72"/>
                </a:solidFill>
                <a:latin typeface="Outfit"/>
              </a:rPr>
              <a:t>95 %</a:t>
            </a:r>
          </a:p>
        </p:txBody>
      </p:sp>
      <p:sp>
        <p:nvSpPr>
          <p:cNvPr id="11" name="TextBox 10"/>
          <p:cNvSpPr txBox="1"/>
          <p:nvPr/>
        </p:nvSpPr>
        <p:spPr>
          <a:xfrm>
            <a:off x="4251960" y="2240280"/>
            <a:ext cx="3657600" cy="547842"/>
          </a:xfrm>
          <a:prstGeom prst="rect">
            <a:avLst/>
          </a:prstGeom>
          <a:noFill/>
        </p:spPr>
        <p:txBody>
          <a:bodyPr wrap="square" lIns="45720" tIns="27432" rIns="45720" bIns="27432" anchor="t">
            <a:spAutoFit/>
          </a:bodyPr>
          <a:lstStyle/>
          <a:p>
            <a:pPr algn="ctr"/>
            <a:r>
              <a:rPr sz="1600" b="0" i="0" dirty="0">
                <a:solidFill>
                  <a:srgbClr val="002D72"/>
                </a:solidFill>
                <a:latin typeface="Outfit"/>
              </a:rPr>
              <a:t>of at-risk patients never reach</a:t>
            </a:r>
          </a:p>
          <a:p>
            <a:pPr algn="ctr"/>
            <a:r>
              <a:rPr sz="1600" b="0" i="0" dirty="0">
                <a:solidFill>
                  <a:srgbClr val="002D72"/>
                </a:solidFill>
                <a:latin typeface="Outfit"/>
              </a:rPr>
              <a:t>a fibrosis diagnosis</a:t>
            </a:r>
          </a:p>
        </p:txBody>
      </p:sp>
      <p:sp>
        <p:nvSpPr>
          <p:cNvPr id="12" name="Rectangle 11"/>
          <p:cNvSpPr/>
          <p:nvPr/>
        </p:nvSpPr>
        <p:spPr>
          <a:xfrm>
            <a:off x="8001000" y="1280160"/>
            <a:ext cx="3657600" cy="16459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3" name="TextBox 12"/>
          <p:cNvSpPr txBox="1"/>
          <p:nvPr/>
        </p:nvSpPr>
        <p:spPr>
          <a:xfrm>
            <a:off x="8001000" y="1325880"/>
            <a:ext cx="3657600" cy="1071062"/>
          </a:xfrm>
          <a:prstGeom prst="rect">
            <a:avLst/>
          </a:prstGeom>
          <a:noFill/>
        </p:spPr>
        <p:txBody>
          <a:bodyPr wrap="square" lIns="45720" tIns="27432" rIns="45720" bIns="27432" anchor="t">
            <a:spAutoFit/>
          </a:bodyPr>
          <a:lstStyle/>
          <a:p>
            <a:pPr algn="ctr"/>
            <a:r>
              <a:rPr sz="6600" b="1" i="0">
                <a:solidFill>
                  <a:srgbClr val="002D72"/>
                </a:solidFill>
                <a:latin typeface="Outfit"/>
              </a:rPr>
              <a:t>4</a:t>
            </a:r>
          </a:p>
        </p:txBody>
      </p:sp>
      <p:sp>
        <p:nvSpPr>
          <p:cNvPr id="14" name="TextBox 13"/>
          <p:cNvSpPr txBox="1"/>
          <p:nvPr/>
        </p:nvSpPr>
        <p:spPr>
          <a:xfrm>
            <a:off x="8001000" y="2240280"/>
            <a:ext cx="3657600" cy="547842"/>
          </a:xfrm>
          <a:prstGeom prst="rect">
            <a:avLst/>
          </a:prstGeom>
          <a:noFill/>
        </p:spPr>
        <p:txBody>
          <a:bodyPr wrap="square" lIns="45720" tIns="27432" rIns="45720" bIns="27432" anchor="t">
            <a:spAutoFit/>
          </a:bodyPr>
          <a:lstStyle/>
          <a:p>
            <a:pPr algn="ctr"/>
            <a:r>
              <a:rPr sz="1600" b="0" i="0" dirty="0">
                <a:solidFill>
                  <a:srgbClr val="002D72"/>
                </a:solidFill>
                <a:latin typeface="Outfit"/>
              </a:rPr>
              <a:t>reinforcing feedback loops</a:t>
            </a:r>
          </a:p>
          <a:p>
            <a:pPr algn="ctr"/>
            <a:r>
              <a:rPr sz="1600" b="0" i="0" dirty="0">
                <a:solidFill>
                  <a:srgbClr val="002D72"/>
                </a:solidFill>
                <a:latin typeface="Outfit"/>
              </a:rPr>
              <a:t>sustain the diagnostic gap</a:t>
            </a:r>
          </a:p>
        </p:txBody>
      </p:sp>
      <p:sp>
        <p:nvSpPr>
          <p:cNvPr id="15" name="Rectangle 14"/>
          <p:cNvSpPr/>
          <p:nvPr/>
        </p:nvSpPr>
        <p:spPr>
          <a:xfrm>
            <a:off x="502920" y="3200400"/>
            <a:ext cx="11155680" cy="3108960"/>
          </a:xfrm>
          <a:prstGeom prst="rect">
            <a:avLst/>
          </a:prstGeom>
          <a:solidFill>
            <a:srgbClr val="002D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3337560"/>
            <a:ext cx="10515600" cy="547842"/>
          </a:xfrm>
          <a:prstGeom prst="rect">
            <a:avLst/>
          </a:prstGeom>
          <a:noFill/>
        </p:spPr>
        <p:txBody>
          <a:bodyPr wrap="square" lIns="45720" tIns="27432" rIns="45720" bIns="27432" anchor="t">
            <a:spAutoFit/>
          </a:bodyPr>
          <a:lstStyle/>
          <a:p>
            <a:pPr algn="l"/>
            <a:r>
              <a:rPr sz="3200" b="1" i="0" dirty="0">
                <a:solidFill>
                  <a:srgbClr val="68ACE5"/>
                </a:solidFill>
                <a:latin typeface="Outfit"/>
              </a:rPr>
              <a:t>Three-Point Thesis</a:t>
            </a:r>
          </a:p>
        </p:txBody>
      </p:sp>
      <p:sp>
        <p:nvSpPr>
          <p:cNvPr id="17" name="TextBox 16"/>
          <p:cNvSpPr txBox="1"/>
          <p:nvPr/>
        </p:nvSpPr>
        <p:spPr>
          <a:xfrm>
            <a:off x="822960" y="3947107"/>
            <a:ext cx="10515600" cy="1969770"/>
          </a:xfrm>
          <a:prstGeom prst="rect">
            <a:avLst/>
          </a:prstGeom>
          <a:noFill/>
        </p:spPr>
        <p:txBody>
          <a:bodyPr wrap="square" lIns="45720" rIns="45720">
            <a:spAutoFit/>
          </a:bodyPr>
          <a:lstStyle/>
          <a:p>
            <a:pPr marL="285750" indent="-285750" algn="l">
              <a:spcAft>
                <a:spcPts val="400"/>
              </a:spcAft>
              <a:buFont typeface="Arial" panose="020B0604020202020204" pitchFamily="34" charset="0"/>
              <a:buChar char="•"/>
            </a:pPr>
            <a:r>
              <a:rPr sz="1600" dirty="0">
                <a:solidFill>
                  <a:srgbClr val="FFFFFF"/>
                </a:solidFill>
                <a:latin typeface="Outfit"/>
              </a:rPr>
              <a:t>Korea has the clinical evidence, the screening infrastructure, and the imaging density required to identify MASLD/MASH at a population scale. Yet &lt;5% of the at-risk population is actually staged for fibrosis.</a:t>
            </a:r>
          </a:p>
          <a:p>
            <a:pPr marL="285750" indent="-285750">
              <a:spcAft>
                <a:spcPts val="400"/>
              </a:spcAft>
              <a:buFont typeface="Arial" panose="020B0604020202020204" pitchFamily="34" charset="0"/>
              <a:buChar char="•"/>
            </a:pPr>
            <a:r>
              <a:rPr sz="1600" dirty="0">
                <a:solidFill>
                  <a:srgbClr val="FFFFFF"/>
                </a:solidFill>
                <a:latin typeface="Outfit"/>
              </a:rPr>
              <a:t>This gap is not a clinical competence problem; it is a systems problem. Four interlocking reinforcing loops </a:t>
            </a:r>
            <a:r>
              <a:rPr lang="en-US" altLang="ko-KR" sz="1600" dirty="0">
                <a:solidFill>
                  <a:srgbClr val="FFFFFF"/>
                </a:solidFill>
                <a:latin typeface="Outfit"/>
              </a:rPr>
              <a:t>lock the current state in place.</a:t>
            </a:r>
          </a:p>
          <a:p>
            <a:pPr marL="742950" lvl="1" indent="-285750">
              <a:spcAft>
                <a:spcPts val="400"/>
              </a:spcAft>
              <a:buFont typeface="Arial" panose="020B0604020202020204" pitchFamily="34" charset="0"/>
              <a:buChar char="•"/>
            </a:pPr>
            <a:r>
              <a:rPr sz="1600" dirty="0">
                <a:solidFill>
                  <a:srgbClr val="FFFFFF"/>
                </a:solidFill>
                <a:latin typeface="Outfit"/>
              </a:rPr>
              <a:t>public awareness, screening system loss, primary/secondary care inertia, and tertiary hepatology bias</a:t>
            </a:r>
            <a:endParaRPr lang="en-US" sz="1600" dirty="0">
              <a:solidFill>
                <a:srgbClr val="FFFFFF"/>
              </a:solidFill>
              <a:latin typeface="Outfit"/>
            </a:endParaRPr>
          </a:p>
          <a:p>
            <a:pPr marL="285750" indent="-285750" algn="l">
              <a:spcAft>
                <a:spcPts val="400"/>
              </a:spcAft>
              <a:buFont typeface="Arial" panose="020B0604020202020204" pitchFamily="34" charset="0"/>
              <a:buChar char="•"/>
            </a:pPr>
            <a:r>
              <a:rPr lang="en-US" sz="1600" dirty="0">
                <a:solidFill>
                  <a:srgbClr val="FFFFFF"/>
                </a:solidFill>
                <a:latin typeface="Outfit"/>
              </a:rPr>
              <a:t>Closing the gap therefore requires ecosystem-level intervention, not a single partner or a single product launch. This blueprint defines that ecosystem and maps where each loop can be broken.</a:t>
            </a:r>
          </a:p>
        </p:txBody>
      </p:sp>
      <p:sp>
        <p:nvSpPr>
          <p:cNvPr id="18" name="Rectangle 17"/>
          <p:cNvSpPr/>
          <p:nvPr/>
        </p:nvSpPr>
        <p:spPr>
          <a:xfrm>
            <a:off x="502920" y="6537960"/>
            <a:ext cx="11155680" cy="76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6601968"/>
            <a:ext cx="7315200" cy="228600"/>
          </a:xfrm>
          <a:prstGeom prst="rect">
            <a:avLst/>
          </a:prstGeom>
          <a:noFill/>
        </p:spPr>
        <p:txBody>
          <a:bodyPr wrap="square" lIns="45720" tIns="27432" rIns="45720" bIns="27432" anchor="t">
            <a:spAutoFit/>
          </a:bodyPr>
          <a:lstStyle/>
          <a:p>
            <a:pPr algn="l"/>
            <a:r>
              <a:rPr sz="800" b="0" i="0">
                <a:solidFill>
                  <a:srgbClr val="898885"/>
                </a:solidFill>
                <a:latin typeface="Outfit"/>
              </a:rPr>
              <a:t>Korea MASLD/MASH Ecosystem Blueprint  |  Johns Hopkins Bloomberg SPH  ·  MPH Practicum</a:t>
            </a:r>
          </a:p>
        </p:txBody>
      </p:sp>
      <p:sp>
        <p:nvSpPr>
          <p:cNvPr id="20" name="TextBox 19"/>
          <p:cNvSpPr txBox="1"/>
          <p:nvPr/>
        </p:nvSpPr>
        <p:spPr>
          <a:xfrm>
            <a:off x="7315200" y="6601968"/>
            <a:ext cx="4572000" cy="178510"/>
          </a:xfrm>
          <a:prstGeom prst="rect">
            <a:avLst/>
          </a:prstGeom>
          <a:noFill/>
        </p:spPr>
        <p:txBody>
          <a:bodyPr wrap="square" lIns="45720" tIns="27432" rIns="45720" bIns="27432" anchor="t">
            <a:spAutoFit/>
          </a:bodyPr>
          <a:lstStyle/>
          <a:p>
            <a:pPr algn="r"/>
            <a:r>
              <a:rPr sz="800" b="0" i="0" dirty="0">
                <a:solidFill>
                  <a:srgbClr val="898885"/>
                </a:solidFill>
                <a:latin typeface="Outfit"/>
              </a:rPr>
              <a:t>Medical Affairs, Boehringer Ingelheim Korea  |  </a:t>
            </a:r>
            <a:r>
              <a:rPr lang="en-US" sz="800" b="0" i="0" dirty="0">
                <a:solidFill>
                  <a:srgbClr val="898885"/>
                </a:solidFill>
                <a:latin typeface="Outfit"/>
              </a:rPr>
              <a:t>Apr 2026</a:t>
            </a:r>
            <a:endParaRPr sz="800" b="0" i="0" dirty="0">
              <a:solidFill>
                <a:srgbClr val="898885"/>
              </a:solidFill>
              <a:latin typeface="Outfi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002D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9144000" cy="320040"/>
          </a:xfrm>
          <a:prstGeom prst="rect">
            <a:avLst/>
          </a:prstGeom>
          <a:noFill/>
        </p:spPr>
        <p:txBody>
          <a:bodyPr wrap="square" lIns="45720" tIns="27432" rIns="45720" bIns="27432" anchor="t">
            <a:spAutoFit/>
          </a:bodyPr>
          <a:lstStyle/>
          <a:p>
            <a:pPr algn="l"/>
            <a:r>
              <a:rPr sz="1000" b="1" i="0">
                <a:solidFill>
                  <a:srgbClr val="68ACE5"/>
                </a:solidFill>
                <a:latin typeface="Outfit"/>
              </a:rPr>
              <a:t>PROBLEM FRAMING · 1</a:t>
            </a:r>
          </a:p>
        </p:txBody>
      </p:sp>
      <p:sp>
        <p:nvSpPr>
          <p:cNvPr id="4" name="TextBox 3"/>
          <p:cNvSpPr txBox="1"/>
          <p:nvPr/>
        </p:nvSpPr>
        <p:spPr>
          <a:xfrm>
            <a:off x="502920" y="457200"/>
            <a:ext cx="10515600" cy="548640"/>
          </a:xfrm>
          <a:prstGeom prst="rect">
            <a:avLst/>
          </a:prstGeom>
          <a:noFill/>
        </p:spPr>
        <p:txBody>
          <a:bodyPr wrap="square" lIns="45720" tIns="27432" rIns="45720" bIns="27432" anchor="t">
            <a:spAutoFit/>
          </a:bodyPr>
          <a:lstStyle/>
          <a:p>
            <a:pPr algn="l"/>
            <a:r>
              <a:rPr sz="2400" b="1" i="0">
                <a:solidFill>
                  <a:srgbClr val="FFFFFF"/>
                </a:solidFill>
                <a:latin typeface="Outfit"/>
              </a:rPr>
              <a:t>Korea's MASLD/MASH diagnostic funnel</a:t>
            </a:r>
          </a:p>
        </p:txBody>
      </p:sp>
      <p:sp>
        <p:nvSpPr>
          <p:cNvPr id="5" name="TextBox 4"/>
          <p:cNvSpPr txBox="1"/>
          <p:nvPr/>
        </p:nvSpPr>
        <p:spPr>
          <a:xfrm>
            <a:off x="11338560" y="256032"/>
            <a:ext cx="640080" cy="365760"/>
          </a:xfrm>
          <a:prstGeom prst="rect">
            <a:avLst/>
          </a:prstGeom>
          <a:noFill/>
        </p:spPr>
        <p:txBody>
          <a:bodyPr wrap="square" lIns="45720" tIns="27432" rIns="45720" bIns="27432" anchor="t">
            <a:spAutoFit/>
          </a:bodyPr>
          <a:lstStyle/>
          <a:p>
            <a:pPr algn="r"/>
            <a:r>
              <a:rPr sz="1100" b="1" i="0">
                <a:solidFill>
                  <a:srgbClr val="68ACE5"/>
                </a:solidFill>
                <a:latin typeface="Outfit"/>
              </a:rPr>
              <a:t>3</a:t>
            </a:r>
          </a:p>
        </p:txBody>
      </p:sp>
      <p:sp>
        <p:nvSpPr>
          <p:cNvPr id="10" name="TextBox 9"/>
          <p:cNvSpPr txBox="1"/>
          <p:nvPr/>
        </p:nvSpPr>
        <p:spPr>
          <a:xfrm>
            <a:off x="502920" y="6601968"/>
            <a:ext cx="7315200" cy="228600"/>
          </a:xfrm>
          <a:prstGeom prst="rect">
            <a:avLst/>
          </a:prstGeom>
          <a:noFill/>
        </p:spPr>
        <p:txBody>
          <a:bodyPr wrap="square" lIns="45720" tIns="27432" rIns="45720" bIns="27432" anchor="t">
            <a:spAutoFit/>
          </a:bodyPr>
          <a:lstStyle/>
          <a:p>
            <a:pPr algn="l"/>
            <a:r>
              <a:rPr sz="800" b="0" i="0">
                <a:solidFill>
                  <a:srgbClr val="898885"/>
                </a:solidFill>
                <a:latin typeface="Outfit"/>
              </a:rPr>
              <a:t>Korea MASLD/MASH Ecosystem Blueprint  |  Johns Hopkins Bloomberg SPH  ·  MPH Practicum</a:t>
            </a:r>
          </a:p>
        </p:txBody>
      </p:sp>
      <p:sp>
        <p:nvSpPr>
          <p:cNvPr id="11" name="TextBox 10"/>
          <p:cNvSpPr txBox="1"/>
          <p:nvPr/>
        </p:nvSpPr>
        <p:spPr>
          <a:xfrm>
            <a:off x="7315200" y="6601968"/>
            <a:ext cx="4572000" cy="178510"/>
          </a:xfrm>
          <a:prstGeom prst="rect">
            <a:avLst/>
          </a:prstGeom>
          <a:noFill/>
        </p:spPr>
        <p:txBody>
          <a:bodyPr wrap="square" lIns="45720" tIns="27432" rIns="45720" bIns="27432" anchor="t">
            <a:spAutoFit/>
          </a:bodyPr>
          <a:lstStyle/>
          <a:p>
            <a:pPr algn="r"/>
            <a:r>
              <a:rPr sz="800" b="0" i="0" dirty="0">
                <a:solidFill>
                  <a:srgbClr val="898885"/>
                </a:solidFill>
                <a:latin typeface="Outfit"/>
              </a:rPr>
              <a:t>Medical Affairs, Boehringer Ingelheim Korea  |  </a:t>
            </a:r>
            <a:r>
              <a:rPr lang="en-US" sz="800" b="0" i="0" dirty="0">
                <a:solidFill>
                  <a:srgbClr val="898885"/>
                </a:solidFill>
                <a:latin typeface="Outfit"/>
              </a:rPr>
              <a:t>Apr 2026</a:t>
            </a:r>
            <a:endParaRPr sz="800" b="0" i="0" dirty="0">
              <a:solidFill>
                <a:srgbClr val="898885"/>
              </a:solidFill>
              <a:latin typeface="Outfit"/>
            </a:endParaRPr>
          </a:p>
        </p:txBody>
      </p:sp>
      <p:sp>
        <p:nvSpPr>
          <p:cNvPr id="74" name="Text Placeholder 18">
            <a:extLst>
              <a:ext uri="{FF2B5EF4-FFF2-40B4-BE49-F238E27FC236}">
                <a16:creationId xmlns:a16="http://schemas.microsoft.com/office/drawing/2014/main" id="{0587902F-8E4C-5ABE-2EB3-88816AD7B998}"/>
              </a:ext>
            </a:extLst>
          </p:cNvPr>
          <p:cNvSpPr txBox="1">
            <a:spLocks/>
          </p:cNvSpPr>
          <p:nvPr/>
        </p:nvSpPr>
        <p:spPr>
          <a:xfrm>
            <a:off x="3268002" y="6400800"/>
            <a:ext cx="5735660" cy="437312"/>
          </a:xfrm>
          <a:prstGeom prst="rect">
            <a:avLst/>
          </a:prstGeom>
        </p:spPr>
        <p:txBody>
          <a:bodyPr/>
          <a:lstStyle>
            <a:lvl1pPr marL="162000" indent="-162000" algn="l" defTabSz="685800" rtl="0" eaLnBrk="1" latinLnBrk="0" hangingPunct="1">
              <a:lnSpc>
                <a:spcPct val="140000"/>
              </a:lnSpc>
              <a:spcBef>
                <a:spcPts val="0"/>
              </a:spcBef>
              <a:spcAft>
                <a:spcPts val="450"/>
              </a:spcAft>
              <a:buFont typeface="Arial" panose="020B0604020202020204" pitchFamily="34" charset="0"/>
              <a:buChar char="•"/>
              <a:defRPr sz="1200" b="0" kern="1200">
                <a:solidFill>
                  <a:schemeClr val="tx1"/>
                </a:solidFill>
                <a:latin typeface="+mn-lt"/>
                <a:ea typeface="+mn-ea"/>
                <a:cs typeface="+mn-cs"/>
              </a:defRPr>
            </a:lvl1pPr>
            <a:lvl2pPr marL="324000" indent="-162000" algn="l" defTabSz="685800"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2pPr>
            <a:lvl3pPr marL="432000" indent="-162000" algn="l" defTabSz="685800"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3pPr>
            <a:lvl4pPr marL="594000" indent="-162000" algn="l" defTabSz="685800"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4pPr>
            <a:lvl5pPr marL="108000" indent="-10800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5pPr>
            <a:lvl6pPr marL="216000" indent="-107156"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6pPr>
            <a:lvl7pPr marL="324000" indent="-10800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7pPr>
            <a:lvl8pPr marL="432000" indent="-10800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8pPr>
            <a:lvl9pPr marL="432000" indent="-10800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9pPr>
          </a:lstStyle>
          <a:p>
            <a:pPr marL="0" indent="0">
              <a:lnSpc>
                <a:spcPct val="80000"/>
              </a:lnSpc>
              <a:buNone/>
            </a:pPr>
            <a:r>
              <a:rPr lang="en-US" altLang="ko-KR" sz="600" dirty="0"/>
              <a:t>Nah, E. H., et al. (2021). Prevalence of liver fibrosis in the Korean general population. BMJ Open, 11(1), e046529.</a:t>
            </a:r>
            <a:br>
              <a:rPr lang="en-US" altLang="ko-KR" sz="600" dirty="0"/>
            </a:br>
            <a:r>
              <a:rPr lang="en-US" altLang="ko-KR" sz="600" dirty="0"/>
              <a:t>Kim, H. Y., et al. (2024). Prevalence of clinically significant liver fibrosis: A meta-analysis. Clin Mol Hepatol, 30(S), S199-S213.</a:t>
            </a:r>
            <a:br>
              <a:rPr lang="en-US" altLang="ko-KR" sz="600" dirty="0"/>
            </a:br>
            <a:r>
              <a:rPr lang="en-US" altLang="ko-KR" sz="600" dirty="0"/>
              <a:t>HIRA. (2022). Statistics on disease subgroups (K758, K760). Healthcare Bigdata Hub.</a:t>
            </a:r>
            <a:br>
              <a:rPr lang="en-US" altLang="ko-KR" sz="600" dirty="0"/>
            </a:br>
            <a:r>
              <a:rPr lang="da-DK" altLang="ko-KR" sz="600" dirty="0"/>
              <a:t>Ye Q, et al. Lancet Gastroenterol Hepatol. 2020;5:739-52.</a:t>
            </a:r>
            <a:br>
              <a:rPr lang="en-US" altLang="ko-KR" sz="600" dirty="0"/>
            </a:br>
            <a:r>
              <a:rPr lang="en-US" altLang="ko-KR" sz="600" dirty="0" err="1"/>
              <a:t>Younossi</a:t>
            </a:r>
            <a:r>
              <a:rPr lang="en-US" altLang="ko-KR" sz="600" dirty="0"/>
              <a:t> ZM, et al. (2023). Hepatology, 77(4):1335-1347. (MASH ~20% of MASLD)</a:t>
            </a:r>
            <a:endParaRPr lang="ko-KR" altLang="en-US" sz="600" dirty="0"/>
          </a:p>
        </p:txBody>
      </p:sp>
      <p:grpSp>
        <p:nvGrpSpPr>
          <p:cNvPr id="76" name="그룹 75">
            <a:extLst>
              <a:ext uri="{FF2B5EF4-FFF2-40B4-BE49-F238E27FC236}">
                <a16:creationId xmlns:a16="http://schemas.microsoft.com/office/drawing/2014/main" id="{7089E7F9-0721-401C-6B6D-BFAEB0AB66E0}"/>
              </a:ext>
            </a:extLst>
          </p:cNvPr>
          <p:cNvGrpSpPr/>
          <p:nvPr/>
        </p:nvGrpSpPr>
        <p:grpSpPr>
          <a:xfrm>
            <a:off x="777167" y="1261872"/>
            <a:ext cx="12299453" cy="4857203"/>
            <a:chOff x="914400" y="1193793"/>
            <a:chExt cx="8503920" cy="3358301"/>
          </a:xfrm>
        </p:grpSpPr>
        <p:sp>
          <p:nvSpPr>
            <p:cNvPr id="54" name="Shape 17">
              <a:extLst>
                <a:ext uri="{FF2B5EF4-FFF2-40B4-BE49-F238E27FC236}">
                  <a16:creationId xmlns:a16="http://schemas.microsoft.com/office/drawing/2014/main" id="{F91F28BB-5C24-B345-83A3-28CE143AF8D4}"/>
                </a:ext>
              </a:extLst>
            </p:cNvPr>
            <p:cNvSpPr/>
            <p:nvPr/>
          </p:nvSpPr>
          <p:spPr>
            <a:xfrm>
              <a:off x="1737360" y="4186334"/>
              <a:ext cx="5669280" cy="365760"/>
            </a:xfrm>
            <a:prstGeom prst="rect">
              <a:avLst/>
            </a:prstGeom>
            <a:solidFill>
              <a:srgbClr val="FFF8E0"/>
            </a:solidFill>
            <a:ln/>
          </p:spPr>
          <p:txBody>
            <a:bodyPr/>
            <a:lstStyle/>
            <a:p>
              <a:endParaRPr lang="ko-KR" altLang="en-US">
                <a:latin typeface="+mj-lt"/>
              </a:endParaRPr>
            </a:p>
          </p:txBody>
        </p:sp>
        <p:sp>
          <p:nvSpPr>
            <p:cNvPr id="55" name="Arrow: Curved Down 23">
              <a:extLst>
                <a:ext uri="{FF2B5EF4-FFF2-40B4-BE49-F238E27FC236}">
                  <a16:creationId xmlns:a16="http://schemas.microsoft.com/office/drawing/2014/main" id="{B6DF8E2C-5FE0-83B8-C83B-81B4D57E5E56}"/>
                </a:ext>
              </a:extLst>
            </p:cNvPr>
            <p:cNvSpPr/>
            <p:nvPr/>
          </p:nvSpPr>
          <p:spPr bwMode="gray">
            <a:xfrm rot="6918244">
              <a:off x="5246272" y="2622486"/>
              <a:ext cx="1583279" cy="1966476"/>
            </a:xfrm>
            <a:prstGeom prst="curvedDownArrow">
              <a:avLst>
                <a:gd name="adj1" fmla="val 15811"/>
                <a:gd name="adj2" fmla="val 35994"/>
                <a:gd name="adj3" fmla="val 25295"/>
              </a:avLst>
            </a:prstGeom>
            <a:solidFill>
              <a:srgbClr val="005F73"/>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ko-KR" altLang="en-US" sz="1600" dirty="0">
                <a:solidFill>
                  <a:schemeClr val="tx1"/>
                </a:solidFill>
              </a:endParaRPr>
            </a:p>
          </p:txBody>
        </p:sp>
        <p:sp>
          <p:nvSpPr>
            <p:cNvPr id="56" name="Shape 14">
              <a:extLst>
                <a:ext uri="{FF2B5EF4-FFF2-40B4-BE49-F238E27FC236}">
                  <a16:creationId xmlns:a16="http://schemas.microsoft.com/office/drawing/2014/main" id="{8DBB9C86-30CD-8B12-BB86-094352458ECF}"/>
                </a:ext>
              </a:extLst>
            </p:cNvPr>
            <p:cNvSpPr/>
            <p:nvPr/>
          </p:nvSpPr>
          <p:spPr>
            <a:xfrm>
              <a:off x="2194560" y="2380837"/>
              <a:ext cx="4754880" cy="474113"/>
            </a:xfrm>
            <a:prstGeom prst="rect">
              <a:avLst/>
            </a:prstGeom>
            <a:solidFill>
              <a:srgbClr val="005F73"/>
            </a:solidFill>
            <a:ln/>
          </p:spPr>
          <p:txBody>
            <a:bodyPr/>
            <a:lstStyle/>
            <a:p>
              <a:endParaRPr lang="ko-KR" altLang="en-US">
                <a:latin typeface="+mj-lt"/>
              </a:endParaRPr>
            </a:p>
          </p:txBody>
        </p:sp>
        <p:sp>
          <p:nvSpPr>
            <p:cNvPr id="57" name="Shape 2">
              <a:extLst>
                <a:ext uri="{FF2B5EF4-FFF2-40B4-BE49-F238E27FC236}">
                  <a16:creationId xmlns:a16="http://schemas.microsoft.com/office/drawing/2014/main" id="{455DC9A3-9192-68B2-B84B-10E459979E75}"/>
                </a:ext>
              </a:extLst>
            </p:cNvPr>
            <p:cNvSpPr/>
            <p:nvPr/>
          </p:nvSpPr>
          <p:spPr>
            <a:xfrm>
              <a:off x="914400" y="1193793"/>
              <a:ext cx="7315200" cy="457200"/>
            </a:xfrm>
            <a:prstGeom prst="rect">
              <a:avLst/>
            </a:prstGeom>
            <a:solidFill>
              <a:srgbClr val="8FA8A0"/>
            </a:solidFill>
            <a:ln/>
          </p:spPr>
          <p:txBody>
            <a:bodyPr/>
            <a:lstStyle/>
            <a:p>
              <a:endParaRPr lang="ko-KR" altLang="en-US">
                <a:latin typeface="+mj-lt"/>
              </a:endParaRPr>
            </a:p>
          </p:txBody>
        </p:sp>
        <p:sp>
          <p:nvSpPr>
            <p:cNvPr id="58" name="Text 3">
              <a:extLst>
                <a:ext uri="{FF2B5EF4-FFF2-40B4-BE49-F238E27FC236}">
                  <a16:creationId xmlns:a16="http://schemas.microsoft.com/office/drawing/2014/main" id="{F9AA8C56-3EE9-2DB3-8527-3B5593B24384}"/>
                </a:ext>
              </a:extLst>
            </p:cNvPr>
            <p:cNvSpPr/>
            <p:nvPr/>
          </p:nvSpPr>
          <p:spPr>
            <a:xfrm>
              <a:off x="1051560" y="1221225"/>
              <a:ext cx="5852160" cy="402336"/>
            </a:xfrm>
            <a:prstGeom prst="rect">
              <a:avLst/>
            </a:prstGeom>
            <a:noFill/>
            <a:ln/>
          </p:spPr>
          <p:txBody>
            <a:bodyPr wrap="square" lIns="0" tIns="0" rIns="0" bIns="0" rtlCol="0" anchor="ctr"/>
            <a:lstStyle/>
            <a:p>
              <a:pPr marL="0" indent="0">
                <a:buNone/>
              </a:pPr>
              <a:r>
                <a:rPr lang="en-US" sz="1600" b="1" dirty="0">
                  <a:solidFill>
                    <a:srgbClr val="FFFFFF"/>
                  </a:solidFill>
                  <a:latin typeface="+mj-lt"/>
                  <a:ea typeface="Calibri" pitchFamily="34" charset="-122"/>
                  <a:cs typeface="Calibri" pitchFamily="34" charset="-120"/>
                </a:rPr>
                <a:t>Korean Adults (age 20+)</a:t>
              </a:r>
              <a:endParaRPr lang="en-US" sz="1600" dirty="0">
                <a:latin typeface="+mj-lt"/>
              </a:endParaRPr>
            </a:p>
          </p:txBody>
        </p:sp>
        <p:sp>
          <p:nvSpPr>
            <p:cNvPr id="59" name="Text 4">
              <a:extLst>
                <a:ext uri="{FF2B5EF4-FFF2-40B4-BE49-F238E27FC236}">
                  <a16:creationId xmlns:a16="http://schemas.microsoft.com/office/drawing/2014/main" id="{E1630FB6-95D1-C7BD-EF2A-D71F7A3174E9}"/>
                </a:ext>
              </a:extLst>
            </p:cNvPr>
            <p:cNvSpPr/>
            <p:nvPr/>
          </p:nvSpPr>
          <p:spPr>
            <a:xfrm>
              <a:off x="6858000" y="1221225"/>
              <a:ext cx="1188720" cy="402336"/>
            </a:xfrm>
            <a:prstGeom prst="rect">
              <a:avLst/>
            </a:prstGeom>
            <a:noFill/>
            <a:ln/>
          </p:spPr>
          <p:txBody>
            <a:bodyPr wrap="square" lIns="0" tIns="0" rIns="0" bIns="0" rtlCol="0" anchor="ctr"/>
            <a:lstStyle/>
            <a:p>
              <a:pPr marL="0" indent="0" algn="r">
                <a:buNone/>
              </a:pPr>
              <a:r>
                <a:rPr lang="en-US" sz="2400" b="1" dirty="0">
                  <a:solidFill>
                    <a:srgbClr val="FFFFFF"/>
                  </a:solidFill>
                  <a:latin typeface="+mj-lt"/>
                  <a:ea typeface="Georgia" pitchFamily="34" charset="-122"/>
                  <a:cs typeface="Georgia" pitchFamily="34" charset="-120"/>
                </a:rPr>
                <a:t>~42M</a:t>
              </a:r>
              <a:endParaRPr lang="en-US" sz="2400" dirty="0">
                <a:latin typeface="+mj-lt"/>
              </a:endParaRPr>
            </a:p>
          </p:txBody>
        </p:sp>
        <p:sp>
          <p:nvSpPr>
            <p:cNvPr id="60" name="Shape 5">
              <a:extLst>
                <a:ext uri="{FF2B5EF4-FFF2-40B4-BE49-F238E27FC236}">
                  <a16:creationId xmlns:a16="http://schemas.microsoft.com/office/drawing/2014/main" id="{DFB32C06-89FD-65CD-2B81-9D4865C8594C}"/>
                </a:ext>
              </a:extLst>
            </p:cNvPr>
            <p:cNvSpPr/>
            <p:nvPr/>
          </p:nvSpPr>
          <p:spPr>
            <a:xfrm>
              <a:off x="1463040" y="1791538"/>
              <a:ext cx="6217920" cy="457200"/>
            </a:xfrm>
            <a:prstGeom prst="rect">
              <a:avLst/>
            </a:prstGeom>
            <a:solidFill>
              <a:srgbClr val="00594C"/>
            </a:solidFill>
            <a:ln/>
          </p:spPr>
          <p:txBody>
            <a:bodyPr/>
            <a:lstStyle/>
            <a:p>
              <a:endParaRPr lang="ko-KR" altLang="en-US">
                <a:latin typeface="+mj-lt"/>
              </a:endParaRPr>
            </a:p>
          </p:txBody>
        </p:sp>
        <p:sp>
          <p:nvSpPr>
            <p:cNvPr id="61" name="Text 6">
              <a:extLst>
                <a:ext uri="{FF2B5EF4-FFF2-40B4-BE49-F238E27FC236}">
                  <a16:creationId xmlns:a16="http://schemas.microsoft.com/office/drawing/2014/main" id="{41D2F057-8E5E-EFD8-E0A8-045C98F7D501}"/>
                </a:ext>
              </a:extLst>
            </p:cNvPr>
            <p:cNvSpPr/>
            <p:nvPr/>
          </p:nvSpPr>
          <p:spPr>
            <a:xfrm>
              <a:off x="1600200" y="1818970"/>
              <a:ext cx="4754880" cy="402336"/>
            </a:xfrm>
            <a:prstGeom prst="rect">
              <a:avLst/>
            </a:prstGeom>
            <a:noFill/>
            <a:ln/>
          </p:spPr>
          <p:txBody>
            <a:bodyPr wrap="square" lIns="0" tIns="0" rIns="0" bIns="0" rtlCol="0" anchor="ctr"/>
            <a:lstStyle/>
            <a:p>
              <a:pPr marL="0" indent="0">
                <a:buNone/>
              </a:pPr>
              <a:r>
                <a:rPr lang="en-US" sz="1600" b="1" dirty="0">
                  <a:solidFill>
                    <a:srgbClr val="FFFFFF"/>
                  </a:solidFill>
                  <a:latin typeface="+mj-lt"/>
                  <a:ea typeface="Calibri" pitchFamily="34" charset="-122"/>
                  <a:cs typeface="Calibri" pitchFamily="34" charset="-120"/>
                </a:rPr>
                <a:t>Estimated MASLD (30% prevalence)</a:t>
              </a:r>
              <a:endParaRPr lang="en-US" sz="1600" dirty="0">
                <a:latin typeface="+mj-lt"/>
              </a:endParaRPr>
            </a:p>
          </p:txBody>
        </p:sp>
        <p:sp>
          <p:nvSpPr>
            <p:cNvPr id="62" name="Text 7">
              <a:extLst>
                <a:ext uri="{FF2B5EF4-FFF2-40B4-BE49-F238E27FC236}">
                  <a16:creationId xmlns:a16="http://schemas.microsoft.com/office/drawing/2014/main" id="{5D886FBC-1A9D-6DE7-9C79-06065FB6DE4C}"/>
                </a:ext>
              </a:extLst>
            </p:cNvPr>
            <p:cNvSpPr/>
            <p:nvPr/>
          </p:nvSpPr>
          <p:spPr>
            <a:xfrm>
              <a:off x="6309360" y="1818970"/>
              <a:ext cx="1188720" cy="402336"/>
            </a:xfrm>
            <a:prstGeom prst="rect">
              <a:avLst/>
            </a:prstGeom>
            <a:noFill/>
            <a:ln/>
          </p:spPr>
          <p:txBody>
            <a:bodyPr wrap="square" lIns="0" tIns="0" rIns="0" bIns="0" rtlCol="0" anchor="ctr"/>
            <a:lstStyle/>
            <a:p>
              <a:pPr marL="0" indent="0" algn="r">
                <a:buNone/>
              </a:pPr>
              <a:r>
                <a:rPr lang="en-US" sz="2400" b="1" dirty="0">
                  <a:solidFill>
                    <a:srgbClr val="FFFFFF"/>
                  </a:solidFill>
                  <a:latin typeface="+mj-lt"/>
                  <a:ea typeface="Georgia" pitchFamily="34" charset="-122"/>
                  <a:cs typeface="Georgia" pitchFamily="34" charset="-120"/>
                </a:rPr>
                <a:t>~13M</a:t>
              </a:r>
              <a:endParaRPr lang="en-US" sz="2400" dirty="0">
                <a:latin typeface="+mj-lt"/>
              </a:endParaRPr>
            </a:p>
          </p:txBody>
        </p:sp>
        <p:sp>
          <p:nvSpPr>
            <p:cNvPr id="63" name="Shape 8">
              <a:extLst>
                <a:ext uri="{FF2B5EF4-FFF2-40B4-BE49-F238E27FC236}">
                  <a16:creationId xmlns:a16="http://schemas.microsoft.com/office/drawing/2014/main" id="{3D22CD7E-3F5F-E7C2-C779-A1640177C34C}"/>
                </a:ext>
              </a:extLst>
            </p:cNvPr>
            <p:cNvSpPr/>
            <p:nvPr/>
          </p:nvSpPr>
          <p:spPr>
            <a:xfrm>
              <a:off x="2194560" y="2389283"/>
              <a:ext cx="4754880" cy="457200"/>
            </a:xfrm>
            <a:prstGeom prst="rect">
              <a:avLst/>
            </a:prstGeom>
            <a:solidFill>
              <a:srgbClr val="005F73"/>
            </a:solidFill>
            <a:ln/>
          </p:spPr>
          <p:txBody>
            <a:bodyPr/>
            <a:lstStyle/>
            <a:p>
              <a:endParaRPr lang="ko-KR" altLang="en-US">
                <a:latin typeface="+mj-lt"/>
              </a:endParaRPr>
            </a:p>
          </p:txBody>
        </p:sp>
        <p:sp>
          <p:nvSpPr>
            <p:cNvPr id="64" name="Text 9">
              <a:extLst>
                <a:ext uri="{FF2B5EF4-FFF2-40B4-BE49-F238E27FC236}">
                  <a16:creationId xmlns:a16="http://schemas.microsoft.com/office/drawing/2014/main" id="{2400AD5E-7B6C-273D-420A-DCFE3CBFFEAF}"/>
                </a:ext>
              </a:extLst>
            </p:cNvPr>
            <p:cNvSpPr/>
            <p:nvPr/>
          </p:nvSpPr>
          <p:spPr>
            <a:xfrm>
              <a:off x="2331720" y="2416715"/>
              <a:ext cx="3291840" cy="402336"/>
            </a:xfrm>
            <a:prstGeom prst="rect">
              <a:avLst/>
            </a:prstGeom>
            <a:noFill/>
            <a:ln/>
          </p:spPr>
          <p:txBody>
            <a:bodyPr wrap="square" lIns="0" tIns="0" rIns="0" bIns="0" rtlCol="0" anchor="ctr"/>
            <a:lstStyle/>
            <a:p>
              <a:pPr marL="0" indent="0">
                <a:buNone/>
              </a:pPr>
              <a:r>
                <a:rPr lang="en-US" sz="1600" b="1" dirty="0">
                  <a:solidFill>
                    <a:srgbClr val="FFFFFF"/>
                  </a:solidFill>
                  <a:latin typeface="+mj-lt"/>
                  <a:ea typeface="Calibri" pitchFamily="34" charset="-122"/>
                  <a:cs typeface="Calibri" pitchFamily="34" charset="-120"/>
                </a:rPr>
                <a:t>Estimated MASH (20% of MASLD)</a:t>
              </a:r>
              <a:endParaRPr lang="en-US" sz="1600" dirty="0">
                <a:latin typeface="+mj-lt"/>
              </a:endParaRPr>
            </a:p>
          </p:txBody>
        </p:sp>
        <p:sp>
          <p:nvSpPr>
            <p:cNvPr id="65" name="Text 10">
              <a:extLst>
                <a:ext uri="{FF2B5EF4-FFF2-40B4-BE49-F238E27FC236}">
                  <a16:creationId xmlns:a16="http://schemas.microsoft.com/office/drawing/2014/main" id="{372B2784-8A8C-2795-FA95-0B56301646C6}"/>
                </a:ext>
              </a:extLst>
            </p:cNvPr>
            <p:cNvSpPr/>
            <p:nvPr/>
          </p:nvSpPr>
          <p:spPr>
            <a:xfrm>
              <a:off x="5577840" y="2416715"/>
              <a:ext cx="1188720" cy="402336"/>
            </a:xfrm>
            <a:prstGeom prst="rect">
              <a:avLst/>
            </a:prstGeom>
            <a:noFill/>
            <a:ln/>
          </p:spPr>
          <p:txBody>
            <a:bodyPr wrap="square" lIns="0" tIns="0" rIns="0" bIns="0" rtlCol="0" anchor="ctr"/>
            <a:lstStyle/>
            <a:p>
              <a:pPr marL="0" indent="0" algn="r">
                <a:buNone/>
              </a:pPr>
              <a:r>
                <a:rPr lang="en-US" sz="2400" b="1" dirty="0">
                  <a:solidFill>
                    <a:srgbClr val="FFFFFF"/>
                  </a:solidFill>
                  <a:latin typeface="+mj-lt"/>
                  <a:ea typeface="Georgia" pitchFamily="34" charset="-122"/>
                  <a:cs typeface="Georgia" pitchFamily="34" charset="-120"/>
                </a:rPr>
                <a:t>~2.5M</a:t>
              </a:r>
              <a:endParaRPr lang="en-US" sz="2400" dirty="0">
                <a:latin typeface="+mj-lt"/>
              </a:endParaRPr>
            </a:p>
          </p:txBody>
        </p:sp>
        <p:sp>
          <p:nvSpPr>
            <p:cNvPr id="66" name="Shape 11">
              <a:extLst>
                <a:ext uri="{FF2B5EF4-FFF2-40B4-BE49-F238E27FC236}">
                  <a16:creationId xmlns:a16="http://schemas.microsoft.com/office/drawing/2014/main" id="{EADD6D19-9A8C-3923-72A5-6FB67C55206C}"/>
                </a:ext>
              </a:extLst>
            </p:cNvPr>
            <p:cNvSpPr/>
            <p:nvPr/>
          </p:nvSpPr>
          <p:spPr>
            <a:xfrm>
              <a:off x="2926080" y="2987028"/>
              <a:ext cx="3291840" cy="457200"/>
            </a:xfrm>
            <a:prstGeom prst="rect">
              <a:avLst/>
            </a:prstGeom>
            <a:solidFill>
              <a:srgbClr val="E76F51"/>
            </a:solidFill>
            <a:ln/>
          </p:spPr>
          <p:txBody>
            <a:bodyPr/>
            <a:lstStyle/>
            <a:p>
              <a:endParaRPr lang="ko-KR" altLang="en-US">
                <a:latin typeface="+mj-lt"/>
              </a:endParaRPr>
            </a:p>
          </p:txBody>
        </p:sp>
        <p:sp>
          <p:nvSpPr>
            <p:cNvPr id="67" name="Text 12">
              <a:extLst>
                <a:ext uri="{FF2B5EF4-FFF2-40B4-BE49-F238E27FC236}">
                  <a16:creationId xmlns:a16="http://schemas.microsoft.com/office/drawing/2014/main" id="{1E92CD42-9D52-84E8-67EE-10D8C2405A9D}"/>
                </a:ext>
              </a:extLst>
            </p:cNvPr>
            <p:cNvSpPr/>
            <p:nvPr/>
          </p:nvSpPr>
          <p:spPr>
            <a:xfrm>
              <a:off x="3063240" y="3014460"/>
              <a:ext cx="1950194" cy="402336"/>
            </a:xfrm>
            <a:prstGeom prst="rect">
              <a:avLst/>
            </a:prstGeom>
            <a:noFill/>
            <a:ln/>
          </p:spPr>
          <p:txBody>
            <a:bodyPr wrap="square" lIns="0" tIns="0" rIns="0" bIns="0" rtlCol="0" anchor="ctr"/>
            <a:lstStyle/>
            <a:p>
              <a:r>
                <a:rPr lang="en-US" altLang="ko-KR" sz="1600" b="1" dirty="0">
                  <a:solidFill>
                    <a:srgbClr val="FFFFFF"/>
                  </a:solidFill>
                  <a:ea typeface="Calibri" pitchFamily="34" charset="-122"/>
                  <a:cs typeface="Calibri" pitchFamily="34" charset="-120"/>
                </a:rPr>
                <a:t>≥F2</a:t>
              </a:r>
              <a:r>
                <a:rPr lang="en-US" sz="1600" b="1" dirty="0">
                  <a:solidFill>
                    <a:srgbClr val="FFFFFF"/>
                  </a:solidFill>
                  <a:latin typeface="+mj-lt"/>
                  <a:ea typeface="Calibri" pitchFamily="34" charset="-122"/>
                  <a:cs typeface="Calibri" pitchFamily="34" charset="-120"/>
                </a:rPr>
                <a:t> MASH  (20~40% of MASH)</a:t>
              </a:r>
              <a:endParaRPr lang="en-US" sz="1600" dirty="0">
                <a:latin typeface="+mj-lt"/>
              </a:endParaRPr>
            </a:p>
          </p:txBody>
        </p:sp>
        <p:sp>
          <p:nvSpPr>
            <p:cNvPr id="68" name="Text 13">
              <a:extLst>
                <a:ext uri="{FF2B5EF4-FFF2-40B4-BE49-F238E27FC236}">
                  <a16:creationId xmlns:a16="http://schemas.microsoft.com/office/drawing/2014/main" id="{70110FEE-0516-7EA7-8A3B-F56A206DCC33}"/>
                </a:ext>
              </a:extLst>
            </p:cNvPr>
            <p:cNvSpPr/>
            <p:nvPr/>
          </p:nvSpPr>
          <p:spPr>
            <a:xfrm>
              <a:off x="4846320" y="3014460"/>
              <a:ext cx="1188720" cy="402336"/>
            </a:xfrm>
            <a:prstGeom prst="rect">
              <a:avLst/>
            </a:prstGeom>
            <a:noFill/>
            <a:ln/>
          </p:spPr>
          <p:txBody>
            <a:bodyPr wrap="square" lIns="0" tIns="0" rIns="0" bIns="0" rtlCol="0" anchor="ctr"/>
            <a:lstStyle/>
            <a:p>
              <a:pPr marL="0" indent="0" algn="r">
                <a:buNone/>
              </a:pPr>
              <a:r>
                <a:rPr lang="en-US" sz="2400" b="1" dirty="0">
                  <a:solidFill>
                    <a:srgbClr val="FFFFFF"/>
                  </a:solidFill>
                  <a:latin typeface="+mj-lt"/>
                  <a:ea typeface="Georgia" pitchFamily="34" charset="-122"/>
                  <a:cs typeface="Georgia" pitchFamily="34" charset="-120"/>
                </a:rPr>
                <a:t>~500K–1M</a:t>
              </a:r>
              <a:endParaRPr lang="en-US" sz="2400" dirty="0">
                <a:latin typeface="+mj-lt"/>
              </a:endParaRPr>
            </a:p>
          </p:txBody>
        </p:sp>
        <p:sp>
          <p:nvSpPr>
            <p:cNvPr id="69" name="Shape 14">
              <a:extLst>
                <a:ext uri="{FF2B5EF4-FFF2-40B4-BE49-F238E27FC236}">
                  <a16:creationId xmlns:a16="http://schemas.microsoft.com/office/drawing/2014/main" id="{26111001-CD39-E345-799B-86D82ABBFED2}"/>
                </a:ext>
              </a:extLst>
            </p:cNvPr>
            <p:cNvSpPr/>
            <p:nvPr/>
          </p:nvSpPr>
          <p:spPr>
            <a:xfrm>
              <a:off x="4196376" y="3576306"/>
              <a:ext cx="740478" cy="457200"/>
            </a:xfrm>
            <a:prstGeom prst="rect">
              <a:avLst/>
            </a:prstGeom>
            <a:solidFill>
              <a:srgbClr val="D32F2F"/>
            </a:solidFill>
            <a:ln/>
          </p:spPr>
          <p:txBody>
            <a:bodyPr/>
            <a:lstStyle/>
            <a:p>
              <a:endParaRPr lang="ko-KR" altLang="en-US">
                <a:latin typeface="+mj-lt"/>
              </a:endParaRPr>
            </a:p>
          </p:txBody>
        </p:sp>
        <p:sp>
          <p:nvSpPr>
            <p:cNvPr id="70" name="Text 15">
              <a:extLst>
                <a:ext uri="{FF2B5EF4-FFF2-40B4-BE49-F238E27FC236}">
                  <a16:creationId xmlns:a16="http://schemas.microsoft.com/office/drawing/2014/main" id="{8E1038A3-2F7F-3B97-1B84-344E92BD7BD7}"/>
                </a:ext>
              </a:extLst>
            </p:cNvPr>
            <p:cNvSpPr/>
            <p:nvPr/>
          </p:nvSpPr>
          <p:spPr>
            <a:xfrm>
              <a:off x="3967613" y="3534946"/>
              <a:ext cx="1188720"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mj-lt"/>
                  <a:ea typeface="Calibri" pitchFamily="34" charset="-122"/>
                  <a:cs typeface="Calibri" pitchFamily="34" charset="-120"/>
                </a:rPr>
                <a:t>Diagnosed </a:t>
              </a:r>
              <a:br>
                <a:rPr lang="en-US" sz="1600" b="1" dirty="0">
                  <a:solidFill>
                    <a:srgbClr val="FFFFFF"/>
                  </a:solidFill>
                  <a:latin typeface="+mj-lt"/>
                  <a:ea typeface="Calibri" pitchFamily="34" charset="-122"/>
                  <a:cs typeface="Calibri" pitchFamily="34" charset="-120"/>
                </a:rPr>
              </a:br>
              <a:r>
                <a:rPr lang="en-US" sz="1600" b="1" dirty="0">
                  <a:solidFill>
                    <a:srgbClr val="FFFFFF"/>
                  </a:solidFill>
                  <a:latin typeface="+mj-lt"/>
                  <a:ea typeface="Calibri" pitchFamily="34" charset="-122"/>
                  <a:cs typeface="Calibri" pitchFamily="34" charset="-120"/>
                </a:rPr>
                <a:t>MASH</a:t>
              </a:r>
              <a:endParaRPr lang="en-US" sz="1600" dirty="0">
                <a:latin typeface="+mj-lt"/>
              </a:endParaRPr>
            </a:p>
          </p:txBody>
        </p:sp>
        <p:sp>
          <p:nvSpPr>
            <p:cNvPr id="71" name="Text 16">
              <a:extLst>
                <a:ext uri="{FF2B5EF4-FFF2-40B4-BE49-F238E27FC236}">
                  <a16:creationId xmlns:a16="http://schemas.microsoft.com/office/drawing/2014/main" id="{E7B554C6-6B8B-B833-834E-DA50208E16B1}"/>
                </a:ext>
              </a:extLst>
            </p:cNvPr>
            <p:cNvSpPr/>
            <p:nvPr/>
          </p:nvSpPr>
          <p:spPr>
            <a:xfrm>
              <a:off x="3530488" y="3739578"/>
              <a:ext cx="1188720" cy="402336"/>
            </a:xfrm>
            <a:prstGeom prst="rect">
              <a:avLst/>
            </a:prstGeom>
            <a:noFill/>
            <a:ln/>
          </p:spPr>
          <p:txBody>
            <a:bodyPr wrap="square" lIns="0" tIns="0" rIns="0" bIns="0" rtlCol="0" anchor="ctr"/>
            <a:lstStyle/>
            <a:p>
              <a:pPr marL="0" indent="0" algn="r">
                <a:buNone/>
              </a:pPr>
              <a:r>
                <a:rPr lang="en-US" sz="1400" b="1" dirty="0">
                  <a:solidFill>
                    <a:srgbClr val="FFFFFF"/>
                  </a:solidFill>
                  <a:latin typeface="+mj-lt"/>
                  <a:ea typeface="Georgia" pitchFamily="34" charset="-122"/>
                  <a:cs typeface="Georgia" pitchFamily="34" charset="-120"/>
                </a:rPr>
                <a:t>&lt;130K</a:t>
              </a:r>
              <a:endParaRPr lang="en-US" sz="1400" dirty="0">
                <a:latin typeface="+mj-lt"/>
              </a:endParaRPr>
            </a:p>
          </p:txBody>
        </p:sp>
        <p:pic>
          <p:nvPicPr>
            <p:cNvPr id="72" name="Image 0" descr="preencoded.png">
              <a:extLst>
                <a:ext uri="{FF2B5EF4-FFF2-40B4-BE49-F238E27FC236}">
                  <a16:creationId xmlns:a16="http://schemas.microsoft.com/office/drawing/2014/main" id="{1DE4E344-0C9E-9236-772E-4BA8963BDED9}"/>
                </a:ext>
              </a:extLst>
            </p:cNvPr>
            <p:cNvPicPr>
              <a:picLocks noChangeAspect="1"/>
            </p:cNvPicPr>
            <p:nvPr/>
          </p:nvPicPr>
          <p:blipFill>
            <a:blip r:embed="rId2"/>
            <a:stretch>
              <a:fillRect/>
            </a:stretch>
          </p:blipFill>
          <p:spPr>
            <a:xfrm>
              <a:off x="1874520" y="4232054"/>
              <a:ext cx="228600" cy="228600"/>
            </a:xfrm>
            <a:prstGeom prst="rect">
              <a:avLst/>
            </a:prstGeom>
          </p:spPr>
        </p:pic>
        <p:sp>
          <p:nvSpPr>
            <p:cNvPr id="73" name="Text 18">
              <a:extLst>
                <a:ext uri="{FF2B5EF4-FFF2-40B4-BE49-F238E27FC236}">
                  <a16:creationId xmlns:a16="http://schemas.microsoft.com/office/drawing/2014/main" id="{8C135882-0B92-7CB7-08BE-E1FB318D28B5}"/>
                </a:ext>
              </a:extLst>
            </p:cNvPr>
            <p:cNvSpPr/>
            <p:nvPr/>
          </p:nvSpPr>
          <p:spPr>
            <a:xfrm>
              <a:off x="2194560" y="4186334"/>
              <a:ext cx="7223760" cy="365760"/>
            </a:xfrm>
            <a:prstGeom prst="rect">
              <a:avLst/>
            </a:prstGeom>
            <a:noFill/>
            <a:ln/>
          </p:spPr>
          <p:txBody>
            <a:bodyPr wrap="square" rtlCol="0" anchor="ctr"/>
            <a:lstStyle/>
            <a:p>
              <a:pPr marL="0" indent="0">
                <a:buNone/>
              </a:pPr>
              <a:r>
                <a:rPr lang="en-US" sz="1600" b="1" dirty="0">
                  <a:solidFill>
                    <a:srgbClr val="E76F51"/>
                  </a:solidFill>
                  <a:latin typeface="+mj-lt"/>
                  <a:ea typeface="Calibri" pitchFamily="34" charset="-122"/>
                  <a:cs typeface="Calibri" pitchFamily="34" charset="-120"/>
                </a:rPr>
                <a:t>~95% of MASH patients in Korea remain undiagnosed due to structural NIT barriers</a:t>
              </a:r>
              <a:endParaRPr lang="en-US" sz="1600" dirty="0">
                <a:latin typeface="+mj-lt"/>
              </a:endParaRPr>
            </a:p>
          </p:txBody>
        </p:sp>
        <p:sp>
          <p:nvSpPr>
            <p:cNvPr id="75" name="TextBox 74">
              <a:extLst>
                <a:ext uri="{FF2B5EF4-FFF2-40B4-BE49-F238E27FC236}">
                  <a16:creationId xmlns:a16="http://schemas.microsoft.com/office/drawing/2014/main" id="{FC69B39E-CC35-0FB9-4F57-8AD7D4CEE948}"/>
                </a:ext>
              </a:extLst>
            </p:cNvPr>
            <p:cNvSpPr txBox="1"/>
            <p:nvPr/>
          </p:nvSpPr>
          <p:spPr bwMode="gray">
            <a:xfrm>
              <a:off x="4989285" y="3580094"/>
              <a:ext cx="395811" cy="319198"/>
            </a:xfrm>
            <a:prstGeom prst="rect">
              <a:avLst/>
            </a:prstGeom>
            <a:noFill/>
          </p:spPr>
          <p:txBody>
            <a:bodyPr wrap="square">
              <a:spAutoFit/>
            </a:bodyPr>
            <a:lstStyle/>
            <a:p>
              <a:pPr marL="0" indent="0" algn="r">
                <a:buNone/>
              </a:pPr>
              <a:r>
                <a:rPr lang="en-US" altLang="ko-KR" sz="2400" b="1" dirty="0">
                  <a:solidFill>
                    <a:schemeClr val="bg1"/>
                  </a:solidFill>
                  <a:latin typeface="+mj-lt"/>
                  <a:ea typeface="Georgia" pitchFamily="34" charset="-122"/>
                  <a:cs typeface="Georgia" pitchFamily="34" charset="-120"/>
                </a:rPr>
                <a:t>5%</a:t>
              </a:r>
              <a:endParaRPr lang="en-US" altLang="ko-KR" sz="2400" dirty="0">
                <a:solidFill>
                  <a:schemeClr val="bg1"/>
                </a:solidFill>
                <a:latin typeface="+mj-lt"/>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002D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9144000" cy="320040"/>
          </a:xfrm>
          <a:prstGeom prst="rect">
            <a:avLst/>
          </a:prstGeom>
          <a:noFill/>
        </p:spPr>
        <p:txBody>
          <a:bodyPr wrap="square" lIns="45720" tIns="27432" rIns="45720" bIns="27432" anchor="t">
            <a:spAutoFit/>
          </a:bodyPr>
          <a:lstStyle/>
          <a:p>
            <a:pPr algn="l"/>
            <a:r>
              <a:rPr sz="1000" b="1" i="0">
                <a:solidFill>
                  <a:srgbClr val="68ACE5"/>
                </a:solidFill>
                <a:latin typeface="Outfit"/>
              </a:rPr>
              <a:t>PROBLEM FRAMING · 2</a:t>
            </a:r>
          </a:p>
        </p:txBody>
      </p:sp>
      <p:sp>
        <p:nvSpPr>
          <p:cNvPr id="4" name="TextBox 3"/>
          <p:cNvSpPr txBox="1"/>
          <p:nvPr/>
        </p:nvSpPr>
        <p:spPr>
          <a:xfrm>
            <a:off x="502920" y="457200"/>
            <a:ext cx="10515600" cy="548640"/>
          </a:xfrm>
          <a:prstGeom prst="rect">
            <a:avLst/>
          </a:prstGeom>
          <a:noFill/>
        </p:spPr>
        <p:txBody>
          <a:bodyPr wrap="square" lIns="45720" tIns="27432" rIns="45720" bIns="27432" anchor="t">
            <a:spAutoFit/>
          </a:bodyPr>
          <a:lstStyle/>
          <a:p>
            <a:pPr algn="l"/>
            <a:r>
              <a:rPr sz="2400" b="1" i="0">
                <a:solidFill>
                  <a:srgbClr val="FFFFFF"/>
                </a:solidFill>
                <a:latin typeface="Outfit"/>
              </a:rPr>
              <a:t>Why this is a systems problem, not a clinical one</a:t>
            </a:r>
          </a:p>
        </p:txBody>
      </p:sp>
      <p:sp>
        <p:nvSpPr>
          <p:cNvPr id="5" name="TextBox 4"/>
          <p:cNvSpPr txBox="1"/>
          <p:nvPr/>
        </p:nvSpPr>
        <p:spPr>
          <a:xfrm>
            <a:off x="11338560" y="256032"/>
            <a:ext cx="640080" cy="365760"/>
          </a:xfrm>
          <a:prstGeom prst="rect">
            <a:avLst/>
          </a:prstGeom>
          <a:noFill/>
        </p:spPr>
        <p:txBody>
          <a:bodyPr wrap="square" lIns="45720" tIns="27432" rIns="45720" bIns="27432" anchor="t">
            <a:spAutoFit/>
          </a:bodyPr>
          <a:lstStyle/>
          <a:p>
            <a:pPr algn="r"/>
            <a:r>
              <a:rPr sz="1100" b="1" i="0">
                <a:solidFill>
                  <a:srgbClr val="68ACE5"/>
                </a:solidFill>
                <a:latin typeface="Outfit"/>
              </a:rPr>
              <a:t>4</a:t>
            </a:r>
          </a:p>
        </p:txBody>
      </p:sp>
      <p:sp>
        <p:nvSpPr>
          <p:cNvPr id="6" name="TextBox 5"/>
          <p:cNvSpPr txBox="1"/>
          <p:nvPr/>
        </p:nvSpPr>
        <p:spPr>
          <a:xfrm>
            <a:off x="502920" y="1188720"/>
            <a:ext cx="11155680" cy="609398"/>
          </a:xfrm>
          <a:prstGeom prst="rect">
            <a:avLst/>
          </a:prstGeom>
          <a:noFill/>
        </p:spPr>
        <p:txBody>
          <a:bodyPr wrap="square" lIns="45720" tIns="27432" rIns="45720" bIns="27432" anchor="t">
            <a:spAutoFit/>
          </a:bodyPr>
          <a:lstStyle/>
          <a:p>
            <a:pPr algn="l"/>
            <a:r>
              <a:rPr b="0" i="1" dirty="0">
                <a:solidFill>
                  <a:srgbClr val="002D72"/>
                </a:solidFill>
                <a:latin typeface="Outfit"/>
              </a:rPr>
              <a:t>Every component needed to identify MASLD/MASH at a population scale already exists in Korea. </a:t>
            </a:r>
            <a:endParaRPr lang="en-US" b="0" i="1" dirty="0">
              <a:solidFill>
                <a:srgbClr val="002D72"/>
              </a:solidFill>
              <a:latin typeface="Outfit"/>
            </a:endParaRPr>
          </a:p>
          <a:p>
            <a:pPr algn="l"/>
            <a:r>
              <a:rPr b="0" i="1" dirty="0">
                <a:solidFill>
                  <a:srgbClr val="002D72"/>
                </a:solidFill>
                <a:latin typeface="Outfit"/>
              </a:rPr>
              <a:t>The gap is not a missing tool</a:t>
            </a:r>
            <a:r>
              <a:rPr lang="en-US" i="1" dirty="0">
                <a:solidFill>
                  <a:srgbClr val="002D72"/>
                </a:solidFill>
                <a:latin typeface="Outfit"/>
              </a:rPr>
              <a:t>. I</a:t>
            </a:r>
            <a:r>
              <a:rPr lang="en-US" b="0" i="1" dirty="0">
                <a:solidFill>
                  <a:srgbClr val="002D72"/>
                </a:solidFill>
                <a:latin typeface="Outfit"/>
              </a:rPr>
              <a:t>t is the absence of alignment across sectors.</a:t>
            </a:r>
            <a:endParaRPr b="0" i="1" dirty="0">
              <a:solidFill>
                <a:srgbClr val="002D72"/>
              </a:solidFill>
              <a:latin typeface="Outfit"/>
            </a:endParaRPr>
          </a:p>
        </p:txBody>
      </p:sp>
      <p:sp>
        <p:nvSpPr>
          <p:cNvPr id="7" name="Rectangle 6"/>
          <p:cNvSpPr/>
          <p:nvPr/>
        </p:nvSpPr>
        <p:spPr>
          <a:xfrm>
            <a:off x="502920" y="2011680"/>
            <a:ext cx="3657600" cy="640080"/>
          </a:xfrm>
          <a:prstGeom prst="rect">
            <a:avLst/>
          </a:prstGeom>
          <a:solidFill>
            <a:srgbClr val="68A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8" name="TextBox 7"/>
          <p:cNvSpPr txBox="1"/>
          <p:nvPr/>
        </p:nvSpPr>
        <p:spPr>
          <a:xfrm>
            <a:off x="502920" y="2121408"/>
            <a:ext cx="3657600" cy="486287"/>
          </a:xfrm>
          <a:prstGeom prst="rect">
            <a:avLst/>
          </a:prstGeom>
          <a:noFill/>
        </p:spPr>
        <p:txBody>
          <a:bodyPr wrap="square" lIns="45720" tIns="27432" rIns="45720" bIns="27432" anchor="t">
            <a:spAutoFit/>
          </a:bodyPr>
          <a:lstStyle/>
          <a:p>
            <a:pPr algn="ctr"/>
            <a:r>
              <a:rPr sz="2800" b="1" i="0" dirty="0">
                <a:solidFill>
                  <a:srgbClr val="002D72"/>
                </a:solidFill>
                <a:latin typeface="Outfit"/>
              </a:rPr>
              <a:t>Tools exist</a:t>
            </a:r>
          </a:p>
        </p:txBody>
      </p:sp>
      <p:sp>
        <p:nvSpPr>
          <p:cNvPr id="9" name="Rectangle 8"/>
          <p:cNvSpPr/>
          <p:nvPr/>
        </p:nvSpPr>
        <p:spPr>
          <a:xfrm>
            <a:off x="502920" y="2651760"/>
            <a:ext cx="3657600" cy="2926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2743200"/>
            <a:ext cx="3383280" cy="2271391"/>
          </a:xfrm>
          <a:prstGeom prst="rect">
            <a:avLst/>
          </a:prstGeom>
          <a:noFill/>
        </p:spPr>
        <p:txBody>
          <a:bodyPr wrap="square" lIns="45720" tIns="27432" rIns="45720" bIns="27432" anchor="t">
            <a:spAutoFit/>
          </a:bodyPr>
          <a:lstStyle/>
          <a:p>
            <a:pPr algn="l"/>
            <a:r>
              <a:rPr b="0" i="0" dirty="0">
                <a:solidFill>
                  <a:srgbClr val="002D72"/>
                </a:solidFill>
                <a:latin typeface="Outfit"/>
              </a:rPr>
              <a:t>FIB-4, HSI, FLI scoring inputs are present in routine labs</a:t>
            </a:r>
          </a:p>
          <a:p>
            <a:pPr algn="l"/>
            <a:r>
              <a:rPr b="0" i="0" dirty="0">
                <a:solidFill>
                  <a:srgbClr val="002D72"/>
                </a:solidFill>
                <a:latin typeface="Outfit"/>
              </a:rPr>
              <a:t>Liver USG and 2D-SWE devices are broadly distributed</a:t>
            </a:r>
          </a:p>
          <a:p>
            <a:pPr algn="l"/>
            <a:r>
              <a:rPr b="0" i="0" dirty="0">
                <a:solidFill>
                  <a:srgbClr val="002D72"/>
                </a:solidFill>
                <a:latin typeface="Outfit"/>
              </a:rPr>
              <a:t>Validated non-invasive tests (NIT) recommended by EASL, WFUMB, KASL</a:t>
            </a:r>
          </a:p>
        </p:txBody>
      </p:sp>
      <p:sp>
        <p:nvSpPr>
          <p:cNvPr id="11" name="Rectangle 10"/>
          <p:cNvSpPr/>
          <p:nvPr/>
        </p:nvSpPr>
        <p:spPr>
          <a:xfrm>
            <a:off x="4251960" y="2011680"/>
            <a:ext cx="3657600" cy="640080"/>
          </a:xfrm>
          <a:prstGeom prst="rect">
            <a:avLst/>
          </a:prstGeom>
          <a:solidFill>
            <a:srgbClr val="A3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2" name="TextBox 11"/>
          <p:cNvSpPr txBox="1"/>
          <p:nvPr/>
        </p:nvSpPr>
        <p:spPr>
          <a:xfrm>
            <a:off x="4251960" y="2121408"/>
            <a:ext cx="3657600" cy="486287"/>
          </a:xfrm>
          <a:prstGeom prst="rect">
            <a:avLst/>
          </a:prstGeom>
          <a:noFill/>
        </p:spPr>
        <p:txBody>
          <a:bodyPr wrap="square" lIns="45720" tIns="27432" rIns="45720" bIns="27432" anchor="t">
            <a:spAutoFit/>
          </a:bodyPr>
          <a:lstStyle/>
          <a:p>
            <a:pPr algn="ctr"/>
            <a:r>
              <a:rPr sz="2800" b="1" i="0">
                <a:solidFill>
                  <a:srgbClr val="002D72"/>
                </a:solidFill>
                <a:latin typeface="Outfit"/>
              </a:rPr>
              <a:t>Infrastructure exists</a:t>
            </a:r>
          </a:p>
        </p:txBody>
      </p:sp>
      <p:sp>
        <p:nvSpPr>
          <p:cNvPr id="13" name="Rectangle 12"/>
          <p:cNvSpPr/>
          <p:nvPr/>
        </p:nvSpPr>
        <p:spPr>
          <a:xfrm>
            <a:off x="4251960" y="2651760"/>
            <a:ext cx="3657600" cy="2926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0" y="2743200"/>
            <a:ext cx="3383280" cy="2271391"/>
          </a:xfrm>
          <a:prstGeom prst="rect">
            <a:avLst/>
          </a:prstGeom>
          <a:noFill/>
        </p:spPr>
        <p:txBody>
          <a:bodyPr wrap="square" lIns="45720" tIns="27432" rIns="45720" bIns="27432" anchor="t">
            <a:spAutoFit/>
          </a:bodyPr>
          <a:lstStyle/>
          <a:p>
            <a:pPr algn="l"/>
            <a:r>
              <a:rPr b="0" i="0" dirty="0">
                <a:solidFill>
                  <a:srgbClr val="002D72"/>
                </a:solidFill>
                <a:latin typeface="Outfit"/>
              </a:rPr>
              <a:t>KMI operates 30+ health-screening centers</a:t>
            </a:r>
          </a:p>
          <a:p>
            <a:pPr algn="l"/>
            <a:r>
              <a:rPr b="0" i="0" dirty="0">
                <a:solidFill>
                  <a:srgbClr val="002D72"/>
                </a:solidFill>
                <a:latin typeface="Outfit"/>
              </a:rPr>
              <a:t>~70% annual adult screening participation (NHIS 2024)</a:t>
            </a:r>
          </a:p>
          <a:p>
            <a:pPr algn="l"/>
            <a:r>
              <a:rPr b="0" i="0" dirty="0">
                <a:solidFill>
                  <a:srgbClr val="002D72"/>
                </a:solidFill>
                <a:latin typeface="Outfit"/>
              </a:rPr>
              <a:t>~3.5 M abdominal USG claims per year, 52% at primary care</a:t>
            </a:r>
          </a:p>
          <a:p>
            <a:pPr algn="l"/>
            <a:r>
              <a:rPr b="0" i="0" dirty="0">
                <a:solidFill>
                  <a:srgbClr val="002D72"/>
                </a:solidFill>
                <a:latin typeface="Outfit"/>
              </a:rPr>
              <a:t>35,446 USG devices nationwide (KHIDI 2021)</a:t>
            </a:r>
          </a:p>
        </p:txBody>
      </p:sp>
      <p:sp>
        <p:nvSpPr>
          <p:cNvPr id="15" name="Rectangle 14"/>
          <p:cNvSpPr/>
          <p:nvPr/>
        </p:nvSpPr>
        <p:spPr>
          <a:xfrm>
            <a:off x="8001000" y="2011680"/>
            <a:ext cx="3657600" cy="640080"/>
          </a:xfrm>
          <a:prstGeom prst="rect">
            <a:avLst/>
          </a:prstGeom>
          <a:solidFill>
            <a:srgbClr val="C5C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6" name="TextBox 15"/>
          <p:cNvSpPr txBox="1"/>
          <p:nvPr/>
        </p:nvSpPr>
        <p:spPr>
          <a:xfrm>
            <a:off x="8001000" y="2121408"/>
            <a:ext cx="3657600" cy="917174"/>
          </a:xfrm>
          <a:prstGeom prst="rect">
            <a:avLst/>
          </a:prstGeom>
          <a:noFill/>
        </p:spPr>
        <p:txBody>
          <a:bodyPr wrap="square" lIns="45720" tIns="27432" rIns="45720" bIns="27432" anchor="t">
            <a:spAutoFit/>
          </a:bodyPr>
          <a:lstStyle/>
          <a:p>
            <a:pPr algn="ctr"/>
            <a:r>
              <a:rPr sz="2800" b="1" i="0">
                <a:solidFill>
                  <a:srgbClr val="002D72"/>
                </a:solidFill>
                <a:latin typeface="Outfit"/>
              </a:rPr>
              <a:t>Professional bodies exist</a:t>
            </a:r>
          </a:p>
        </p:txBody>
      </p:sp>
      <p:sp>
        <p:nvSpPr>
          <p:cNvPr id="17" name="Rectangle 16"/>
          <p:cNvSpPr/>
          <p:nvPr/>
        </p:nvSpPr>
        <p:spPr>
          <a:xfrm>
            <a:off x="8001000" y="2651760"/>
            <a:ext cx="3657600" cy="2926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138160" y="2743200"/>
            <a:ext cx="3383280" cy="2548390"/>
          </a:xfrm>
          <a:prstGeom prst="rect">
            <a:avLst/>
          </a:prstGeom>
          <a:noFill/>
        </p:spPr>
        <p:txBody>
          <a:bodyPr wrap="square" lIns="45720" tIns="27432" rIns="45720" bIns="27432" anchor="t">
            <a:spAutoFit/>
          </a:bodyPr>
          <a:lstStyle/>
          <a:p>
            <a:pPr algn="l"/>
            <a:r>
              <a:rPr b="0" i="0">
                <a:solidFill>
                  <a:srgbClr val="002D72"/>
                </a:solidFill>
                <a:latin typeface="Outfit"/>
              </a:rPr>
              <a:t>KASL publishes NIT guidelines (2024)</a:t>
            </a:r>
          </a:p>
          <a:p>
            <a:pPr algn="l"/>
            <a:r>
              <a:rPr b="0" i="0">
                <a:solidFill>
                  <a:srgbClr val="002D72"/>
                </a:solidFill>
                <a:latin typeface="Outfit"/>
              </a:rPr>
              <a:t>KSoM has Clinical Obesity Guidelines (2022)</a:t>
            </a:r>
          </a:p>
          <a:p>
            <a:pPr algn="l"/>
            <a:r>
              <a:rPr b="0" i="0">
                <a:solidFill>
                  <a:srgbClr val="002D72"/>
                </a:solidFill>
                <a:latin typeface="Outfit"/>
              </a:rPr>
              <a:t>KDA has Diabetes Guidelines (2025) referencing liver health</a:t>
            </a:r>
          </a:p>
          <a:p>
            <a:pPr algn="l"/>
            <a:r>
              <a:rPr b="0" i="0">
                <a:solidFill>
                  <a:srgbClr val="002D72"/>
                </a:solidFill>
                <a:latin typeface="Outfit"/>
              </a:rPr>
              <a:t>Yet cross-society, MASLD-specific action is limited</a:t>
            </a:r>
          </a:p>
        </p:txBody>
      </p:sp>
      <p:sp>
        <p:nvSpPr>
          <p:cNvPr id="19" name="Rectangle 18"/>
          <p:cNvSpPr/>
          <p:nvPr/>
        </p:nvSpPr>
        <p:spPr>
          <a:xfrm>
            <a:off x="502920" y="5669280"/>
            <a:ext cx="11155680" cy="640080"/>
          </a:xfrm>
          <a:prstGeom prst="rect">
            <a:avLst/>
          </a:prstGeom>
          <a:solidFill>
            <a:srgbClr val="002D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 y="5700097"/>
            <a:ext cx="10972800" cy="609398"/>
          </a:xfrm>
          <a:prstGeom prst="rect">
            <a:avLst/>
          </a:prstGeom>
          <a:noFill/>
        </p:spPr>
        <p:txBody>
          <a:bodyPr wrap="square" lIns="45720" tIns="27432" rIns="45720" bIns="27432" anchor="t">
            <a:spAutoFit/>
          </a:bodyPr>
          <a:lstStyle/>
          <a:p>
            <a:pPr algn="l"/>
            <a:r>
              <a:rPr lang="en-US" b="1" i="1" dirty="0">
                <a:solidFill>
                  <a:srgbClr val="FFFFFF"/>
                </a:solidFill>
                <a:latin typeface="Outfit"/>
              </a:rPr>
              <a:t>T</a:t>
            </a:r>
            <a:r>
              <a:rPr b="1" i="1" dirty="0">
                <a:solidFill>
                  <a:srgbClr val="FFFFFF"/>
                </a:solidFill>
                <a:latin typeface="Outfit"/>
              </a:rPr>
              <a:t>ools and infrastructure are not missing. Alignment across sectors is missing. </a:t>
            </a:r>
            <a:br>
              <a:rPr lang="en-US" b="1" i="1" dirty="0">
                <a:solidFill>
                  <a:srgbClr val="FFFFFF"/>
                </a:solidFill>
                <a:latin typeface="Outfit"/>
              </a:rPr>
            </a:br>
            <a:r>
              <a:rPr b="1" i="1" dirty="0">
                <a:solidFill>
                  <a:srgbClr val="FFFFFF"/>
                </a:solidFill>
                <a:latin typeface="Outfit"/>
              </a:rPr>
              <a:t>Systems analysis identifies where that alignment fails.</a:t>
            </a:r>
          </a:p>
        </p:txBody>
      </p:sp>
      <p:sp>
        <p:nvSpPr>
          <p:cNvPr id="21" name="TextBox 20"/>
          <p:cNvSpPr txBox="1"/>
          <p:nvPr/>
        </p:nvSpPr>
        <p:spPr>
          <a:xfrm>
            <a:off x="502920" y="6382512"/>
            <a:ext cx="11155680" cy="228600"/>
          </a:xfrm>
          <a:prstGeom prst="rect">
            <a:avLst/>
          </a:prstGeom>
          <a:noFill/>
        </p:spPr>
        <p:txBody>
          <a:bodyPr wrap="square" lIns="45720" tIns="27432" rIns="45720" bIns="27432" anchor="t">
            <a:spAutoFit/>
          </a:bodyPr>
          <a:lstStyle/>
          <a:p>
            <a:pPr algn="l"/>
            <a:r>
              <a:rPr sz="750" b="0" i="1">
                <a:solidFill>
                  <a:srgbClr val="898885"/>
                </a:solidFill>
                <a:latin typeface="Outfit"/>
              </a:rPr>
              <a:t>Sources: NHIS 2024 Health Screening Yearbook · KHIDI 2021 · Jeon SK et al. Clin Ultrasound 2020;5(2):59-64 · KASL 2024 NIT Guidelines · KSoM 2022 · KDA 2025 · EASL-EASD-EASO Clinical Practice Guidelines (J Hepatol 2024)</a:t>
            </a:r>
          </a:p>
        </p:txBody>
      </p:sp>
      <p:sp>
        <p:nvSpPr>
          <p:cNvPr id="22" name="Rectangle 21"/>
          <p:cNvSpPr/>
          <p:nvPr/>
        </p:nvSpPr>
        <p:spPr>
          <a:xfrm>
            <a:off x="502920" y="6537960"/>
            <a:ext cx="11155680" cy="76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2920" y="6601968"/>
            <a:ext cx="7315200" cy="228600"/>
          </a:xfrm>
          <a:prstGeom prst="rect">
            <a:avLst/>
          </a:prstGeom>
          <a:noFill/>
        </p:spPr>
        <p:txBody>
          <a:bodyPr wrap="square" lIns="45720" tIns="27432" rIns="45720" bIns="27432" anchor="t">
            <a:spAutoFit/>
          </a:bodyPr>
          <a:lstStyle/>
          <a:p>
            <a:pPr algn="l"/>
            <a:r>
              <a:rPr sz="800" b="0" i="0">
                <a:solidFill>
                  <a:srgbClr val="898885"/>
                </a:solidFill>
                <a:latin typeface="Outfit"/>
              </a:rPr>
              <a:t>Korea MASLD/MASH Ecosystem Blueprint  |  Johns Hopkins Bloomberg SPH  ·  MPH Practicum</a:t>
            </a:r>
          </a:p>
        </p:txBody>
      </p:sp>
      <p:sp>
        <p:nvSpPr>
          <p:cNvPr id="24" name="TextBox 23"/>
          <p:cNvSpPr txBox="1"/>
          <p:nvPr/>
        </p:nvSpPr>
        <p:spPr>
          <a:xfrm>
            <a:off x="7315200" y="6601968"/>
            <a:ext cx="4572000" cy="178510"/>
          </a:xfrm>
          <a:prstGeom prst="rect">
            <a:avLst/>
          </a:prstGeom>
          <a:noFill/>
        </p:spPr>
        <p:txBody>
          <a:bodyPr wrap="square" lIns="45720" tIns="27432" rIns="45720" bIns="27432" anchor="t">
            <a:spAutoFit/>
          </a:bodyPr>
          <a:lstStyle/>
          <a:p>
            <a:pPr algn="r"/>
            <a:r>
              <a:rPr sz="800" b="0" i="0" dirty="0">
                <a:solidFill>
                  <a:srgbClr val="898885"/>
                </a:solidFill>
                <a:latin typeface="Outfit"/>
              </a:rPr>
              <a:t>Medical Affairs, Boehringer Ingelheim Korea  |  </a:t>
            </a:r>
            <a:r>
              <a:rPr lang="en-US" sz="800" b="0" i="0" dirty="0">
                <a:solidFill>
                  <a:srgbClr val="898885"/>
                </a:solidFill>
                <a:latin typeface="Outfit"/>
              </a:rPr>
              <a:t>Apr 2026</a:t>
            </a:r>
            <a:endParaRPr sz="800" b="0" i="0" dirty="0">
              <a:solidFill>
                <a:srgbClr val="898885"/>
              </a:solidFill>
              <a:latin typeface="Outfi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002D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9144000" cy="320040"/>
          </a:xfrm>
          <a:prstGeom prst="rect">
            <a:avLst/>
          </a:prstGeom>
          <a:noFill/>
        </p:spPr>
        <p:txBody>
          <a:bodyPr wrap="square" lIns="45720" tIns="27432" rIns="45720" bIns="27432" anchor="t">
            <a:spAutoFit/>
          </a:bodyPr>
          <a:lstStyle/>
          <a:p>
            <a:pPr algn="l"/>
            <a:r>
              <a:rPr sz="1000" b="1" i="0">
                <a:solidFill>
                  <a:srgbClr val="68ACE5"/>
                </a:solidFill>
                <a:latin typeface="Outfit"/>
              </a:rPr>
              <a:t>PROBLEM FRAMING · 3</a:t>
            </a:r>
          </a:p>
        </p:txBody>
      </p:sp>
      <p:sp>
        <p:nvSpPr>
          <p:cNvPr id="4" name="TextBox 3"/>
          <p:cNvSpPr txBox="1"/>
          <p:nvPr/>
        </p:nvSpPr>
        <p:spPr>
          <a:xfrm>
            <a:off x="502920" y="457200"/>
            <a:ext cx="10515600" cy="548640"/>
          </a:xfrm>
          <a:prstGeom prst="rect">
            <a:avLst/>
          </a:prstGeom>
          <a:noFill/>
        </p:spPr>
        <p:txBody>
          <a:bodyPr wrap="square" lIns="45720" tIns="27432" rIns="45720" bIns="27432" anchor="t">
            <a:spAutoFit/>
          </a:bodyPr>
          <a:lstStyle/>
          <a:p>
            <a:pPr algn="l"/>
            <a:r>
              <a:rPr sz="2400" b="1" i="0">
                <a:solidFill>
                  <a:srgbClr val="FFFFFF"/>
                </a:solidFill>
                <a:latin typeface="Outfit"/>
              </a:rPr>
              <a:t>Stakeholder network — current state</a:t>
            </a:r>
          </a:p>
        </p:txBody>
      </p:sp>
      <p:sp>
        <p:nvSpPr>
          <p:cNvPr id="5" name="TextBox 4"/>
          <p:cNvSpPr txBox="1"/>
          <p:nvPr/>
        </p:nvSpPr>
        <p:spPr>
          <a:xfrm>
            <a:off x="11338560" y="256032"/>
            <a:ext cx="640080" cy="365760"/>
          </a:xfrm>
          <a:prstGeom prst="rect">
            <a:avLst/>
          </a:prstGeom>
          <a:noFill/>
        </p:spPr>
        <p:txBody>
          <a:bodyPr wrap="square" lIns="45720" tIns="27432" rIns="45720" bIns="27432" anchor="t">
            <a:spAutoFit/>
          </a:bodyPr>
          <a:lstStyle/>
          <a:p>
            <a:pPr algn="r"/>
            <a:r>
              <a:rPr sz="1100" b="1" i="0">
                <a:solidFill>
                  <a:srgbClr val="68ACE5"/>
                </a:solidFill>
                <a:latin typeface="Outfit"/>
              </a:rPr>
              <a:t>5</a:t>
            </a:r>
          </a:p>
        </p:txBody>
      </p:sp>
      <p:sp>
        <p:nvSpPr>
          <p:cNvPr id="6" name="TextBox 5"/>
          <p:cNvSpPr txBox="1"/>
          <p:nvPr/>
        </p:nvSpPr>
        <p:spPr>
          <a:xfrm>
            <a:off x="502920" y="1143000"/>
            <a:ext cx="8686800" cy="365760"/>
          </a:xfrm>
          <a:prstGeom prst="rect">
            <a:avLst/>
          </a:prstGeom>
          <a:noFill/>
        </p:spPr>
        <p:txBody>
          <a:bodyPr wrap="square" lIns="45720" tIns="27432" rIns="45720" bIns="27432" anchor="t">
            <a:spAutoFit/>
          </a:bodyPr>
          <a:lstStyle/>
          <a:p>
            <a:pPr algn="l"/>
            <a:r>
              <a:rPr sz="1200" b="1" i="0">
                <a:solidFill>
                  <a:srgbClr val="68ACE5"/>
                </a:solidFill>
                <a:latin typeface="Outfit"/>
              </a:rPr>
              <a:t>Systems Thinking Tool #1: Stakeholder Network Analysis</a:t>
            </a:r>
          </a:p>
        </p:txBody>
      </p:sp>
      <p:sp>
        <p:nvSpPr>
          <p:cNvPr id="8" name="Rectangle 7"/>
          <p:cNvSpPr/>
          <p:nvPr/>
        </p:nvSpPr>
        <p:spPr>
          <a:xfrm>
            <a:off x="8961120" y="1554480"/>
            <a:ext cx="2834640" cy="48463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098280" y="1645920"/>
            <a:ext cx="2697480" cy="365760"/>
          </a:xfrm>
          <a:prstGeom prst="rect">
            <a:avLst/>
          </a:prstGeom>
          <a:noFill/>
        </p:spPr>
        <p:txBody>
          <a:bodyPr wrap="square" lIns="45720" tIns="27432" rIns="45720" bIns="27432" anchor="t">
            <a:spAutoFit/>
          </a:bodyPr>
          <a:lstStyle/>
          <a:p>
            <a:pPr algn="l"/>
            <a:r>
              <a:rPr sz="1300" b="1" i="0">
                <a:solidFill>
                  <a:srgbClr val="002D72"/>
                </a:solidFill>
                <a:latin typeface="Outfit"/>
              </a:rPr>
              <a:t>Interpretation</a:t>
            </a:r>
          </a:p>
        </p:txBody>
      </p:sp>
      <p:sp>
        <p:nvSpPr>
          <p:cNvPr id="10" name="TextBox 9"/>
          <p:cNvSpPr txBox="1"/>
          <p:nvPr/>
        </p:nvSpPr>
        <p:spPr>
          <a:xfrm>
            <a:off x="9098280" y="2011680"/>
            <a:ext cx="2697480" cy="3365024"/>
          </a:xfrm>
          <a:prstGeom prst="rect">
            <a:avLst/>
          </a:prstGeom>
          <a:noFill/>
        </p:spPr>
        <p:txBody>
          <a:bodyPr wrap="square" lIns="45720" rIns="45720">
            <a:spAutoFit/>
          </a:bodyPr>
          <a:lstStyle/>
          <a:p>
            <a:pPr algn="l">
              <a:spcAft>
                <a:spcPts val="400"/>
              </a:spcAft>
            </a:pPr>
            <a:r>
              <a:rPr sz="1400" dirty="0">
                <a:solidFill>
                  <a:srgbClr val="002D72"/>
                </a:solidFill>
                <a:latin typeface="Outfit"/>
              </a:rPr>
              <a:t>•  8 actors · 1 patient group at center</a:t>
            </a:r>
          </a:p>
          <a:p>
            <a:pPr algn="l">
              <a:spcAft>
                <a:spcPts val="400"/>
              </a:spcAft>
            </a:pPr>
            <a:r>
              <a:rPr sz="1400" dirty="0">
                <a:solidFill>
                  <a:srgbClr val="002D72"/>
                </a:solidFill>
                <a:latin typeface="Outfit"/>
              </a:rPr>
              <a:t>•  Current flows are bilateral and fragmented — no shared operational spine</a:t>
            </a:r>
          </a:p>
          <a:p>
            <a:pPr algn="l">
              <a:spcAft>
                <a:spcPts val="400"/>
              </a:spcAft>
            </a:pPr>
            <a:r>
              <a:rPr sz="1400" dirty="0">
                <a:solidFill>
                  <a:srgbClr val="002D72"/>
                </a:solidFill>
                <a:latin typeface="Outfit"/>
              </a:rPr>
              <a:t>•  Screening operators do not feed hepatologists; hepatologists do not pull from primary care</a:t>
            </a:r>
          </a:p>
          <a:p>
            <a:pPr algn="l">
              <a:spcAft>
                <a:spcPts val="400"/>
              </a:spcAft>
            </a:pPr>
            <a:r>
              <a:rPr sz="1400" dirty="0">
                <a:solidFill>
                  <a:srgbClr val="002D72"/>
                </a:solidFill>
                <a:latin typeface="Outfit"/>
              </a:rPr>
              <a:t>•  Industry invests in tertiary, not primary</a:t>
            </a:r>
          </a:p>
          <a:p>
            <a:pPr algn="l">
              <a:spcAft>
                <a:spcPts val="400"/>
              </a:spcAft>
            </a:pPr>
            <a:r>
              <a:rPr sz="1400" dirty="0">
                <a:solidFill>
                  <a:srgbClr val="002D72"/>
                </a:solidFill>
                <a:latin typeface="Outfit"/>
              </a:rPr>
              <a:t>•  Policymakers wait for clinical demand signals that never arrive</a:t>
            </a:r>
          </a:p>
          <a:p>
            <a:pPr algn="l">
              <a:spcAft>
                <a:spcPts val="400"/>
              </a:spcAft>
            </a:pPr>
            <a:r>
              <a:rPr sz="1400" dirty="0">
                <a:solidFill>
                  <a:srgbClr val="002D72"/>
                </a:solidFill>
                <a:latin typeface="Outfit"/>
              </a:rPr>
              <a:t>•  The Blueprint re-wires these edges around the patient</a:t>
            </a:r>
          </a:p>
        </p:txBody>
      </p:sp>
      <p:sp>
        <p:nvSpPr>
          <p:cNvPr id="11" name="Rectangle 10"/>
          <p:cNvSpPr/>
          <p:nvPr/>
        </p:nvSpPr>
        <p:spPr>
          <a:xfrm>
            <a:off x="502920" y="6537960"/>
            <a:ext cx="11155680" cy="76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601968"/>
            <a:ext cx="7315200" cy="228600"/>
          </a:xfrm>
          <a:prstGeom prst="rect">
            <a:avLst/>
          </a:prstGeom>
          <a:noFill/>
        </p:spPr>
        <p:txBody>
          <a:bodyPr wrap="square" lIns="45720" tIns="27432" rIns="45720" bIns="27432" anchor="t">
            <a:spAutoFit/>
          </a:bodyPr>
          <a:lstStyle/>
          <a:p>
            <a:pPr algn="l"/>
            <a:r>
              <a:rPr sz="800" b="0" i="0">
                <a:solidFill>
                  <a:srgbClr val="898885"/>
                </a:solidFill>
                <a:latin typeface="Outfit"/>
              </a:rPr>
              <a:t>Korea MASLD/MASH Ecosystem Blueprint  |  Johns Hopkins Bloomberg SPH  ·  MPH Practicum</a:t>
            </a:r>
          </a:p>
        </p:txBody>
      </p:sp>
      <p:sp>
        <p:nvSpPr>
          <p:cNvPr id="13" name="TextBox 12"/>
          <p:cNvSpPr txBox="1"/>
          <p:nvPr/>
        </p:nvSpPr>
        <p:spPr>
          <a:xfrm>
            <a:off x="7315200" y="6601968"/>
            <a:ext cx="4572000" cy="178510"/>
          </a:xfrm>
          <a:prstGeom prst="rect">
            <a:avLst/>
          </a:prstGeom>
          <a:noFill/>
        </p:spPr>
        <p:txBody>
          <a:bodyPr wrap="square" lIns="45720" tIns="27432" rIns="45720" bIns="27432" anchor="t">
            <a:spAutoFit/>
          </a:bodyPr>
          <a:lstStyle/>
          <a:p>
            <a:pPr algn="r"/>
            <a:r>
              <a:rPr sz="800" b="0" i="0" dirty="0">
                <a:solidFill>
                  <a:srgbClr val="898885"/>
                </a:solidFill>
                <a:latin typeface="Outfit"/>
              </a:rPr>
              <a:t>Medical Affairs, Boehringer Ingelheim Korea  |  </a:t>
            </a:r>
            <a:r>
              <a:rPr lang="en-US" sz="800" b="0" i="0" dirty="0">
                <a:solidFill>
                  <a:srgbClr val="898885"/>
                </a:solidFill>
                <a:latin typeface="Outfit"/>
              </a:rPr>
              <a:t>Apr 2026</a:t>
            </a:r>
            <a:endParaRPr sz="800" b="0" i="0" dirty="0">
              <a:solidFill>
                <a:srgbClr val="898885"/>
              </a:solidFill>
              <a:latin typeface="Outfit"/>
            </a:endParaRPr>
          </a:p>
        </p:txBody>
      </p:sp>
      <p:cxnSp>
        <p:nvCxnSpPr>
          <p:cNvPr id="14" name="Connector 6">
            <a:extLst>
              <a:ext uri="{FF2B5EF4-FFF2-40B4-BE49-F238E27FC236}">
                <a16:creationId xmlns:a16="http://schemas.microsoft.com/office/drawing/2014/main" id="{E560CF8A-863A-6097-5FB4-4DDF84FA7F60}"/>
              </a:ext>
            </a:extLst>
          </p:cNvPr>
          <p:cNvCxnSpPr/>
          <p:nvPr/>
        </p:nvCxnSpPr>
        <p:spPr>
          <a:xfrm flipV="1">
            <a:off x="4297680" y="1828800"/>
            <a:ext cx="0" cy="2194560"/>
          </a:xfrm>
          <a:prstGeom prst="line">
            <a:avLst/>
          </a:prstGeom>
          <a:ln w="12700">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15" name="Connector 7">
            <a:extLst>
              <a:ext uri="{FF2B5EF4-FFF2-40B4-BE49-F238E27FC236}">
                <a16:creationId xmlns:a16="http://schemas.microsoft.com/office/drawing/2014/main" id="{6C5A9273-D72C-A3F2-8CF4-EA997736A402}"/>
              </a:ext>
            </a:extLst>
          </p:cNvPr>
          <p:cNvCxnSpPr/>
          <p:nvPr/>
        </p:nvCxnSpPr>
        <p:spPr>
          <a:xfrm flipV="1">
            <a:off x="4297680" y="2471571"/>
            <a:ext cx="1551788" cy="1551789"/>
          </a:xfrm>
          <a:prstGeom prst="line">
            <a:avLst/>
          </a:prstGeom>
          <a:ln w="12700">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16" name="Connector 8">
            <a:extLst>
              <a:ext uri="{FF2B5EF4-FFF2-40B4-BE49-F238E27FC236}">
                <a16:creationId xmlns:a16="http://schemas.microsoft.com/office/drawing/2014/main" id="{9E0F85E5-F330-A03F-B4B8-970096D75536}"/>
              </a:ext>
            </a:extLst>
          </p:cNvPr>
          <p:cNvCxnSpPr/>
          <p:nvPr/>
        </p:nvCxnSpPr>
        <p:spPr>
          <a:xfrm>
            <a:off x="4297680" y="4023360"/>
            <a:ext cx="2194560" cy="0"/>
          </a:xfrm>
          <a:prstGeom prst="line">
            <a:avLst/>
          </a:prstGeom>
          <a:ln w="12700">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17" name="Connector 9">
            <a:extLst>
              <a:ext uri="{FF2B5EF4-FFF2-40B4-BE49-F238E27FC236}">
                <a16:creationId xmlns:a16="http://schemas.microsoft.com/office/drawing/2014/main" id="{204DF041-537B-CC69-AFA8-53580D3B23FF}"/>
              </a:ext>
            </a:extLst>
          </p:cNvPr>
          <p:cNvCxnSpPr/>
          <p:nvPr/>
        </p:nvCxnSpPr>
        <p:spPr>
          <a:xfrm>
            <a:off x="4297680" y="4023360"/>
            <a:ext cx="1551788" cy="1551788"/>
          </a:xfrm>
          <a:prstGeom prst="line">
            <a:avLst/>
          </a:prstGeom>
          <a:ln w="12700">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18" name="Connector 10">
            <a:extLst>
              <a:ext uri="{FF2B5EF4-FFF2-40B4-BE49-F238E27FC236}">
                <a16:creationId xmlns:a16="http://schemas.microsoft.com/office/drawing/2014/main" id="{0476F585-F089-AB50-492E-32272290EF63}"/>
              </a:ext>
            </a:extLst>
          </p:cNvPr>
          <p:cNvCxnSpPr/>
          <p:nvPr/>
        </p:nvCxnSpPr>
        <p:spPr>
          <a:xfrm>
            <a:off x="4297680" y="4023360"/>
            <a:ext cx="0" cy="2194560"/>
          </a:xfrm>
          <a:prstGeom prst="line">
            <a:avLst/>
          </a:prstGeom>
          <a:ln w="12700">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19" name="Connector 11">
            <a:extLst>
              <a:ext uri="{FF2B5EF4-FFF2-40B4-BE49-F238E27FC236}">
                <a16:creationId xmlns:a16="http://schemas.microsoft.com/office/drawing/2014/main" id="{7BE1307C-5281-3EEC-6FCD-C6677FE6ECD8}"/>
              </a:ext>
            </a:extLst>
          </p:cNvPr>
          <p:cNvCxnSpPr/>
          <p:nvPr/>
        </p:nvCxnSpPr>
        <p:spPr>
          <a:xfrm flipH="1">
            <a:off x="2745891" y="4023360"/>
            <a:ext cx="1551789" cy="1551788"/>
          </a:xfrm>
          <a:prstGeom prst="line">
            <a:avLst/>
          </a:prstGeom>
          <a:ln w="12700">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20" name="Connector 12">
            <a:extLst>
              <a:ext uri="{FF2B5EF4-FFF2-40B4-BE49-F238E27FC236}">
                <a16:creationId xmlns:a16="http://schemas.microsoft.com/office/drawing/2014/main" id="{B92D78C2-9660-2631-CA6B-F5FB19F55B17}"/>
              </a:ext>
            </a:extLst>
          </p:cNvPr>
          <p:cNvCxnSpPr/>
          <p:nvPr/>
        </p:nvCxnSpPr>
        <p:spPr>
          <a:xfrm flipH="1" flipV="1">
            <a:off x="2103120" y="4023359"/>
            <a:ext cx="2194560" cy="1"/>
          </a:xfrm>
          <a:prstGeom prst="line">
            <a:avLst/>
          </a:prstGeom>
          <a:ln w="12700">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21" name="Connector 13">
            <a:extLst>
              <a:ext uri="{FF2B5EF4-FFF2-40B4-BE49-F238E27FC236}">
                <a16:creationId xmlns:a16="http://schemas.microsoft.com/office/drawing/2014/main" id="{8DB91429-6656-DCE5-7AD9-6AE5661F26F7}"/>
              </a:ext>
            </a:extLst>
          </p:cNvPr>
          <p:cNvCxnSpPr/>
          <p:nvPr/>
        </p:nvCxnSpPr>
        <p:spPr>
          <a:xfrm flipH="1" flipV="1">
            <a:off x="2745891" y="2471571"/>
            <a:ext cx="1551789" cy="1551789"/>
          </a:xfrm>
          <a:prstGeom prst="line">
            <a:avLst/>
          </a:prstGeom>
          <a:ln w="12700">
            <a:solidFill>
              <a:srgbClr val="B8B8B8"/>
            </a:solidFill>
          </a:ln>
        </p:spPr>
        <p:style>
          <a:lnRef idx="2">
            <a:schemeClr val="accent1"/>
          </a:lnRef>
          <a:fillRef idx="0">
            <a:schemeClr val="accent1"/>
          </a:fillRef>
          <a:effectRef idx="1">
            <a:schemeClr val="accent1"/>
          </a:effectRef>
          <a:fontRef idx="minor">
            <a:schemeClr val="tx1"/>
          </a:fontRef>
        </p:style>
      </p:cxnSp>
      <p:sp>
        <p:nvSpPr>
          <p:cNvPr id="22" name="Rounded Rectangle 14">
            <a:extLst>
              <a:ext uri="{FF2B5EF4-FFF2-40B4-BE49-F238E27FC236}">
                <a16:creationId xmlns:a16="http://schemas.microsoft.com/office/drawing/2014/main" id="{EFBACD2F-505D-ACBA-8A88-9818D5EFF0C2}"/>
              </a:ext>
            </a:extLst>
          </p:cNvPr>
          <p:cNvSpPr/>
          <p:nvPr/>
        </p:nvSpPr>
        <p:spPr>
          <a:xfrm>
            <a:off x="3246120" y="1532235"/>
            <a:ext cx="2103120" cy="777240"/>
          </a:xfrm>
          <a:prstGeom prst="roundRect">
            <a:avLst>
              <a:gd name="adj" fmla="val 20000"/>
            </a:avLst>
          </a:prstGeom>
          <a:solidFill>
            <a:srgbClr val="F58A68"/>
          </a:solidFill>
          <a:ln w="15875">
            <a:solidFill>
              <a:srgbClr val="F58A68"/>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200" b="1">
                <a:solidFill>
                  <a:srgbClr val="002D72"/>
                </a:solidFill>
                <a:latin typeface="Outfit"/>
              </a:rPr>
              <a:t>Public &amp; Media</a:t>
            </a:r>
          </a:p>
          <a:p>
            <a:pPr algn="ctr"/>
            <a:r>
              <a:rPr sz="1200" b="1">
                <a:solidFill>
                  <a:srgbClr val="002D72"/>
                </a:solidFill>
                <a:latin typeface="Outfit"/>
              </a:rPr>
              <a:t>(low MASLD awareness)</a:t>
            </a:r>
          </a:p>
        </p:txBody>
      </p:sp>
      <p:sp>
        <p:nvSpPr>
          <p:cNvPr id="23" name="Rounded Rectangle 15">
            <a:extLst>
              <a:ext uri="{FF2B5EF4-FFF2-40B4-BE49-F238E27FC236}">
                <a16:creationId xmlns:a16="http://schemas.microsoft.com/office/drawing/2014/main" id="{12212731-F13D-1ADB-3021-4FA42831C7B5}"/>
              </a:ext>
            </a:extLst>
          </p:cNvPr>
          <p:cNvSpPr/>
          <p:nvPr/>
        </p:nvSpPr>
        <p:spPr>
          <a:xfrm>
            <a:off x="5577839" y="2082951"/>
            <a:ext cx="2103120" cy="777240"/>
          </a:xfrm>
          <a:prstGeom prst="roundRect">
            <a:avLst>
              <a:gd name="adj" fmla="val 20000"/>
            </a:avLst>
          </a:prstGeom>
          <a:solidFill>
            <a:srgbClr val="1C6E8C"/>
          </a:solidFill>
          <a:ln w="15875">
            <a:solidFill>
              <a:srgbClr val="1C6E8C"/>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200" b="1">
                <a:solidFill>
                  <a:srgbClr val="FFFFFF"/>
                </a:solidFill>
                <a:latin typeface="Outfit"/>
              </a:rPr>
              <a:t>Health Screening Operators</a:t>
            </a:r>
          </a:p>
          <a:p>
            <a:pPr algn="ctr"/>
            <a:r>
              <a:rPr sz="1200" b="1">
                <a:solidFill>
                  <a:srgbClr val="FFFFFF"/>
                </a:solidFill>
                <a:latin typeface="Outfit"/>
              </a:rPr>
              <a:t>(KMI, NHIS)</a:t>
            </a:r>
          </a:p>
        </p:txBody>
      </p:sp>
      <p:sp>
        <p:nvSpPr>
          <p:cNvPr id="24" name="Rounded Rectangle 16">
            <a:extLst>
              <a:ext uri="{FF2B5EF4-FFF2-40B4-BE49-F238E27FC236}">
                <a16:creationId xmlns:a16="http://schemas.microsoft.com/office/drawing/2014/main" id="{C371B74B-EAB6-C8E6-4F09-F4F8EE437ED8}"/>
              </a:ext>
            </a:extLst>
          </p:cNvPr>
          <p:cNvSpPr/>
          <p:nvPr/>
        </p:nvSpPr>
        <p:spPr>
          <a:xfrm>
            <a:off x="6217920" y="3634740"/>
            <a:ext cx="2103120" cy="777240"/>
          </a:xfrm>
          <a:prstGeom prst="roundRect">
            <a:avLst>
              <a:gd name="adj" fmla="val 20000"/>
            </a:avLst>
          </a:prstGeom>
          <a:solidFill>
            <a:srgbClr val="A3E5EE"/>
          </a:solidFill>
          <a:ln w="15875">
            <a:solidFill>
              <a:srgbClr val="A3E5EE"/>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200" b="1">
                <a:solidFill>
                  <a:srgbClr val="002D72"/>
                </a:solidFill>
                <a:latin typeface="Outfit"/>
              </a:rPr>
              <a:t>Device Manufacturers</a:t>
            </a:r>
          </a:p>
          <a:p>
            <a:pPr algn="ctr"/>
            <a:r>
              <a:rPr sz="1200" b="1">
                <a:solidFill>
                  <a:srgbClr val="002D72"/>
                </a:solidFill>
                <a:latin typeface="Outfit"/>
              </a:rPr>
              <a:t>(Philips, GE, Samsung)</a:t>
            </a:r>
          </a:p>
        </p:txBody>
      </p:sp>
      <p:sp>
        <p:nvSpPr>
          <p:cNvPr id="25" name="Rounded Rectangle 17">
            <a:extLst>
              <a:ext uri="{FF2B5EF4-FFF2-40B4-BE49-F238E27FC236}">
                <a16:creationId xmlns:a16="http://schemas.microsoft.com/office/drawing/2014/main" id="{2244E37C-4AB1-6CC2-9BCC-9AD045210E6A}"/>
              </a:ext>
            </a:extLst>
          </p:cNvPr>
          <p:cNvSpPr/>
          <p:nvPr/>
        </p:nvSpPr>
        <p:spPr>
          <a:xfrm>
            <a:off x="5581472" y="5186528"/>
            <a:ext cx="2103120" cy="777240"/>
          </a:xfrm>
          <a:prstGeom prst="roundRect">
            <a:avLst>
              <a:gd name="adj" fmla="val 20000"/>
            </a:avLst>
          </a:prstGeom>
          <a:solidFill>
            <a:srgbClr val="68ACE5"/>
          </a:solidFill>
          <a:ln w="15875">
            <a:solidFill>
              <a:srgbClr val="68ACE5"/>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200" b="1">
                <a:solidFill>
                  <a:srgbClr val="002D72"/>
                </a:solidFill>
                <a:latin typeface="Outfit"/>
              </a:rPr>
              <a:t>Pharmaceutical Industry</a:t>
            </a:r>
          </a:p>
          <a:p>
            <a:pPr algn="ctr"/>
            <a:r>
              <a:rPr sz="1200" b="1">
                <a:solidFill>
                  <a:srgbClr val="002D72"/>
                </a:solidFill>
                <a:latin typeface="Outfit"/>
              </a:rPr>
              <a:t>(BI, GLP-1 peers)</a:t>
            </a:r>
          </a:p>
        </p:txBody>
      </p:sp>
      <p:sp>
        <p:nvSpPr>
          <p:cNvPr id="26" name="Rounded Rectangle 18">
            <a:extLst>
              <a:ext uri="{FF2B5EF4-FFF2-40B4-BE49-F238E27FC236}">
                <a16:creationId xmlns:a16="http://schemas.microsoft.com/office/drawing/2014/main" id="{5AF34AB6-7BEE-5C52-3D13-F82A82389592}"/>
              </a:ext>
            </a:extLst>
          </p:cNvPr>
          <p:cNvSpPr/>
          <p:nvPr/>
        </p:nvSpPr>
        <p:spPr>
          <a:xfrm>
            <a:off x="3246120" y="5731108"/>
            <a:ext cx="2103120" cy="777240"/>
          </a:xfrm>
          <a:prstGeom prst="roundRect">
            <a:avLst>
              <a:gd name="adj" fmla="val 20000"/>
            </a:avLst>
          </a:prstGeom>
          <a:solidFill>
            <a:srgbClr val="B8860B"/>
          </a:solidFill>
          <a:ln w="15875">
            <a:solidFill>
              <a:srgbClr val="B8860B"/>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200" b="1" dirty="0">
                <a:solidFill>
                  <a:srgbClr val="FFFFFF"/>
                </a:solidFill>
                <a:latin typeface="Outfit"/>
              </a:rPr>
              <a:t>Tertiary Hepatologists</a:t>
            </a:r>
          </a:p>
          <a:p>
            <a:pPr algn="ctr"/>
            <a:r>
              <a:rPr sz="1200" b="1" dirty="0">
                <a:solidFill>
                  <a:srgbClr val="FFFFFF"/>
                </a:solidFill>
                <a:latin typeface="Outfit"/>
              </a:rPr>
              <a:t>(HBV/HCV legacy focus)</a:t>
            </a:r>
          </a:p>
        </p:txBody>
      </p:sp>
      <p:sp>
        <p:nvSpPr>
          <p:cNvPr id="27" name="Rounded Rectangle 19">
            <a:extLst>
              <a:ext uri="{FF2B5EF4-FFF2-40B4-BE49-F238E27FC236}">
                <a16:creationId xmlns:a16="http://schemas.microsoft.com/office/drawing/2014/main" id="{F31D7017-5914-BC68-B724-ECC3AAE1BA4C}"/>
              </a:ext>
            </a:extLst>
          </p:cNvPr>
          <p:cNvSpPr/>
          <p:nvPr/>
        </p:nvSpPr>
        <p:spPr>
          <a:xfrm>
            <a:off x="867333" y="5186528"/>
            <a:ext cx="2103120" cy="777240"/>
          </a:xfrm>
          <a:prstGeom prst="roundRect">
            <a:avLst>
              <a:gd name="adj" fmla="val 20000"/>
            </a:avLst>
          </a:prstGeom>
          <a:solidFill>
            <a:srgbClr val="C5C3EE"/>
          </a:solidFill>
          <a:ln w="15875">
            <a:solidFill>
              <a:srgbClr val="C5C3EE"/>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200" b="1">
                <a:solidFill>
                  <a:srgbClr val="002D72"/>
                </a:solidFill>
                <a:latin typeface="Outfit"/>
              </a:rPr>
              <a:t>Academic Societies</a:t>
            </a:r>
          </a:p>
          <a:p>
            <a:pPr algn="ctr"/>
            <a:r>
              <a:rPr sz="1200" b="1">
                <a:solidFill>
                  <a:srgbClr val="002D72"/>
                </a:solidFill>
                <a:latin typeface="Outfit"/>
              </a:rPr>
              <a:t>(KASL, KSoM, KDA)</a:t>
            </a:r>
          </a:p>
        </p:txBody>
      </p:sp>
      <p:sp>
        <p:nvSpPr>
          <p:cNvPr id="28" name="Rounded Rectangle 20">
            <a:extLst>
              <a:ext uri="{FF2B5EF4-FFF2-40B4-BE49-F238E27FC236}">
                <a16:creationId xmlns:a16="http://schemas.microsoft.com/office/drawing/2014/main" id="{EA819F77-5738-1EDB-B9EB-A78E133390AA}"/>
              </a:ext>
            </a:extLst>
          </p:cNvPr>
          <p:cNvSpPr/>
          <p:nvPr/>
        </p:nvSpPr>
        <p:spPr>
          <a:xfrm>
            <a:off x="277011" y="3634739"/>
            <a:ext cx="2103120" cy="777240"/>
          </a:xfrm>
          <a:prstGeom prst="roundRect">
            <a:avLst>
              <a:gd name="adj" fmla="val 20000"/>
            </a:avLst>
          </a:prstGeom>
          <a:solidFill>
            <a:srgbClr val="FFE667"/>
          </a:solidFill>
          <a:ln w="15875">
            <a:solidFill>
              <a:srgbClr val="FFE667"/>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200" b="1">
                <a:solidFill>
                  <a:srgbClr val="002D72"/>
                </a:solidFill>
                <a:latin typeface="Outfit"/>
              </a:rPr>
              <a:t>Policymakers</a:t>
            </a:r>
          </a:p>
          <a:p>
            <a:pPr algn="ctr"/>
            <a:r>
              <a:rPr sz="1200" b="1">
                <a:solidFill>
                  <a:srgbClr val="002D72"/>
                </a:solidFill>
                <a:latin typeface="Outfit"/>
              </a:rPr>
              <a:t>(MOHW, NHIS, HIRA)</a:t>
            </a:r>
          </a:p>
        </p:txBody>
      </p:sp>
      <p:sp>
        <p:nvSpPr>
          <p:cNvPr id="29" name="Rounded Rectangle 21">
            <a:extLst>
              <a:ext uri="{FF2B5EF4-FFF2-40B4-BE49-F238E27FC236}">
                <a16:creationId xmlns:a16="http://schemas.microsoft.com/office/drawing/2014/main" id="{81DFC4CE-6CB7-0C0B-7833-499737504EF9}"/>
              </a:ext>
            </a:extLst>
          </p:cNvPr>
          <p:cNvSpPr/>
          <p:nvPr/>
        </p:nvSpPr>
        <p:spPr>
          <a:xfrm>
            <a:off x="867333" y="2082951"/>
            <a:ext cx="2103120" cy="777240"/>
          </a:xfrm>
          <a:prstGeom prst="roundRect">
            <a:avLst>
              <a:gd name="adj" fmla="val 20000"/>
            </a:avLst>
          </a:prstGeom>
          <a:solidFill>
            <a:srgbClr val="6B4E9C"/>
          </a:solidFill>
          <a:ln w="15875">
            <a:solidFill>
              <a:srgbClr val="6B4E9C"/>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200" b="1">
                <a:solidFill>
                  <a:srgbClr val="FFFFFF"/>
                </a:solidFill>
                <a:latin typeface="Outfit"/>
              </a:rPr>
              <a:t>Primary / Secondary HCPs</a:t>
            </a:r>
          </a:p>
          <a:p>
            <a:pPr algn="ctr"/>
            <a:r>
              <a:rPr sz="1200" b="1">
                <a:solidFill>
                  <a:srgbClr val="FFFFFF"/>
                </a:solidFill>
                <a:latin typeface="Outfit"/>
              </a:rPr>
              <a:t>(passive)</a:t>
            </a:r>
          </a:p>
        </p:txBody>
      </p:sp>
      <p:sp>
        <p:nvSpPr>
          <p:cNvPr id="30" name="Rounded Rectangle 22">
            <a:extLst>
              <a:ext uri="{FF2B5EF4-FFF2-40B4-BE49-F238E27FC236}">
                <a16:creationId xmlns:a16="http://schemas.microsoft.com/office/drawing/2014/main" id="{7D1B6BD4-7A87-71C8-6B24-BB93F8DE8AD4}"/>
              </a:ext>
            </a:extLst>
          </p:cNvPr>
          <p:cNvSpPr/>
          <p:nvPr/>
        </p:nvSpPr>
        <p:spPr>
          <a:xfrm>
            <a:off x="3108960" y="3566160"/>
            <a:ext cx="2377440" cy="914400"/>
          </a:xfrm>
          <a:prstGeom prst="roundRect">
            <a:avLst>
              <a:gd name="adj" fmla="val 20000"/>
            </a:avLst>
          </a:prstGeom>
          <a:solidFill>
            <a:srgbClr val="002D72"/>
          </a:solidFill>
          <a:ln w="31750">
            <a:solidFill>
              <a:srgbClr val="68ACE5"/>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600" b="1" dirty="0">
                <a:solidFill>
                  <a:srgbClr val="FFFFFF"/>
                </a:solidFill>
                <a:latin typeface="Outfit"/>
              </a:rPr>
              <a:t>Patients with Obesity</a:t>
            </a:r>
          </a:p>
          <a:p>
            <a:pPr algn="ctr"/>
            <a:r>
              <a:rPr sz="1600" b="1" dirty="0">
                <a:solidFill>
                  <a:srgbClr val="FFFFFF"/>
                </a:solidFill>
                <a:latin typeface="Outfit"/>
              </a:rPr>
              <a:t>~13 M Koreans with MASLD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002D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9144000" cy="320040"/>
          </a:xfrm>
          <a:prstGeom prst="rect">
            <a:avLst/>
          </a:prstGeom>
          <a:noFill/>
        </p:spPr>
        <p:txBody>
          <a:bodyPr wrap="square" lIns="45720" tIns="27432" rIns="45720" bIns="27432" anchor="t">
            <a:spAutoFit/>
          </a:bodyPr>
          <a:lstStyle/>
          <a:p>
            <a:pPr algn="l"/>
            <a:r>
              <a:rPr sz="1000" b="1" i="0">
                <a:solidFill>
                  <a:srgbClr val="68ACE5"/>
                </a:solidFill>
                <a:latin typeface="Outfit"/>
              </a:rPr>
              <a:t>SYSTEMS ANALYSIS · OVERVIEW</a:t>
            </a:r>
          </a:p>
        </p:txBody>
      </p:sp>
      <p:sp>
        <p:nvSpPr>
          <p:cNvPr id="4" name="TextBox 3"/>
          <p:cNvSpPr txBox="1"/>
          <p:nvPr/>
        </p:nvSpPr>
        <p:spPr>
          <a:xfrm>
            <a:off x="502920" y="457200"/>
            <a:ext cx="10515600" cy="548640"/>
          </a:xfrm>
          <a:prstGeom prst="rect">
            <a:avLst/>
          </a:prstGeom>
          <a:noFill/>
        </p:spPr>
        <p:txBody>
          <a:bodyPr wrap="square" lIns="45720" tIns="27432" rIns="45720" bIns="27432" anchor="t">
            <a:spAutoFit/>
          </a:bodyPr>
          <a:lstStyle/>
          <a:p>
            <a:pPr algn="l"/>
            <a:r>
              <a:rPr sz="2400" b="1" i="0">
                <a:solidFill>
                  <a:srgbClr val="FFFFFF"/>
                </a:solidFill>
                <a:latin typeface="Outfit"/>
              </a:rPr>
              <a:t>Four reinforcing failure loops</a:t>
            </a:r>
          </a:p>
        </p:txBody>
      </p:sp>
      <p:sp>
        <p:nvSpPr>
          <p:cNvPr id="5" name="TextBox 4"/>
          <p:cNvSpPr txBox="1"/>
          <p:nvPr/>
        </p:nvSpPr>
        <p:spPr>
          <a:xfrm>
            <a:off x="11338560" y="256032"/>
            <a:ext cx="640080" cy="365760"/>
          </a:xfrm>
          <a:prstGeom prst="rect">
            <a:avLst/>
          </a:prstGeom>
          <a:noFill/>
        </p:spPr>
        <p:txBody>
          <a:bodyPr wrap="square" lIns="45720" tIns="27432" rIns="45720" bIns="27432" anchor="t">
            <a:spAutoFit/>
          </a:bodyPr>
          <a:lstStyle/>
          <a:p>
            <a:pPr algn="r"/>
            <a:r>
              <a:rPr sz="1100" b="1" i="0">
                <a:solidFill>
                  <a:srgbClr val="68ACE5"/>
                </a:solidFill>
                <a:latin typeface="Outfit"/>
              </a:rPr>
              <a:t>6</a:t>
            </a:r>
          </a:p>
        </p:txBody>
      </p:sp>
      <p:sp>
        <p:nvSpPr>
          <p:cNvPr id="6" name="TextBox 5"/>
          <p:cNvSpPr txBox="1"/>
          <p:nvPr/>
        </p:nvSpPr>
        <p:spPr>
          <a:xfrm>
            <a:off x="502920" y="1143000"/>
            <a:ext cx="10972800" cy="365760"/>
          </a:xfrm>
          <a:prstGeom prst="rect">
            <a:avLst/>
          </a:prstGeom>
          <a:noFill/>
        </p:spPr>
        <p:txBody>
          <a:bodyPr wrap="square" lIns="45720" tIns="27432" rIns="45720" bIns="27432" anchor="t">
            <a:spAutoFit/>
          </a:bodyPr>
          <a:lstStyle/>
          <a:p>
            <a:pPr algn="l"/>
            <a:r>
              <a:rPr sz="1200" b="1" i="0">
                <a:solidFill>
                  <a:srgbClr val="68ACE5"/>
                </a:solidFill>
                <a:latin typeface="Outfit"/>
              </a:rPr>
              <a:t>Systems Thinking Tool #2: Causal Loop Diagram (detail in slides 7–11)</a:t>
            </a:r>
          </a:p>
        </p:txBody>
      </p:sp>
      <p:sp>
        <p:nvSpPr>
          <p:cNvPr id="7" name="Rectangle 6"/>
          <p:cNvSpPr/>
          <p:nvPr/>
        </p:nvSpPr>
        <p:spPr>
          <a:xfrm>
            <a:off x="502920" y="1645920"/>
            <a:ext cx="5486400" cy="640080"/>
          </a:xfrm>
          <a:prstGeom prst="rect">
            <a:avLst/>
          </a:prstGeom>
          <a:solidFill>
            <a:srgbClr val="D640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737360"/>
            <a:ext cx="548640" cy="457200"/>
          </a:xfrm>
          <a:prstGeom prst="rect">
            <a:avLst/>
          </a:prstGeom>
          <a:noFill/>
        </p:spPr>
        <p:txBody>
          <a:bodyPr wrap="square" lIns="45720" tIns="27432" rIns="45720" bIns="27432" anchor="t">
            <a:spAutoFit/>
          </a:bodyPr>
          <a:lstStyle/>
          <a:p>
            <a:pPr algn="l"/>
            <a:r>
              <a:rPr sz="1800" b="1" i="0">
                <a:solidFill>
                  <a:srgbClr val="FFFFFF"/>
                </a:solidFill>
                <a:latin typeface="Outfit"/>
              </a:rPr>
              <a:t>R1</a:t>
            </a:r>
          </a:p>
        </p:txBody>
      </p:sp>
      <p:sp>
        <p:nvSpPr>
          <p:cNvPr id="9" name="TextBox 8"/>
          <p:cNvSpPr txBox="1"/>
          <p:nvPr/>
        </p:nvSpPr>
        <p:spPr>
          <a:xfrm>
            <a:off x="1371600" y="1783080"/>
            <a:ext cx="4572000" cy="424732"/>
          </a:xfrm>
          <a:prstGeom prst="rect">
            <a:avLst/>
          </a:prstGeom>
          <a:noFill/>
        </p:spPr>
        <p:txBody>
          <a:bodyPr wrap="square" lIns="45720" tIns="27432" rIns="45720" bIns="27432" anchor="t">
            <a:spAutoFit/>
          </a:bodyPr>
          <a:lstStyle/>
          <a:p>
            <a:pPr algn="l"/>
            <a:r>
              <a:rPr sz="2400" b="1" i="0" dirty="0">
                <a:solidFill>
                  <a:srgbClr val="FFFFFF"/>
                </a:solidFill>
                <a:latin typeface="Outfit"/>
              </a:rPr>
              <a:t>Public Awareness Trap</a:t>
            </a:r>
          </a:p>
        </p:txBody>
      </p:sp>
      <p:sp>
        <p:nvSpPr>
          <p:cNvPr id="10" name="Rectangle 9"/>
          <p:cNvSpPr/>
          <p:nvPr/>
        </p:nvSpPr>
        <p:spPr>
          <a:xfrm>
            <a:off x="502920" y="2286000"/>
            <a:ext cx="5486400" cy="18288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377440"/>
            <a:ext cx="5120640" cy="1440394"/>
          </a:xfrm>
          <a:prstGeom prst="rect">
            <a:avLst/>
          </a:prstGeom>
          <a:noFill/>
        </p:spPr>
        <p:txBody>
          <a:bodyPr wrap="square" lIns="45720" tIns="27432" rIns="45720" bIns="27432" anchor="t">
            <a:spAutoFit/>
          </a:bodyPr>
          <a:lstStyle/>
          <a:p>
            <a:pPr algn="l"/>
            <a:r>
              <a:rPr b="0" i="0" dirty="0">
                <a:solidFill>
                  <a:srgbClr val="002D72"/>
                </a:solidFill>
                <a:latin typeface="Outfit"/>
              </a:rPr>
              <a:t>Low MASLD awareness in the general public </a:t>
            </a:r>
            <a:br>
              <a:rPr lang="en-US" b="0" i="0" dirty="0">
                <a:solidFill>
                  <a:srgbClr val="002D72"/>
                </a:solidFill>
                <a:latin typeface="Outfit"/>
              </a:rPr>
            </a:br>
            <a:r>
              <a:rPr b="0" i="0" dirty="0">
                <a:solidFill>
                  <a:srgbClr val="002D72"/>
                </a:solidFill>
                <a:latin typeface="Outfit"/>
              </a:rPr>
              <a:t>→ no patient-initiated screening </a:t>
            </a:r>
            <a:br>
              <a:rPr lang="en-US" b="0" i="0" dirty="0">
                <a:solidFill>
                  <a:srgbClr val="002D72"/>
                </a:solidFill>
                <a:latin typeface="Outfit"/>
              </a:rPr>
            </a:br>
            <a:r>
              <a:rPr b="0" i="0" dirty="0">
                <a:solidFill>
                  <a:srgbClr val="002D72"/>
                </a:solidFill>
                <a:latin typeface="Outfit"/>
              </a:rPr>
              <a:t>→ no HCP demand for education </a:t>
            </a:r>
            <a:endParaRPr lang="en-US" b="0" i="0" dirty="0">
              <a:solidFill>
                <a:srgbClr val="002D72"/>
              </a:solidFill>
              <a:latin typeface="Outfit"/>
            </a:endParaRPr>
          </a:p>
          <a:p>
            <a:pPr algn="l"/>
            <a:r>
              <a:rPr b="0" i="0" dirty="0">
                <a:solidFill>
                  <a:srgbClr val="002D72"/>
                </a:solidFill>
                <a:latin typeface="Outfit"/>
              </a:rPr>
              <a:t>→ no investment in awareness </a:t>
            </a:r>
            <a:endParaRPr lang="en-US" b="0" i="0" dirty="0">
              <a:solidFill>
                <a:srgbClr val="002D72"/>
              </a:solidFill>
              <a:latin typeface="Outfit"/>
            </a:endParaRPr>
          </a:p>
          <a:p>
            <a:pPr algn="l"/>
            <a:r>
              <a:rPr b="0" i="0" dirty="0">
                <a:solidFill>
                  <a:srgbClr val="002D72"/>
                </a:solidFill>
                <a:latin typeface="Outfit"/>
              </a:rPr>
              <a:t>→ awareness stays low.</a:t>
            </a:r>
          </a:p>
        </p:txBody>
      </p:sp>
      <p:sp>
        <p:nvSpPr>
          <p:cNvPr id="12" name="Rectangle 11"/>
          <p:cNvSpPr/>
          <p:nvPr/>
        </p:nvSpPr>
        <p:spPr>
          <a:xfrm>
            <a:off x="6309360" y="1645920"/>
            <a:ext cx="5486400" cy="640080"/>
          </a:xfrm>
          <a:prstGeom prst="rect">
            <a:avLst/>
          </a:prstGeom>
          <a:solidFill>
            <a:srgbClr val="1C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1737360"/>
            <a:ext cx="548640" cy="457200"/>
          </a:xfrm>
          <a:prstGeom prst="rect">
            <a:avLst/>
          </a:prstGeom>
          <a:noFill/>
        </p:spPr>
        <p:txBody>
          <a:bodyPr wrap="square" lIns="45720" tIns="27432" rIns="45720" bIns="27432" anchor="t">
            <a:spAutoFit/>
          </a:bodyPr>
          <a:lstStyle/>
          <a:p>
            <a:pPr algn="l"/>
            <a:r>
              <a:rPr sz="1800" b="1" i="0">
                <a:solidFill>
                  <a:srgbClr val="FFFFFF"/>
                </a:solidFill>
                <a:latin typeface="Outfit"/>
              </a:rPr>
              <a:t>R2</a:t>
            </a:r>
          </a:p>
        </p:txBody>
      </p:sp>
      <p:sp>
        <p:nvSpPr>
          <p:cNvPr id="14" name="TextBox 13"/>
          <p:cNvSpPr txBox="1"/>
          <p:nvPr/>
        </p:nvSpPr>
        <p:spPr>
          <a:xfrm>
            <a:off x="7178040" y="1783080"/>
            <a:ext cx="4572000" cy="424732"/>
          </a:xfrm>
          <a:prstGeom prst="rect">
            <a:avLst/>
          </a:prstGeom>
          <a:noFill/>
        </p:spPr>
        <p:txBody>
          <a:bodyPr wrap="square" lIns="45720" tIns="27432" rIns="45720" bIns="27432" anchor="t">
            <a:spAutoFit/>
          </a:bodyPr>
          <a:lstStyle/>
          <a:p>
            <a:pPr algn="l"/>
            <a:r>
              <a:rPr sz="2400" b="1" i="0">
                <a:solidFill>
                  <a:srgbClr val="FFFFFF"/>
                </a:solidFill>
                <a:latin typeface="Outfit"/>
              </a:rPr>
              <a:t>Screening System Loss</a:t>
            </a:r>
          </a:p>
        </p:txBody>
      </p:sp>
      <p:sp>
        <p:nvSpPr>
          <p:cNvPr id="15" name="Rectangle 14"/>
          <p:cNvSpPr/>
          <p:nvPr/>
        </p:nvSpPr>
        <p:spPr>
          <a:xfrm>
            <a:off x="6309360" y="2286000"/>
            <a:ext cx="5486400" cy="18288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92240" y="2377440"/>
            <a:ext cx="5120640" cy="1440394"/>
          </a:xfrm>
          <a:prstGeom prst="rect">
            <a:avLst/>
          </a:prstGeom>
          <a:noFill/>
        </p:spPr>
        <p:txBody>
          <a:bodyPr wrap="square" lIns="45720" tIns="27432" rIns="45720" bIns="27432" anchor="t">
            <a:spAutoFit/>
          </a:bodyPr>
          <a:lstStyle/>
          <a:p>
            <a:pPr algn="l"/>
            <a:r>
              <a:rPr b="0" i="0" dirty="0">
                <a:solidFill>
                  <a:srgbClr val="002D72"/>
                </a:solidFill>
                <a:latin typeface="Outfit"/>
              </a:rPr>
              <a:t>National &amp; private screening do not surface MASLD (platelet exclusion, HSI/FLI not computed, USG under-used) </a:t>
            </a:r>
            <a:br>
              <a:rPr lang="en-US" b="0" i="0" dirty="0">
                <a:solidFill>
                  <a:srgbClr val="002D72"/>
                </a:solidFill>
                <a:latin typeface="Outfit"/>
              </a:rPr>
            </a:br>
            <a:r>
              <a:rPr b="0" i="0" dirty="0">
                <a:solidFill>
                  <a:srgbClr val="002D72"/>
                </a:solidFill>
                <a:latin typeface="Outfit"/>
              </a:rPr>
              <a:t>→ no detection signal </a:t>
            </a:r>
            <a:br>
              <a:rPr lang="en-US" b="0" i="0" dirty="0">
                <a:solidFill>
                  <a:srgbClr val="002D72"/>
                </a:solidFill>
                <a:latin typeface="Outfit"/>
              </a:rPr>
            </a:br>
            <a:r>
              <a:rPr b="0" i="0" dirty="0">
                <a:solidFill>
                  <a:srgbClr val="002D72"/>
                </a:solidFill>
                <a:latin typeface="Outfit"/>
              </a:rPr>
              <a:t>→ no incentive to update panels.</a:t>
            </a:r>
          </a:p>
        </p:txBody>
      </p:sp>
      <p:sp>
        <p:nvSpPr>
          <p:cNvPr id="17" name="Rectangle 16"/>
          <p:cNvSpPr/>
          <p:nvPr/>
        </p:nvSpPr>
        <p:spPr>
          <a:xfrm>
            <a:off x="502920" y="4160520"/>
            <a:ext cx="5486400" cy="640080"/>
          </a:xfrm>
          <a:prstGeom prst="rect">
            <a:avLst/>
          </a:prstGeom>
          <a:solidFill>
            <a:srgbClr val="6B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85800" y="4251960"/>
            <a:ext cx="548640" cy="457200"/>
          </a:xfrm>
          <a:prstGeom prst="rect">
            <a:avLst/>
          </a:prstGeom>
          <a:noFill/>
        </p:spPr>
        <p:txBody>
          <a:bodyPr wrap="square" lIns="45720" tIns="27432" rIns="45720" bIns="27432" anchor="t">
            <a:spAutoFit/>
          </a:bodyPr>
          <a:lstStyle/>
          <a:p>
            <a:pPr algn="l"/>
            <a:r>
              <a:rPr sz="1800" b="1" i="0">
                <a:solidFill>
                  <a:srgbClr val="FFFFFF"/>
                </a:solidFill>
                <a:latin typeface="Outfit"/>
              </a:rPr>
              <a:t>R3</a:t>
            </a:r>
          </a:p>
        </p:txBody>
      </p:sp>
      <p:sp>
        <p:nvSpPr>
          <p:cNvPr id="19" name="TextBox 18"/>
          <p:cNvSpPr txBox="1"/>
          <p:nvPr/>
        </p:nvSpPr>
        <p:spPr>
          <a:xfrm>
            <a:off x="1371600" y="4297680"/>
            <a:ext cx="4572000" cy="424732"/>
          </a:xfrm>
          <a:prstGeom prst="rect">
            <a:avLst/>
          </a:prstGeom>
          <a:noFill/>
        </p:spPr>
        <p:txBody>
          <a:bodyPr wrap="square" lIns="45720" tIns="27432" rIns="45720" bIns="27432" anchor="t">
            <a:spAutoFit/>
          </a:bodyPr>
          <a:lstStyle/>
          <a:p>
            <a:pPr algn="l"/>
            <a:r>
              <a:rPr sz="2400" b="1" i="0">
                <a:solidFill>
                  <a:srgbClr val="FFFFFF"/>
                </a:solidFill>
                <a:latin typeface="Outfit"/>
              </a:rPr>
              <a:t>1° / 2° Care Inertia</a:t>
            </a:r>
          </a:p>
        </p:txBody>
      </p:sp>
      <p:sp>
        <p:nvSpPr>
          <p:cNvPr id="20" name="Rectangle 19"/>
          <p:cNvSpPr/>
          <p:nvPr/>
        </p:nvSpPr>
        <p:spPr>
          <a:xfrm>
            <a:off x="502920" y="4800600"/>
            <a:ext cx="5486400" cy="18288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5800" y="4892040"/>
            <a:ext cx="5120640" cy="1440394"/>
          </a:xfrm>
          <a:prstGeom prst="rect">
            <a:avLst/>
          </a:prstGeom>
          <a:noFill/>
        </p:spPr>
        <p:txBody>
          <a:bodyPr wrap="square" lIns="45720" tIns="27432" rIns="45720" bIns="27432" anchor="t">
            <a:spAutoFit/>
          </a:bodyPr>
          <a:lstStyle/>
          <a:p>
            <a:pPr algn="l"/>
            <a:r>
              <a:rPr b="0" i="0" dirty="0">
                <a:solidFill>
                  <a:srgbClr val="002D72"/>
                </a:solidFill>
                <a:latin typeface="Outfit"/>
              </a:rPr>
              <a:t>No intervention available at primary/secondary care </a:t>
            </a:r>
            <a:endParaRPr lang="en-US" b="0" i="0" dirty="0">
              <a:solidFill>
                <a:srgbClr val="002D72"/>
              </a:solidFill>
              <a:latin typeface="Outfit"/>
            </a:endParaRPr>
          </a:p>
          <a:p>
            <a:pPr algn="l"/>
            <a:r>
              <a:rPr b="0" i="0" dirty="0">
                <a:solidFill>
                  <a:srgbClr val="002D72"/>
                </a:solidFill>
                <a:latin typeface="Outfit"/>
              </a:rPr>
              <a:t>→ HCPs do not actively assess </a:t>
            </a:r>
            <a:endParaRPr lang="en-US" b="0" i="0" dirty="0">
              <a:solidFill>
                <a:srgbClr val="002D72"/>
              </a:solidFill>
              <a:latin typeface="Outfit"/>
            </a:endParaRPr>
          </a:p>
          <a:p>
            <a:pPr algn="l"/>
            <a:r>
              <a:rPr b="0" i="0" dirty="0">
                <a:solidFill>
                  <a:srgbClr val="002D72"/>
                </a:solidFill>
                <a:latin typeface="Outfit"/>
              </a:rPr>
              <a:t>→ no referrals </a:t>
            </a:r>
            <a:endParaRPr lang="en-US" b="0" i="0" dirty="0">
              <a:solidFill>
                <a:srgbClr val="002D72"/>
              </a:solidFill>
              <a:latin typeface="Outfit"/>
            </a:endParaRPr>
          </a:p>
          <a:p>
            <a:pPr algn="l"/>
            <a:r>
              <a:rPr b="0" i="0" dirty="0">
                <a:solidFill>
                  <a:srgbClr val="002D72"/>
                </a:solidFill>
                <a:latin typeface="Outfit"/>
              </a:rPr>
              <a:t>→ no industry investment in primary-care tools </a:t>
            </a:r>
            <a:endParaRPr lang="en-US" b="0" i="0" dirty="0">
              <a:solidFill>
                <a:srgbClr val="002D72"/>
              </a:solidFill>
              <a:latin typeface="Outfit"/>
            </a:endParaRPr>
          </a:p>
          <a:p>
            <a:pPr algn="l"/>
            <a:r>
              <a:rPr b="0" i="0" dirty="0">
                <a:solidFill>
                  <a:srgbClr val="002D72"/>
                </a:solidFill>
                <a:latin typeface="Outfit"/>
              </a:rPr>
              <a:t>→ intervention absent.</a:t>
            </a:r>
          </a:p>
        </p:txBody>
      </p:sp>
      <p:sp>
        <p:nvSpPr>
          <p:cNvPr id="22" name="Rectangle 21"/>
          <p:cNvSpPr/>
          <p:nvPr/>
        </p:nvSpPr>
        <p:spPr>
          <a:xfrm>
            <a:off x="6309360" y="4160520"/>
            <a:ext cx="5486400" cy="64008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92240" y="4251960"/>
            <a:ext cx="548640" cy="457200"/>
          </a:xfrm>
          <a:prstGeom prst="rect">
            <a:avLst/>
          </a:prstGeom>
          <a:noFill/>
        </p:spPr>
        <p:txBody>
          <a:bodyPr wrap="square" lIns="45720" tIns="27432" rIns="45720" bIns="27432" anchor="t">
            <a:spAutoFit/>
          </a:bodyPr>
          <a:lstStyle/>
          <a:p>
            <a:pPr algn="l"/>
            <a:r>
              <a:rPr sz="1800" b="1" i="0">
                <a:solidFill>
                  <a:srgbClr val="FFFFFF"/>
                </a:solidFill>
                <a:latin typeface="Outfit"/>
              </a:rPr>
              <a:t>R4</a:t>
            </a:r>
          </a:p>
        </p:txBody>
      </p:sp>
      <p:sp>
        <p:nvSpPr>
          <p:cNvPr id="24" name="TextBox 23"/>
          <p:cNvSpPr txBox="1"/>
          <p:nvPr/>
        </p:nvSpPr>
        <p:spPr>
          <a:xfrm>
            <a:off x="7178040" y="4297680"/>
            <a:ext cx="4572000" cy="424732"/>
          </a:xfrm>
          <a:prstGeom prst="rect">
            <a:avLst/>
          </a:prstGeom>
          <a:noFill/>
        </p:spPr>
        <p:txBody>
          <a:bodyPr wrap="square" lIns="45720" tIns="27432" rIns="45720" bIns="27432" anchor="t">
            <a:spAutoFit/>
          </a:bodyPr>
          <a:lstStyle/>
          <a:p>
            <a:pPr algn="l"/>
            <a:r>
              <a:rPr sz="2400" b="1" i="0">
                <a:solidFill>
                  <a:srgbClr val="FFFFFF"/>
                </a:solidFill>
                <a:latin typeface="Outfit"/>
              </a:rPr>
              <a:t>Tertiary Hepatology Bias</a:t>
            </a:r>
          </a:p>
        </p:txBody>
      </p:sp>
      <p:sp>
        <p:nvSpPr>
          <p:cNvPr id="25" name="Rectangle 24"/>
          <p:cNvSpPr/>
          <p:nvPr/>
        </p:nvSpPr>
        <p:spPr>
          <a:xfrm>
            <a:off x="6309360" y="4800600"/>
            <a:ext cx="5486400" cy="18288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92240" y="4892040"/>
            <a:ext cx="5120640" cy="1440394"/>
          </a:xfrm>
          <a:prstGeom prst="rect">
            <a:avLst/>
          </a:prstGeom>
          <a:noFill/>
        </p:spPr>
        <p:txBody>
          <a:bodyPr wrap="square" lIns="45720" tIns="27432" rIns="45720" bIns="27432" anchor="t">
            <a:spAutoFit/>
          </a:bodyPr>
          <a:lstStyle/>
          <a:p>
            <a:pPr algn="l"/>
            <a:r>
              <a:rPr b="0" i="0" dirty="0">
                <a:solidFill>
                  <a:srgbClr val="002D72"/>
                </a:solidFill>
                <a:latin typeface="Outfit"/>
              </a:rPr>
              <a:t>Hepatology </a:t>
            </a:r>
            <a:r>
              <a:rPr b="0" i="0" dirty="0" err="1">
                <a:solidFill>
                  <a:srgbClr val="002D72"/>
                </a:solidFill>
                <a:latin typeface="Outfit"/>
              </a:rPr>
              <a:t>organised</a:t>
            </a:r>
            <a:r>
              <a:rPr b="0" i="0" dirty="0">
                <a:solidFill>
                  <a:srgbClr val="002D72"/>
                </a:solidFill>
                <a:latin typeface="Outfit"/>
              </a:rPr>
              <a:t> around HBV/HCV legacy </a:t>
            </a:r>
            <a:endParaRPr lang="en-US" b="0" i="0" dirty="0">
              <a:solidFill>
                <a:srgbClr val="002D72"/>
              </a:solidFill>
              <a:latin typeface="Outfit"/>
            </a:endParaRPr>
          </a:p>
          <a:p>
            <a:pPr algn="l"/>
            <a:r>
              <a:rPr b="0" i="0" dirty="0">
                <a:solidFill>
                  <a:srgbClr val="002D72"/>
                </a:solidFill>
                <a:latin typeface="Outfit"/>
              </a:rPr>
              <a:t>→ low therapeutic engagement with MASLD </a:t>
            </a:r>
            <a:endParaRPr lang="en-US" b="0" i="0" dirty="0">
              <a:solidFill>
                <a:srgbClr val="002D72"/>
              </a:solidFill>
              <a:latin typeface="Outfit"/>
            </a:endParaRPr>
          </a:p>
          <a:p>
            <a:pPr algn="l"/>
            <a:r>
              <a:rPr b="0" i="0" dirty="0">
                <a:solidFill>
                  <a:srgbClr val="002D72"/>
                </a:solidFill>
                <a:latin typeface="Outfit"/>
              </a:rPr>
              <a:t>→ passive referral handling </a:t>
            </a:r>
            <a:endParaRPr lang="en-US" b="0" i="0" dirty="0">
              <a:solidFill>
                <a:srgbClr val="002D72"/>
              </a:solidFill>
              <a:latin typeface="Outfit"/>
            </a:endParaRPr>
          </a:p>
          <a:p>
            <a:pPr algn="l"/>
            <a:r>
              <a:rPr b="0" i="0" dirty="0">
                <a:solidFill>
                  <a:srgbClr val="002D72"/>
                </a:solidFill>
                <a:latin typeface="Outfit"/>
              </a:rPr>
              <a:t>→ 1°/2° see no value in referring </a:t>
            </a:r>
            <a:endParaRPr lang="en-US" b="0" i="0" dirty="0">
              <a:solidFill>
                <a:srgbClr val="002D72"/>
              </a:solidFill>
              <a:latin typeface="Outfit"/>
            </a:endParaRPr>
          </a:p>
          <a:p>
            <a:pPr algn="l"/>
            <a:r>
              <a:rPr b="0" i="0" dirty="0">
                <a:solidFill>
                  <a:srgbClr val="002D72"/>
                </a:solidFill>
                <a:latin typeface="Outfit"/>
              </a:rPr>
              <a:t>→ HBV/HCV focus persists. </a:t>
            </a:r>
          </a:p>
        </p:txBody>
      </p:sp>
      <p:sp>
        <p:nvSpPr>
          <p:cNvPr id="27" name="Rectangle 26"/>
          <p:cNvSpPr/>
          <p:nvPr/>
        </p:nvSpPr>
        <p:spPr>
          <a:xfrm>
            <a:off x="502920" y="6537960"/>
            <a:ext cx="11155680" cy="76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02920" y="6601968"/>
            <a:ext cx="7315200" cy="228600"/>
          </a:xfrm>
          <a:prstGeom prst="rect">
            <a:avLst/>
          </a:prstGeom>
          <a:noFill/>
        </p:spPr>
        <p:txBody>
          <a:bodyPr wrap="square" lIns="45720" tIns="27432" rIns="45720" bIns="27432" anchor="t">
            <a:spAutoFit/>
          </a:bodyPr>
          <a:lstStyle/>
          <a:p>
            <a:pPr algn="l"/>
            <a:r>
              <a:rPr sz="800" b="0" i="0">
                <a:solidFill>
                  <a:srgbClr val="898885"/>
                </a:solidFill>
                <a:latin typeface="Outfit"/>
              </a:rPr>
              <a:t>Korea MASLD/MASH Ecosystem Blueprint  |  Johns Hopkins Bloomberg SPH  ·  MPH Practicum</a:t>
            </a:r>
          </a:p>
        </p:txBody>
      </p:sp>
      <p:sp>
        <p:nvSpPr>
          <p:cNvPr id="29" name="TextBox 28"/>
          <p:cNvSpPr txBox="1"/>
          <p:nvPr/>
        </p:nvSpPr>
        <p:spPr>
          <a:xfrm>
            <a:off x="7315200" y="6601968"/>
            <a:ext cx="4572000" cy="178510"/>
          </a:xfrm>
          <a:prstGeom prst="rect">
            <a:avLst/>
          </a:prstGeom>
          <a:noFill/>
        </p:spPr>
        <p:txBody>
          <a:bodyPr wrap="square" lIns="45720" tIns="27432" rIns="45720" bIns="27432" anchor="t">
            <a:spAutoFit/>
          </a:bodyPr>
          <a:lstStyle/>
          <a:p>
            <a:pPr algn="r"/>
            <a:r>
              <a:rPr sz="800" b="0" i="0" dirty="0">
                <a:solidFill>
                  <a:srgbClr val="898885"/>
                </a:solidFill>
                <a:latin typeface="Outfit"/>
              </a:rPr>
              <a:t>Medical Affairs, Boehringer Ingelheim Korea  |  </a:t>
            </a:r>
            <a:r>
              <a:rPr lang="en-US" sz="800" b="0" i="0" dirty="0">
                <a:solidFill>
                  <a:srgbClr val="898885"/>
                </a:solidFill>
                <a:latin typeface="Outfit"/>
              </a:rPr>
              <a:t>Apr 2026</a:t>
            </a:r>
            <a:endParaRPr sz="800" b="0" i="0" dirty="0">
              <a:solidFill>
                <a:srgbClr val="898885"/>
              </a:solidFill>
              <a:latin typeface="Outfi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002D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9144000" cy="320040"/>
          </a:xfrm>
          <a:prstGeom prst="rect">
            <a:avLst/>
          </a:prstGeom>
          <a:noFill/>
        </p:spPr>
        <p:txBody>
          <a:bodyPr wrap="square" lIns="45720" tIns="27432" rIns="45720" bIns="27432" anchor="t">
            <a:spAutoFit/>
          </a:bodyPr>
          <a:lstStyle/>
          <a:p>
            <a:pPr algn="l"/>
            <a:r>
              <a:rPr sz="1000" b="1" i="0">
                <a:solidFill>
                  <a:srgbClr val="68ACE5"/>
                </a:solidFill>
                <a:latin typeface="Outfit"/>
              </a:rPr>
              <a:t>SYSTEMS ANALYSIS · R1</a:t>
            </a:r>
          </a:p>
        </p:txBody>
      </p:sp>
      <p:sp>
        <p:nvSpPr>
          <p:cNvPr id="4" name="TextBox 3"/>
          <p:cNvSpPr txBox="1"/>
          <p:nvPr/>
        </p:nvSpPr>
        <p:spPr>
          <a:xfrm>
            <a:off x="502920" y="457200"/>
            <a:ext cx="10515600" cy="548640"/>
          </a:xfrm>
          <a:prstGeom prst="rect">
            <a:avLst/>
          </a:prstGeom>
          <a:noFill/>
        </p:spPr>
        <p:txBody>
          <a:bodyPr wrap="square" lIns="45720" tIns="27432" rIns="45720" bIns="27432" anchor="t">
            <a:spAutoFit/>
          </a:bodyPr>
          <a:lstStyle/>
          <a:p>
            <a:pPr algn="l"/>
            <a:r>
              <a:rPr sz="2400" b="1" i="0">
                <a:solidFill>
                  <a:srgbClr val="FFFFFF"/>
                </a:solidFill>
                <a:latin typeface="Outfit"/>
              </a:rPr>
              <a:t>Loop R1 — Public Awareness Trap</a:t>
            </a:r>
          </a:p>
        </p:txBody>
      </p:sp>
      <p:sp>
        <p:nvSpPr>
          <p:cNvPr id="5" name="TextBox 4"/>
          <p:cNvSpPr txBox="1"/>
          <p:nvPr/>
        </p:nvSpPr>
        <p:spPr>
          <a:xfrm>
            <a:off x="11338560" y="256032"/>
            <a:ext cx="640080" cy="365760"/>
          </a:xfrm>
          <a:prstGeom prst="rect">
            <a:avLst/>
          </a:prstGeom>
          <a:noFill/>
        </p:spPr>
        <p:txBody>
          <a:bodyPr wrap="square" lIns="45720" tIns="27432" rIns="45720" bIns="27432" anchor="t">
            <a:spAutoFit/>
          </a:bodyPr>
          <a:lstStyle/>
          <a:p>
            <a:pPr algn="r"/>
            <a:r>
              <a:rPr sz="1100" b="1" i="0">
                <a:solidFill>
                  <a:srgbClr val="68ACE5"/>
                </a:solidFill>
                <a:latin typeface="Outfit"/>
              </a:rPr>
              <a:t>7</a:t>
            </a:r>
          </a:p>
        </p:txBody>
      </p:sp>
      <p:pic>
        <p:nvPicPr>
          <p:cNvPr id="6" name="Picture 5" descr="loop_r1.png"/>
          <p:cNvPicPr>
            <a:picLocks noChangeAspect="1"/>
          </p:cNvPicPr>
          <p:nvPr/>
        </p:nvPicPr>
        <p:blipFill>
          <a:blip r:embed="rId2"/>
          <a:srcRect t="10598"/>
          <a:stretch>
            <a:fillRect/>
          </a:stretch>
        </p:blipFill>
        <p:spPr>
          <a:xfrm>
            <a:off x="502920" y="1744980"/>
            <a:ext cx="7772400" cy="4692261"/>
          </a:xfrm>
          <a:prstGeom prst="rect">
            <a:avLst/>
          </a:prstGeom>
        </p:spPr>
      </p:pic>
      <p:sp>
        <p:nvSpPr>
          <p:cNvPr id="7" name="Rectangle 6"/>
          <p:cNvSpPr/>
          <p:nvPr/>
        </p:nvSpPr>
        <p:spPr>
          <a:xfrm>
            <a:off x="8503920" y="1188720"/>
            <a:ext cx="3291840" cy="5212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503920" y="1188720"/>
            <a:ext cx="3291840" cy="457200"/>
          </a:xfrm>
          <a:prstGeom prst="rect">
            <a:avLst/>
          </a:prstGeom>
          <a:solidFill>
            <a:srgbClr val="D640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95360" y="1234440"/>
            <a:ext cx="3108960" cy="424732"/>
          </a:xfrm>
          <a:prstGeom prst="rect">
            <a:avLst/>
          </a:prstGeom>
          <a:noFill/>
        </p:spPr>
        <p:txBody>
          <a:bodyPr wrap="square" lIns="45720" tIns="27432" rIns="45720" bIns="27432" anchor="t">
            <a:spAutoFit/>
          </a:bodyPr>
          <a:lstStyle/>
          <a:p>
            <a:pPr algn="l"/>
            <a:r>
              <a:rPr sz="2400" b="1" i="0">
                <a:solidFill>
                  <a:srgbClr val="FFFFFF"/>
                </a:solidFill>
                <a:latin typeface="Outfit"/>
              </a:rPr>
              <a:t>Reinforcing Loop R1</a:t>
            </a:r>
          </a:p>
        </p:txBody>
      </p:sp>
      <p:sp>
        <p:nvSpPr>
          <p:cNvPr id="10" name="TextBox 9"/>
          <p:cNvSpPr txBox="1"/>
          <p:nvPr/>
        </p:nvSpPr>
        <p:spPr>
          <a:xfrm>
            <a:off x="8641080" y="1737360"/>
            <a:ext cx="3108960" cy="363176"/>
          </a:xfrm>
          <a:prstGeom prst="rect">
            <a:avLst/>
          </a:prstGeom>
          <a:noFill/>
        </p:spPr>
        <p:txBody>
          <a:bodyPr wrap="square" lIns="45720" tIns="27432" rIns="45720" bIns="27432" anchor="t">
            <a:spAutoFit/>
          </a:bodyPr>
          <a:lstStyle/>
          <a:p>
            <a:pPr algn="l"/>
            <a:r>
              <a:rPr sz="2000" b="1" i="0" dirty="0">
                <a:solidFill>
                  <a:srgbClr val="D64045"/>
                </a:solidFill>
                <a:latin typeface="Outfit"/>
              </a:rPr>
              <a:t>Narrative</a:t>
            </a:r>
          </a:p>
        </p:txBody>
      </p:sp>
      <p:sp>
        <p:nvSpPr>
          <p:cNvPr id="11" name="TextBox 10"/>
          <p:cNvSpPr txBox="1"/>
          <p:nvPr/>
        </p:nvSpPr>
        <p:spPr>
          <a:xfrm>
            <a:off x="8641080" y="2057400"/>
            <a:ext cx="3108960" cy="2425279"/>
          </a:xfrm>
          <a:prstGeom prst="rect">
            <a:avLst/>
          </a:prstGeom>
          <a:noFill/>
        </p:spPr>
        <p:txBody>
          <a:bodyPr wrap="square" lIns="45720" tIns="27432" rIns="45720" bIns="27432" anchor="t">
            <a:spAutoFit/>
          </a:bodyPr>
          <a:lstStyle/>
          <a:p>
            <a:pPr algn="l"/>
            <a:r>
              <a:rPr sz="1400" b="0" i="0" dirty="0">
                <a:solidFill>
                  <a:srgbClr val="002D72"/>
                </a:solidFill>
                <a:latin typeface="Outfit"/>
              </a:rPr>
              <a:t>Korea treats obesity primarily as a cosmetic or metabolic-risk issue. Liver health rarely enters public discourse, so patients do not request liver-focused screening. Without patient demand, primary-care HCPs see no need for MASLD training, and professional societies &amp; industry see no audience to educate. The loop </a:t>
            </a:r>
            <a:r>
              <a:rPr sz="1400" b="0" i="0" dirty="0" err="1">
                <a:solidFill>
                  <a:srgbClr val="002D72"/>
                </a:solidFill>
                <a:latin typeface="Outfit"/>
              </a:rPr>
              <a:t>stabilises</a:t>
            </a:r>
            <a:r>
              <a:rPr sz="1400" b="0" i="0" dirty="0">
                <a:solidFill>
                  <a:srgbClr val="002D72"/>
                </a:solidFill>
                <a:latin typeface="Outfit"/>
              </a:rPr>
              <a:t> at low awareness.</a:t>
            </a:r>
          </a:p>
        </p:txBody>
      </p:sp>
      <p:sp>
        <p:nvSpPr>
          <p:cNvPr id="12" name="TextBox 11"/>
          <p:cNvSpPr txBox="1"/>
          <p:nvPr/>
        </p:nvSpPr>
        <p:spPr>
          <a:xfrm>
            <a:off x="8641080" y="4892040"/>
            <a:ext cx="3108960" cy="363176"/>
          </a:xfrm>
          <a:prstGeom prst="rect">
            <a:avLst/>
          </a:prstGeom>
          <a:noFill/>
        </p:spPr>
        <p:txBody>
          <a:bodyPr wrap="square" lIns="45720" tIns="27432" rIns="45720" bIns="27432" anchor="t">
            <a:spAutoFit/>
          </a:bodyPr>
          <a:lstStyle/>
          <a:p>
            <a:pPr algn="l"/>
            <a:r>
              <a:rPr sz="2000" b="1" i="0">
                <a:solidFill>
                  <a:srgbClr val="D64045"/>
                </a:solidFill>
                <a:latin typeface="Outfit"/>
              </a:rPr>
              <a:t>Leverage Point</a:t>
            </a:r>
          </a:p>
        </p:txBody>
      </p:sp>
      <p:sp>
        <p:nvSpPr>
          <p:cNvPr id="13" name="TextBox 12"/>
          <p:cNvSpPr txBox="1"/>
          <p:nvPr/>
        </p:nvSpPr>
        <p:spPr>
          <a:xfrm>
            <a:off x="8641080" y="5212080"/>
            <a:ext cx="3108960" cy="917174"/>
          </a:xfrm>
          <a:prstGeom prst="rect">
            <a:avLst/>
          </a:prstGeom>
          <a:noFill/>
        </p:spPr>
        <p:txBody>
          <a:bodyPr wrap="square" lIns="45720" tIns="27432" rIns="45720" bIns="27432" anchor="t">
            <a:spAutoFit/>
          </a:bodyPr>
          <a:lstStyle/>
          <a:p>
            <a:pPr algn="l"/>
            <a:r>
              <a:rPr sz="1400" b="0" i="1" dirty="0">
                <a:solidFill>
                  <a:srgbClr val="002D72"/>
                </a:solidFill>
                <a:latin typeface="Outfit"/>
              </a:rPr>
              <a:t>Partner with a trusted public-health brand (365MC, </a:t>
            </a:r>
            <a:r>
              <a:rPr sz="1400" b="0" i="1" dirty="0" err="1">
                <a:solidFill>
                  <a:srgbClr val="002D72"/>
                </a:solidFill>
                <a:latin typeface="Outfit"/>
              </a:rPr>
              <a:t>Jibang-i</a:t>
            </a:r>
            <a:r>
              <a:rPr sz="1400" b="0" i="1" dirty="0">
                <a:solidFill>
                  <a:srgbClr val="002D72"/>
                </a:solidFill>
                <a:latin typeface="Outfit"/>
              </a:rPr>
              <a:t>) to seed a liver-health narrative directly into the obesity conversation.</a:t>
            </a:r>
          </a:p>
        </p:txBody>
      </p:sp>
      <p:sp>
        <p:nvSpPr>
          <p:cNvPr id="14" name="Rectangle 13"/>
          <p:cNvSpPr/>
          <p:nvPr/>
        </p:nvSpPr>
        <p:spPr>
          <a:xfrm>
            <a:off x="502920" y="6537960"/>
            <a:ext cx="11155680" cy="76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6601968"/>
            <a:ext cx="7315200" cy="228600"/>
          </a:xfrm>
          <a:prstGeom prst="rect">
            <a:avLst/>
          </a:prstGeom>
          <a:noFill/>
        </p:spPr>
        <p:txBody>
          <a:bodyPr wrap="square" lIns="45720" tIns="27432" rIns="45720" bIns="27432" anchor="t">
            <a:spAutoFit/>
          </a:bodyPr>
          <a:lstStyle/>
          <a:p>
            <a:pPr algn="l"/>
            <a:r>
              <a:rPr sz="800" b="0" i="0">
                <a:solidFill>
                  <a:srgbClr val="898885"/>
                </a:solidFill>
                <a:latin typeface="Outfit"/>
              </a:rPr>
              <a:t>Korea MASLD/MASH Ecosystem Blueprint  |  Johns Hopkins Bloomberg SPH  ·  MPH Practicum</a:t>
            </a:r>
          </a:p>
        </p:txBody>
      </p:sp>
      <p:sp>
        <p:nvSpPr>
          <p:cNvPr id="16" name="TextBox 15"/>
          <p:cNvSpPr txBox="1"/>
          <p:nvPr/>
        </p:nvSpPr>
        <p:spPr>
          <a:xfrm>
            <a:off x="7315200" y="6601968"/>
            <a:ext cx="4572000" cy="178510"/>
          </a:xfrm>
          <a:prstGeom prst="rect">
            <a:avLst/>
          </a:prstGeom>
          <a:noFill/>
        </p:spPr>
        <p:txBody>
          <a:bodyPr wrap="square" lIns="45720" tIns="27432" rIns="45720" bIns="27432" anchor="t">
            <a:spAutoFit/>
          </a:bodyPr>
          <a:lstStyle/>
          <a:p>
            <a:pPr algn="r"/>
            <a:r>
              <a:rPr sz="800" b="0" i="0" dirty="0">
                <a:solidFill>
                  <a:srgbClr val="898885"/>
                </a:solidFill>
                <a:latin typeface="Outfit"/>
              </a:rPr>
              <a:t>Medical Affairs, Boehringer Ingelheim Korea  |  </a:t>
            </a:r>
            <a:r>
              <a:rPr lang="en-US" sz="800" b="0" i="0" dirty="0">
                <a:solidFill>
                  <a:srgbClr val="898885"/>
                </a:solidFill>
                <a:latin typeface="Outfit"/>
              </a:rPr>
              <a:t>Apr 2026</a:t>
            </a:r>
            <a:endParaRPr sz="800" b="0" i="0" dirty="0">
              <a:solidFill>
                <a:srgbClr val="898885"/>
              </a:solidFill>
              <a:latin typeface="Outfi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002D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9144000" cy="320040"/>
          </a:xfrm>
          <a:prstGeom prst="rect">
            <a:avLst/>
          </a:prstGeom>
          <a:noFill/>
        </p:spPr>
        <p:txBody>
          <a:bodyPr wrap="square" lIns="45720" tIns="27432" rIns="45720" bIns="27432" anchor="t">
            <a:spAutoFit/>
          </a:bodyPr>
          <a:lstStyle/>
          <a:p>
            <a:pPr algn="l"/>
            <a:r>
              <a:rPr sz="1000" b="1" i="0">
                <a:solidFill>
                  <a:srgbClr val="68ACE5"/>
                </a:solidFill>
                <a:latin typeface="Outfit"/>
              </a:rPr>
              <a:t>SYSTEMS ANALYSIS · R2</a:t>
            </a:r>
          </a:p>
        </p:txBody>
      </p:sp>
      <p:sp>
        <p:nvSpPr>
          <p:cNvPr id="4" name="TextBox 3"/>
          <p:cNvSpPr txBox="1"/>
          <p:nvPr/>
        </p:nvSpPr>
        <p:spPr>
          <a:xfrm>
            <a:off x="502920" y="457200"/>
            <a:ext cx="10515600" cy="548640"/>
          </a:xfrm>
          <a:prstGeom prst="rect">
            <a:avLst/>
          </a:prstGeom>
          <a:noFill/>
        </p:spPr>
        <p:txBody>
          <a:bodyPr wrap="square" lIns="45720" tIns="27432" rIns="45720" bIns="27432" anchor="t">
            <a:spAutoFit/>
          </a:bodyPr>
          <a:lstStyle/>
          <a:p>
            <a:pPr algn="l"/>
            <a:r>
              <a:rPr sz="2400" b="1" i="0">
                <a:solidFill>
                  <a:srgbClr val="FFFFFF"/>
                </a:solidFill>
                <a:latin typeface="Outfit"/>
              </a:rPr>
              <a:t>Loop R2 — Screening System Loss</a:t>
            </a:r>
          </a:p>
        </p:txBody>
      </p:sp>
      <p:sp>
        <p:nvSpPr>
          <p:cNvPr id="5" name="TextBox 4"/>
          <p:cNvSpPr txBox="1"/>
          <p:nvPr/>
        </p:nvSpPr>
        <p:spPr>
          <a:xfrm>
            <a:off x="11338560" y="256032"/>
            <a:ext cx="640080" cy="365760"/>
          </a:xfrm>
          <a:prstGeom prst="rect">
            <a:avLst/>
          </a:prstGeom>
          <a:noFill/>
        </p:spPr>
        <p:txBody>
          <a:bodyPr wrap="square" lIns="45720" tIns="27432" rIns="45720" bIns="27432" anchor="t">
            <a:spAutoFit/>
          </a:bodyPr>
          <a:lstStyle/>
          <a:p>
            <a:pPr algn="r"/>
            <a:r>
              <a:rPr sz="1100" b="1" i="0">
                <a:solidFill>
                  <a:srgbClr val="68ACE5"/>
                </a:solidFill>
                <a:latin typeface="Outfit"/>
              </a:rPr>
              <a:t>8</a:t>
            </a:r>
          </a:p>
        </p:txBody>
      </p:sp>
      <p:sp>
        <p:nvSpPr>
          <p:cNvPr id="7" name="Rectangle 6"/>
          <p:cNvSpPr/>
          <p:nvPr/>
        </p:nvSpPr>
        <p:spPr>
          <a:xfrm>
            <a:off x="8503920" y="1188720"/>
            <a:ext cx="3291840" cy="5212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8" name="Rectangle 7"/>
          <p:cNvSpPr/>
          <p:nvPr/>
        </p:nvSpPr>
        <p:spPr>
          <a:xfrm>
            <a:off x="8503920" y="1188720"/>
            <a:ext cx="3291840" cy="457200"/>
          </a:xfrm>
          <a:prstGeom prst="rect">
            <a:avLst/>
          </a:prstGeom>
          <a:solidFill>
            <a:srgbClr val="1C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9" name="TextBox 8"/>
          <p:cNvSpPr txBox="1"/>
          <p:nvPr/>
        </p:nvSpPr>
        <p:spPr>
          <a:xfrm>
            <a:off x="8595360" y="1234440"/>
            <a:ext cx="3108960" cy="424732"/>
          </a:xfrm>
          <a:prstGeom prst="rect">
            <a:avLst/>
          </a:prstGeom>
          <a:noFill/>
        </p:spPr>
        <p:txBody>
          <a:bodyPr wrap="square" lIns="45720" tIns="27432" rIns="45720" bIns="27432" anchor="t">
            <a:spAutoFit/>
          </a:bodyPr>
          <a:lstStyle/>
          <a:p>
            <a:pPr algn="l"/>
            <a:r>
              <a:rPr sz="2400" b="1" i="0" dirty="0">
                <a:solidFill>
                  <a:srgbClr val="FFFFFF"/>
                </a:solidFill>
                <a:latin typeface="Outfit"/>
              </a:rPr>
              <a:t>Reinforcing Loop R2</a:t>
            </a:r>
          </a:p>
        </p:txBody>
      </p:sp>
      <p:sp>
        <p:nvSpPr>
          <p:cNvPr id="10" name="TextBox 9"/>
          <p:cNvSpPr txBox="1"/>
          <p:nvPr/>
        </p:nvSpPr>
        <p:spPr>
          <a:xfrm>
            <a:off x="8641080" y="1737360"/>
            <a:ext cx="3108960" cy="332399"/>
          </a:xfrm>
          <a:prstGeom prst="rect">
            <a:avLst/>
          </a:prstGeom>
          <a:noFill/>
        </p:spPr>
        <p:txBody>
          <a:bodyPr wrap="square" lIns="45720" tIns="27432" rIns="45720" bIns="27432" anchor="t">
            <a:spAutoFit/>
          </a:bodyPr>
          <a:lstStyle/>
          <a:p>
            <a:pPr algn="l"/>
            <a:r>
              <a:rPr b="1" i="0">
                <a:solidFill>
                  <a:srgbClr val="1C6E8C"/>
                </a:solidFill>
                <a:latin typeface="Outfit"/>
              </a:rPr>
              <a:t>Narrative</a:t>
            </a:r>
          </a:p>
        </p:txBody>
      </p:sp>
      <p:sp>
        <p:nvSpPr>
          <p:cNvPr id="11" name="TextBox 10"/>
          <p:cNvSpPr txBox="1"/>
          <p:nvPr/>
        </p:nvSpPr>
        <p:spPr>
          <a:xfrm>
            <a:off x="8641080" y="2057400"/>
            <a:ext cx="3108960" cy="2086725"/>
          </a:xfrm>
          <a:prstGeom prst="rect">
            <a:avLst/>
          </a:prstGeom>
          <a:noFill/>
        </p:spPr>
        <p:txBody>
          <a:bodyPr wrap="square" lIns="45720" tIns="27432" rIns="45720" bIns="27432" anchor="t">
            <a:spAutoFit/>
          </a:bodyPr>
          <a:lstStyle/>
          <a:p>
            <a:pPr algn="l"/>
            <a:r>
              <a:rPr sz="1200" b="0" i="0" dirty="0">
                <a:solidFill>
                  <a:srgbClr val="002D72"/>
                </a:solidFill>
                <a:latin typeface="Outfit"/>
              </a:rPr>
              <a:t>Korea's screening infrastructure is world-leading in coverage (NHIS 2024: 70%+ adult participation) but structurally blind to MASLD. Platelet counts are excluded from the national panel, blocking FIB-4 calculation. HSI and FLI scoring inputs are recorded but not computed or surfaced. Liver USG is available yet not deployed for systematic MASLD screening. No detection = no demand signal = no panel update.</a:t>
            </a:r>
          </a:p>
        </p:txBody>
      </p:sp>
      <p:sp>
        <p:nvSpPr>
          <p:cNvPr id="12" name="TextBox 11"/>
          <p:cNvSpPr txBox="1"/>
          <p:nvPr/>
        </p:nvSpPr>
        <p:spPr>
          <a:xfrm>
            <a:off x="8641080" y="4892040"/>
            <a:ext cx="3108960" cy="332399"/>
          </a:xfrm>
          <a:prstGeom prst="rect">
            <a:avLst/>
          </a:prstGeom>
          <a:noFill/>
        </p:spPr>
        <p:txBody>
          <a:bodyPr wrap="square" lIns="45720" tIns="27432" rIns="45720" bIns="27432" anchor="t">
            <a:spAutoFit/>
          </a:bodyPr>
          <a:lstStyle/>
          <a:p>
            <a:pPr algn="l"/>
            <a:r>
              <a:rPr b="1" i="0">
                <a:solidFill>
                  <a:srgbClr val="1C6E8C"/>
                </a:solidFill>
                <a:latin typeface="Outfit"/>
              </a:rPr>
              <a:t>Leverage Point</a:t>
            </a:r>
          </a:p>
        </p:txBody>
      </p:sp>
      <p:sp>
        <p:nvSpPr>
          <p:cNvPr id="13" name="TextBox 12"/>
          <p:cNvSpPr txBox="1"/>
          <p:nvPr/>
        </p:nvSpPr>
        <p:spPr>
          <a:xfrm>
            <a:off x="8641080" y="5212080"/>
            <a:ext cx="3108960" cy="978729"/>
          </a:xfrm>
          <a:prstGeom prst="rect">
            <a:avLst/>
          </a:prstGeom>
          <a:noFill/>
        </p:spPr>
        <p:txBody>
          <a:bodyPr wrap="square" lIns="45720" tIns="27432" rIns="45720" bIns="27432" anchor="t">
            <a:spAutoFit/>
          </a:bodyPr>
          <a:lstStyle/>
          <a:p>
            <a:pPr algn="l"/>
            <a:r>
              <a:rPr sz="1200" b="0" i="1">
                <a:solidFill>
                  <a:srgbClr val="002D72"/>
                </a:solidFill>
                <a:latin typeface="Outfit"/>
              </a:rPr>
              <a:t>Activate KMI as the first large-scale health-screening network to compute FIB-4, HSI, and FLI from existing screening data, and add targeted liver USG at high-risk patients.</a:t>
            </a:r>
          </a:p>
        </p:txBody>
      </p:sp>
      <p:sp>
        <p:nvSpPr>
          <p:cNvPr id="14" name="Rectangle 13"/>
          <p:cNvSpPr/>
          <p:nvPr/>
        </p:nvSpPr>
        <p:spPr>
          <a:xfrm>
            <a:off x="502920" y="6537960"/>
            <a:ext cx="11155680" cy="76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6601968"/>
            <a:ext cx="7315200" cy="228600"/>
          </a:xfrm>
          <a:prstGeom prst="rect">
            <a:avLst/>
          </a:prstGeom>
          <a:noFill/>
        </p:spPr>
        <p:txBody>
          <a:bodyPr wrap="square" lIns="45720" tIns="27432" rIns="45720" bIns="27432" anchor="t">
            <a:spAutoFit/>
          </a:bodyPr>
          <a:lstStyle/>
          <a:p>
            <a:pPr algn="l"/>
            <a:r>
              <a:rPr sz="800" b="0" i="0">
                <a:solidFill>
                  <a:srgbClr val="898885"/>
                </a:solidFill>
                <a:latin typeface="Outfit"/>
              </a:rPr>
              <a:t>Korea MASLD/MASH Ecosystem Blueprint  |  Johns Hopkins Bloomberg SPH  ·  MPH Practicum</a:t>
            </a:r>
          </a:p>
        </p:txBody>
      </p:sp>
      <p:sp>
        <p:nvSpPr>
          <p:cNvPr id="16" name="TextBox 15"/>
          <p:cNvSpPr txBox="1"/>
          <p:nvPr/>
        </p:nvSpPr>
        <p:spPr>
          <a:xfrm>
            <a:off x="7315200" y="6601968"/>
            <a:ext cx="4572000" cy="178510"/>
          </a:xfrm>
          <a:prstGeom prst="rect">
            <a:avLst/>
          </a:prstGeom>
          <a:noFill/>
        </p:spPr>
        <p:txBody>
          <a:bodyPr wrap="square" lIns="45720" tIns="27432" rIns="45720" bIns="27432" anchor="t">
            <a:spAutoFit/>
          </a:bodyPr>
          <a:lstStyle/>
          <a:p>
            <a:pPr algn="r"/>
            <a:r>
              <a:rPr sz="800" b="0" i="0" dirty="0">
                <a:solidFill>
                  <a:srgbClr val="898885"/>
                </a:solidFill>
                <a:latin typeface="Outfit"/>
              </a:rPr>
              <a:t>Medical Affairs, Boehringer Ingelheim Korea  |  </a:t>
            </a:r>
            <a:r>
              <a:rPr lang="en-US" sz="800" b="0" i="0" dirty="0">
                <a:solidFill>
                  <a:srgbClr val="898885"/>
                </a:solidFill>
                <a:latin typeface="Outfit"/>
              </a:rPr>
              <a:t>Apr 2026</a:t>
            </a:r>
            <a:endParaRPr sz="800" b="0" i="0" dirty="0">
              <a:solidFill>
                <a:srgbClr val="898885"/>
              </a:solidFill>
              <a:latin typeface="Outfit"/>
            </a:endParaRPr>
          </a:p>
        </p:txBody>
      </p:sp>
      <p:pic>
        <p:nvPicPr>
          <p:cNvPr id="18" name="그림 17">
            <a:extLst>
              <a:ext uri="{FF2B5EF4-FFF2-40B4-BE49-F238E27FC236}">
                <a16:creationId xmlns:a16="http://schemas.microsoft.com/office/drawing/2014/main" id="{6EB9A2E3-8BE4-DF7D-8F33-7C83FFCC5DC8}"/>
              </a:ext>
            </a:extLst>
          </p:cNvPr>
          <p:cNvPicPr>
            <a:picLocks noChangeAspect="1"/>
          </p:cNvPicPr>
          <p:nvPr/>
        </p:nvPicPr>
        <p:blipFill>
          <a:blip r:embed="rId2"/>
          <a:stretch>
            <a:fillRect/>
          </a:stretch>
        </p:blipFill>
        <p:spPr>
          <a:xfrm>
            <a:off x="44352" y="1487025"/>
            <a:ext cx="8413848" cy="495035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002D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9144000" cy="320040"/>
          </a:xfrm>
          <a:prstGeom prst="rect">
            <a:avLst/>
          </a:prstGeom>
          <a:noFill/>
        </p:spPr>
        <p:txBody>
          <a:bodyPr wrap="square" lIns="45720" tIns="27432" rIns="45720" bIns="27432" anchor="t">
            <a:spAutoFit/>
          </a:bodyPr>
          <a:lstStyle/>
          <a:p>
            <a:pPr algn="l"/>
            <a:r>
              <a:rPr sz="1000" b="1" i="0">
                <a:solidFill>
                  <a:srgbClr val="68ACE5"/>
                </a:solidFill>
                <a:latin typeface="Outfit"/>
              </a:rPr>
              <a:t>SYSTEMS ANALYSIS · R3</a:t>
            </a:r>
          </a:p>
        </p:txBody>
      </p:sp>
      <p:sp>
        <p:nvSpPr>
          <p:cNvPr id="4" name="TextBox 3"/>
          <p:cNvSpPr txBox="1"/>
          <p:nvPr/>
        </p:nvSpPr>
        <p:spPr>
          <a:xfrm>
            <a:off x="502920" y="457200"/>
            <a:ext cx="10515600" cy="548640"/>
          </a:xfrm>
          <a:prstGeom prst="rect">
            <a:avLst/>
          </a:prstGeom>
          <a:noFill/>
        </p:spPr>
        <p:txBody>
          <a:bodyPr wrap="square" lIns="45720" tIns="27432" rIns="45720" bIns="27432" anchor="t">
            <a:spAutoFit/>
          </a:bodyPr>
          <a:lstStyle/>
          <a:p>
            <a:pPr algn="l"/>
            <a:r>
              <a:rPr sz="2400" b="1" i="0">
                <a:solidFill>
                  <a:srgbClr val="FFFFFF"/>
                </a:solidFill>
                <a:latin typeface="Outfit"/>
              </a:rPr>
              <a:t>Loop R3 — Primary and Secondary Care Inertia</a:t>
            </a:r>
          </a:p>
        </p:txBody>
      </p:sp>
      <p:sp>
        <p:nvSpPr>
          <p:cNvPr id="5" name="TextBox 4"/>
          <p:cNvSpPr txBox="1"/>
          <p:nvPr/>
        </p:nvSpPr>
        <p:spPr>
          <a:xfrm>
            <a:off x="11338560" y="256032"/>
            <a:ext cx="640080" cy="365760"/>
          </a:xfrm>
          <a:prstGeom prst="rect">
            <a:avLst/>
          </a:prstGeom>
          <a:noFill/>
        </p:spPr>
        <p:txBody>
          <a:bodyPr wrap="square" lIns="45720" tIns="27432" rIns="45720" bIns="27432" anchor="t">
            <a:spAutoFit/>
          </a:bodyPr>
          <a:lstStyle/>
          <a:p>
            <a:pPr algn="r"/>
            <a:r>
              <a:rPr sz="1100" b="1" i="0">
                <a:solidFill>
                  <a:srgbClr val="68ACE5"/>
                </a:solidFill>
                <a:latin typeface="Outfit"/>
              </a:rPr>
              <a:t>9</a:t>
            </a:r>
          </a:p>
        </p:txBody>
      </p:sp>
      <p:sp>
        <p:nvSpPr>
          <p:cNvPr id="7" name="Rectangle 6"/>
          <p:cNvSpPr/>
          <p:nvPr/>
        </p:nvSpPr>
        <p:spPr>
          <a:xfrm>
            <a:off x="8503920" y="1188720"/>
            <a:ext cx="3291840" cy="5212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503920" y="1188720"/>
            <a:ext cx="3291840" cy="457200"/>
          </a:xfrm>
          <a:prstGeom prst="rect">
            <a:avLst/>
          </a:prstGeom>
          <a:solidFill>
            <a:srgbClr val="6B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9" name="TextBox 8"/>
          <p:cNvSpPr txBox="1"/>
          <p:nvPr/>
        </p:nvSpPr>
        <p:spPr>
          <a:xfrm>
            <a:off x="8595360" y="1234440"/>
            <a:ext cx="3108960" cy="424732"/>
          </a:xfrm>
          <a:prstGeom prst="rect">
            <a:avLst/>
          </a:prstGeom>
          <a:noFill/>
        </p:spPr>
        <p:txBody>
          <a:bodyPr wrap="square" lIns="45720" tIns="27432" rIns="45720" bIns="27432" anchor="t">
            <a:spAutoFit/>
          </a:bodyPr>
          <a:lstStyle/>
          <a:p>
            <a:pPr algn="l"/>
            <a:r>
              <a:rPr sz="2400" b="1" i="0" dirty="0">
                <a:solidFill>
                  <a:srgbClr val="FFFFFF"/>
                </a:solidFill>
                <a:latin typeface="Outfit"/>
              </a:rPr>
              <a:t>Reinforcing Loop R3</a:t>
            </a:r>
          </a:p>
        </p:txBody>
      </p:sp>
      <p:sp>
        <p:nvSpPr>
          <p:cNvPr id="10" name="TextBox 9"/>
          <p:cNvSpPr txBox="1"/>
          <p:nvPr/>
        </p:nvSpPr>
        <p:spPr>
          <a:xfrm>
            <a:off x="8641080" y="1737360"/>
            <a:ext cx="3108960" cy="363176"/>
          </a:xfrm>
          <a:prstGeom prst="rect">
            <a:avLst/>
          </a:prstGeom>
          <a:noFill/>
        </p:spPr>
        <p:txBody>
          <a:bodyPr wrap="square" lIns="45720" tIns="27432" rIns="45720" bIns="27432" anchor="t">
            <a:spAutoFit/>
          </a:bodyPr>
          <a:lstStyle/>
          <a:p>
            <a:pPr algn="l"/>
            <a:r>
              <a:rPr sz="2000" b="1" i="0">
                <a:solidFill>
                  <a:srgbClr val="6B4E9C"/>
                </a:solidFill>
                <a:latin typeface="Outfit"/>
              </a:rPr>
              <a:t>Narrative</a:t>
            </a:r>
          </a:p>
        </p:txBody>
      </p:sp>
      <p:sp>
        <p:nvSpPr>
          <p:cNvPr id="11" name="TextBox 10"/>
          <p:cNvSpPr txBox="1"/>
          <p:nvPr/>
        </p:nvSpPr>
        <p:spPr>
          <a:xfrm>
            <a:off x="8641080" y="2057400"/>
            <a:ext cx="3108960" cy="2425279"/>
          </a:xfrm>
          <a:prstGeom prst="rect">
            <a:avLst/>
          </a:prstGeom>
          <a:noFill/>
        </p:spPr>
        <p:txBody>
          <a:bodyPr wrap="square" lIns="45720" tIns="27432" rIns="45720" bIns="27432" anchor="t">
            <a:spAutoFit/>
          </a:bodyPr>
          <a:lstStyle/>
          <a:p>
            <a:pPr algn="l"/>
            <a:r>
              <a:rPr sz="1400" b="0" i="0" dirty="0">
                <a:solidFill>
                  <a:srgbClr val="002D72"/>
                </a:solidFill>
                <a:latin typeface="Outfit"/>
              </a:rPr>
              <a:t>With no approved MASLD/MASH therapeutic available in Korea, 1°/2° HCPs have no operational reason to actively assess liver fibrosis. Without active assessment, referral volume to hepatology is low. Low referral volume weakens the market signal back to device makers, pharma, and professional societies. The primary-care segment stays untrained and unequipped.</a:t>
            </a:r>
          </a:p>
        </p:txBody>
      </p:sp>
      <p:sp>
        <p:nvSpPr>
          <p:cNvPr id="12" name="TextBox 11"/>
          <p:cNvSpPr txBox="1"/>
          <p:nvPr/>
        </p:nvSpPr>
        <p:spPr>
          <a:xfrm>
            <a:off x="8641080" y="4892040"/>
            <a:ext cx="3108960" cy="363176"/>
          </a:xfrm>
          <a:prstGeom prst="rect">
            <a:avLst/>
          </a:prstGeom>
          <a:noFill/>
        </p:spPr>
        <p:txBody>
          <a:bodyPr wrap="square" lIns="45720" tIns="27432" rIns="45720" bIns="27432" anchor="t">
            <a:spAutoFit/>
          </a:bodyPr>
          <a:lstStyle/>
          <a:p>
            <a:pPr algn="l"/>
            <a:r>
              <a:rPr sz="2000" b="1" i="0">
                <a:solidFill>
                  <a:srgbClr val="6B4E9C"/>
                </a:solidFill>
                <a:latin typeface="Outfit"/>
              </a:rPr>
              <a:t>Leverage Point</a:t>
            </a:r>
          </a:p>
        </p:txBody>
      </p:sp>
      <p:sp>
        <p:nvSpPr>
          <p:cNvPr id="13" name="TextBox 12"/>
          <p:cNvSpPr txBox="1"/>
          <p:nvPr/>
        </p:nvSpPr>
        <p:spPr>
          <a:xfrm>
            <a:off x="8641080" y="5212080"/>
            <a:ext cx="3108960" cy="1132618"/>
          </a:xfrm>
          <a:prstGeom prst="rect">
            <a:avLst/>
          </a:prstGeom>
          <a:noFill/>
        </p:spPr>
        <p:txBody>
          <a:bodyPr wrap="square" lIns="45720" tIns="27432" rIns="45720" bIns="27432" anchor="t">
            <a:spAutoFit/>
          </a:bodyPr>
          <a:lstStyle/>
          <a:p>
            <a:pPr algn="l"/>
            <a:r>
              <a:rPr sz="1400" b="0" i="1">
                <a:solidFill>
                  <a:srgbClr val="002D72"/>
                </a:solidFill>
                <a:latin typeface="Outfit"/>
              </a:rPr>
              <a:t>Deploy Philips 2D-SWE (Auto ElastQ) + HCP Masterclass to create a bedside, single-visit MASLD assessment pathway that works even before therapeutic approval.</a:t>
            </a:r>
          </a:p>
        </p:txBody>
      </p:sp>
      <p:sp>
        <p:nvSpPr>
          <p:cNvPr id="14" name="Rectangle 13"/>
          <p:cNvSpPr/>
          <p:nvPr/>
        </p:nvSpPr>
        <p:spPr>
          <a:xfrm>
            <a:off x="502920" y="6537960"/>
            <a:ext cx="11155680" cy="76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6601968"/>
            <a:ext cx="7315200" cy="228600"/>
          </a:xfrm>
          <a:prstGeom prst="rect">
            <a:avLst/>
          </a:prstGeom>
          <a:noFill/>
        </p:spPr>
        <p:txBody>
          <a:bodyPr wrap="square" lIns="45720" tIns="27432" rIns="45720" bIns="27432" anchor="t">
            <a:spAutoFit/>
          </a:bodyPr>
          <a:lstStyle/>
          <a:p>
            <a:pPr algn="l"/>
            <a:r>
              <a:rPr sz="800" b="0" i="0">
                <a:solidFill>
                  <a:srgbClr val="898885"/>
                </a:solidFill>
                <a:latin typeface="Outfit"/>
              </a:rPr>
              <a:t>Korea MASLD/MASH Ecosystem Blueprint  |  Johns Hopkins Bloomberg SPH  ·  MPH Practicum</a:t>
            </a:r>
          </a:p>
        </p:txBody>
      </p:sp>
      <p:sp>
        <p:nvSpPr>
          <p:cNvPr id="16" name="TextBox 15"/>
          <p:cNvSpPr txBox="1"/>
          <p:nvPr/>
        </p:nvSpPr>
        <p:spPr>
          <a:xfrm>
            <a:off x="7315200" y="6601968"/>
            <a:ext cx="4572000" cy="178510"/>
          </a:xfrm>
          <a:prstGeom prst="rect">
            <a:avLst/>
          </a:prstGeom>
          <a:noFill/>
        </p:spPr>
        <p:txBody>
          <a:bodyPr wrap="square" lIns="45720" tIns="27432" rIns="45720" bIns="27432" anchor="t">
            <a:spAutoFit/>
          </a:bodyPr>
          <a:lstStyle/>
          <a:p>
            <a:pPr algn="r"/>
            <a:r>
              <a:rPr sz="800" b="0" i="0" dirty="0">
                <a:solidFill>
                  <a:srgbClr val="898885"/>
                </a:solidFill>
                <a:latin typeface="Outfit"/>
              </a:rPr>
              <a:t>Medical Affairs, Boehringer Ingelheim Korea  |  </a:t>
            </a:r>
            <a:r>
              <a:rPr lang="en-US" sz="800" b="0" i="0" dirty="0">
                <a:solidFill>
                  <a:srgbClr val="898885"/>
                </a:solidFill>
                <a:latin typeface="Outfit"/>
              </a:rPr>
              <a:t>Apr 2026</a:t>
            </a:r>
            <a:endParaRPr sz="800" b="0" i="0" dirty="0">
              <a:solidFill>
                <a:srgbClr val="898885"/>
              </a:solidFill>
              <a:latin typeface="Outfit"/>
            </a:endParaRPr>
          </a:p>
        </p:txBody>
      </p:sp>
      <p:pic>
        <p:nvPicPr>
          <p:cNvPr id="18" name="그림 17">
            <a:extLst>
              <a:ext uri="{FF2B5EF4-FFF2-40B4-BE49-F238E27FC236}">
                <a16:creationId xmlns:a16="http://schemas.microsoft.com/office/drawing/2014/main" id="{E2A40B23-8EBC-8112-7944-D4306D36E3EB}"/>
              </a:ext>
            </a:extLst>
          </p:cNvPr>
          <p:cNvPicPr>
            <a:picLocks noChangeAspect="1"/>
          </p:cNvPicPr>
          <p:nvPr/>
        </p:nvPicPr>
        <p:blipFill>
          <a:blip r:embed="rId2"/>
          <a:stretch>
            <a:fillRect/>
          </a:stretch>
        </p:blipFill>
        <p:spPr>
          <a:xfrm>
            <a:off x="42959" y="1500009"/>
            <a:ext cx="8413707" cy="475159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002D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9144000" cy="320040"/>
          </a:xfrm>
          <a:prstGeom prst="rect">
            <a:avLst/>
          </a:prstGeom>
          <a:noFill/>
        </p:spPr>
        <p:txBody>
          <a:bodyPr wrap="square" lIns="45720" tIns="27432" rIns="45720" bIns="27432" anchor="t">
            <a:spAutoFit/>
          </a:bodyPr>
          <a:lstStyle/>
          <a:p>
            <a:pPr algn="l"/>
            <a:r>
              <a:rPr sz="1000" b="1" i="0">
                <a:solidFill>
                  <a:srgbClr val="68ACE5"/>
                </a:solidFill>
                <a:latin typeface="Outfit"/>
              </a:rPr>
              <a:t>SYSTEMS ANALYSIS · R4</a:t>
            </a:r>
          </a:p>
        </p:txBody>
      </p:sp>
      <p:sp>
        <p:nvSpPr>
          <p:cNvPr id="4" name="TextBox 3"/>
          <p:cNvSpPr txBox="1"/>
          <p:nvPr/>
        </p:nvSpPr>
        <p:spPr>
          <a:xfrm>
            <a:off x="502920" y="457200"/>
            <a:ext cx="10515600" cy="548640"/>
          </a:xfrm>
          <a:prstGeom prst="rect">
            <a:avLst/>
          </a:prstGeom>
          <a:noFill/>
        </p:spPr>
        <p:txBody>
          <a:bodyPr wrap="square" lIns="45720" tIns="27432" rIns="45720" bIns="27432" anchor="t">
            <a:spAutoFit/>
          </a:bodyPr>
          <a:lstStyle/>
          <a:p>
            <a:pPr algn="l"/>
            <a:r>
              <a:rPr sz="2400" b="1" i="0">
                <a:solidFill>
                  <a:srgbClr val="FFFFFF"/>
                </a:solidFill>
                <a:latin typeface="Outfit"/>
              </a:rPr>
              <a:t>Loop R4 — Tertiary Hepatology Bias</a:t>
            </a:r>
          </a:p>
        </p:txBody>
      </p:sp>
      <p:sp>
        <p:nvSpPr>
          <p:cNvPr id="5" name="TextBox 4"/>
          <p:cNvSpPr txBox="1"/>
          <p:nvPr/>
        </p:nvSpPr>
        <p:spPr>
          <a:xfrm>
            <a:off x="11338560" y="256032"/>
            <a:ext cx="640080" cy="365760"/>
          </a:xfrm>
          <a:prstGeom prst="rect">
            <a:avLst/>
          </a:prstGeom>
          <a:noFill/>
        </p:spPr>
        <p:txBody>
          <a:bodyPr wrap="square" lIns="45720" tIns="27432" rIns="45720" bIns="27432" anchor="t">
            <a:spAutoFit/>
          </a:bodyPr>
          <a:lstStyle/>
          <a:p>
            <a:pPr algn="r"/>
            <a:r>
              <a:rPr sz="1100" b="1" i="0">
                <a:solidFill>
                  <a:srgbClr val="68ACE5"/>
                </a:solidFill>
                <a:latin typeface="Outfit"/>
              </a:rPr>
              <a:t>10</a:t>
            </a:r>
          </a:p>
        </p:txBody>
      </p:sp>
      <p:sp>
        <p:nvSpPr>
          <p:cNvPr id="7" name="Rectangle 6"/>
          <p:cNvSpPr/>
          <p:nvPr/>
        </p:nvSpPr>
        <p:spPr>
          <a:xfrm>
            <a:off x="8503920" y="1188720"/>
            <a:ext cx="3291840" cy="5212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8" name="Rectangle 7"/>
          <p:cNvSpPr/>
          <p:nvPr/>
        </p:nvSpPr>
        <p:spPr>
          <a:xfrm>
            <a:off x="8503920" y="1188720"/>
            <a:ext cx="3291840" cy="45720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9" name="TextBox 8"/>
          <p:cNvSpPr txBox="1"/>
          <p:nvPr/>
        </p:nvSpPr>
        <p:spPr>
          <a:xfrm>
            <a:off x="8595360" y="1234440"/>
            <a:ext cx="3108960" cy="424732"/>
          </a:xfrm>
          <a:prstGeom prst="rect">
            <a:avLst/>
          </a:prstGeom>
          <a:noFill/>
        </p:spPr>
        <p:txBody>
          <a:bodyPr wrap="square" lIns="45720" tIns="27432" rIns="45720" bIns="27432" anchor="t">
            <a:spAutoFit/>
          </a:bodyPr>
          <a:lstStyle/>
          <a:p>
            <a:pPr algn="l"/>
            <a:r>
              <a:rPr sz="2400" b="1" i="0" dirty="0">
                <a:solidFill>
                  <a:srgbClr val="FFFFFF"/>
                </a:solidFill>
                <a:latin typeface="Outfit"/>
              </a:rPr>
              <a:t>Reinforcing Loop R4</a:t>
            </a:r>
          </a:p>
        </p:txBody>
      </p:sp>
      <p:sp>
        <p:nvSpPr>
          <p:cNvPr id="10" name="TextBox 9"/>
          <p:cNvSpPr txBox="1"/>
          <p:nvPr/>
        </p:nvSpPr>
        <p:spPr>
          <a:xfrm>
            <a:off x="8641080" y="1737360"/>
            <a:ext cx="3108960" cy="332399"/>
          </a:xfrm>
          <a:prstGeom prst="rect">
            <a:avLst/>
          </a:prstGeom>
          <a:noFill/>
        </p:spPr>
        <p:txBody>
          <a:bodyPr wrap="square" lIns="45720" tIns="27432" rIns="45720" bIns="27432" anchor="t">
            <a:spAutoFit/>
          </a:bodyPr>
          <a:lstStyle/>
          <a:p>
            <a:pPr algn="l"/>
            <a:r>
              <a:rPr b="1" i="0">
                <a:solidFill>
                  <a:srgbClr val="B8860B"/>
                </a:solidFill>
                <a:latin typeface="Outfit"/>
              </a:rPr>
              <a:t>Narrative</a:t>
            </a:r>
          </a:p>
        </p:txBody>
      </p:sp>
      <p:sp>
        <p:nvSpPr>
          <p:cNvPr id="11" name="TextBox 10"/>
          <p:cNvSpPr txBox="1"/>
          <p:nvPr/>
        </p:nvSpPr>
        <p:spPr>
          <a:xfrm>
            <a:off x="8641080" y="2057400"/>
            <a:ext cx="3108960" cy="2086725"/>
          </a:xfrm>
          <a:prstGeom prst="rect">
            <a:avLst/>
          </a:prstGeom>
          <a:noFill/>
        </p:spPr>
        <p:txBody>
          <a:bodyPr wrap="square" lIns="45720" tIns="27432" rIns="45720" bIns="27432" anchor="t">
            <a:spAutoFit/>
          </a:bodyPr>
          <a:lstStyle/>
          <a:p>
            <a:pPr algn="l"/>
            <a:r>
              <a:rPr sz="1200" b="0" i="0" dirty="0">
                <a:solidFill>
                  <a:srgbClr val="002D72"/>
                </a:solidFill>
                <a:latin typeface="Outfit"/>
              </a:rPr>
              <a:t>Korean hepatology is historically </a:t>
            </a:r>
            <a:r>
              <a:rPr sz="1200" b="0" i="0" dirty="0" err="1">
                <a:solidFill>
                  <a:srgbClr val="002D72"/>
                </a:solidFill>
                <a:latin typeface="Outfit"/>
              </a:rPr>
              <a:t>organised</a:t>
            </a:r>
            <a:r>
              <a:rPr sz="1200" b="0" i="0" dirty="0">
                <a:solidFill>
                  <a:srgbClr val="002D72"/>
                </a:solidFill>
                <a:latin typeface="Outfit"/>
              </a:rPr>
              <a:t> around HBV and HCV — decades of operational focus, reimbursement, and training. MASLD/MASH falls outside this legacy. When 1°/2° referrals arrive, they are often passively managed rather than aggressively treated. 1°/2° HCPs perceive low value in referring, so the referral channel weakens. The loop reinforces tertiary focus on antivirals.</a:t>
            </a:r>
          </a:p>
        </p:txBody>
      </p:sp>
      <p:sp>
        <p:nvSpPr>
          <p:cNvPr id="12" name="TextBox 11"/>
          <p:cNvSpPr txBox="1"/>
          <p:nvPr/>
        </p:nvSpPr>
        <p:spPr>
          <a:xfrm>
            <a:off x="8641080" y="4681645"/>
            <a:ext cx="3108960" cy="332399"/>
          </a:xfrm>
          <a:prstGeom prst="rect">
            <a:avLst/>
          </a:prstGeom>
          <a:noFill/>
        </p:spPr>
        <p:txBody>
          <a:bodyPr wrap="square" lIns="45720" tIns="27432" rIns="45720" bIns="27432" anchor="t">
            <a:spAutoFit/>
          </a:bodyPr>
          <a:lstStyle/>
          <a:p>
            <a:pPr algn="l"/>
            <a:r>
              <a:rPr b="1" i="0">
                <a:solidFill>
                  <a:srgbClr val="B8860B"/>
                </a:solidFill>
                <a:latin typeface="Outfit"/>
              </a:rPr>
              <a:t>Leverage Point</a:t>
            </a:r>
          </a:p>
        </p:txBody>
      </p:sp>
      <p:sp>
        <p:nvSpPr>
          <p:cNvPr id="13" name="TextBox 12"/>
          <p:cNvSpPr txBox="1"/>
          <p:nvPr/>
        </p:nvSpPr>
        <p:spPr>
          <a:xfrm>
            <a:off x="8641080" y="5001685"/>
            <a:ext cx="3108960" cy="1163395"/>
          </a:xfrm>
          <a:prstGeom prst="rect">
            <a:avLst/>
          </a:prstGeom>
          <a:noFill/>
        </p:spPr>
        <p:txBody>
          <a:bodyPr wrap="square" lIns="45720" tIns="27432" rIns="45720" bIns="27432" anchor="t">
            <a:spAutoFit/>
          </a:bodyPr>
          <a:lstStyle/>
          <a:p>
            <a:pPr algn="l"/>
            <a:r>
              <a:rPr sz="1200" b="0" i="1">
                <a:solidFill>
                  <a:srgbClr val="002D72"/>
                </a:solidFill>
                <a:latin typeface="Outfit"/>
              </a:rPr>
              <a:t>Engage academic societies (KASL, KSoM) and digital-health platforms to build a MASLD-specific care pathway at the tertiary level — partnership still to be secured (see Pillar 4). Archetype view: Shifting the Burden — see slide 11.</a:t>
            </a:r>
          </a:p>
        </p:txBody>
      </p:sp>
      <p:sp>
        <p:nvSpPr>
          <p:cNvPr id="14" name="Rectangle 13"/>
          <p:cNvSpPr/>
          <p:nvPr/>
        </p:nvSpPr>
        <p:spPr>
          <a:xfrm>
            <a:off x="502920" y="6537960"/>
            <a:ext cx="11155680" cy="76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6601968"/>
            <a:ext cx="7315200" cy="228600"/>
          </a:xfrm>
          <a:prstGeom prst="rect">
            <a:avLst/>
          </a:prstGeom>
          <a:noFill/>
        </p:spPr>
        <p:txBody>
          <a:bodyPr wrap="square" lIns="45720" tIns="27432" rIns="45720" bIns="27432" anchor="t">
            <a:spAutoFit/>
          </a:bodyPr>
          <a:lstStyle/>
          <a:p>
            <a:pPr algn="l"/>
            <a:r>
              <a:rPr sz="800" b="0" i="0">
                <a:solidFill>
                  <a:srgbClr val="898885"/>
                </a:solidFill>
                <a:latin typeface="Outfit"/>
              </a:rPr>
              <a:t>Korea MASLD/MASH Ecosystem Blueprint  |  Johns Hopkins Bloomberg SPH  ·  MPH Practicum</a:t>
            </a:r>
          </a:p>
        </p:txBody>
      </p:sp>
      <p:sp>
        <p:nvSpPr>
          <p:cNvPr id="16" name="TextBox 15"/>
          <p:cNvSpPr txBox="1"/>
          <p:nvPr/>
        </p:nvSpPr>
        <p:spPr>
          <a:xfrm>
            <a:off x="7315200" y="6601968"/>
            <a:ext cx="4572000" cy="178510"/>
          </a:xfrm>
          <a:prstGeom prst="rect">
            <a:avLst/>
          </a:prstGeom>
          <a:noFill/>
        </p:spPr>
        <p:txBody>
          <a:bodyPr wrap="square" lIns="45720" tIns="27432" rIns="45720" bIns="27432" anchor="t">
            <a:spAutoFit/>
          </a:bodyPr>
          <a:lstStyle/>
          <a:p>
            <a:pPr algn="r"/>
            <a:r>
              <a:rPr sz="800" b="0" i="0" dirty="0">
                <a:solidFill>
                  <a:srgbClr val="898885"/>
                </a:solidFill>
                <a:latin typeface="Outfit"/>
              </a:rPr>
              <a:t>Medical Affairs, Boehringer Ingelheim Korea  |  </a:t>
            </a:r>
            <a:r>
              <a:rPr lang="en-US" sz="800" b="0" i="0" dirty="0">
                <a:solidFill>
                  <a:srgbClr val="898885"/>
                </a:solidFill>
                <a:latin typeface="Outfit"/>
              </a:rPr>
              <a:t>Apr 2026</a:t>
            </a:r>
            <a:endParaRPr sz="800" b="0" i="0" dirty="0">
              <a:solidFill>
                <a:srgbClr val="898885"/>
              </a:solidFill>
              <a:latin typeface="Outfit"/>
            </a:endParaRPr>
          </a:p>
        </p:txBody>
      </p:sp>
      <p:pic>
        <p:nvPicPr>
          <p:cNvPr id="18" name="그림 17">
            <a:extLst>
              <a:ext uri="{FF2B5EF4-FFF2-40B4-BE49-F238E27FC236}">
                <a16:creationId xmlns:a16="http://schemas.microsoft.com/office/drawing/2014/main" id="{A193D400-6030-65C0-9D94-CE7D06C1C58A}"/>
              </a:ext>
            </a:extLst>
          </p:cNvPr>
          <p:cNvPicPr>
            <a:picLocks noChangeAspect="1"/>
          </p:cNvPicPr>
          <p:nvPr/>
        </p:nvPicPr>
        <p:blipFill>
          <a:blip r:embed="rId2"/>
          <a:stretch>
            <a:fillRect/>
          </a:stretch>
        </p:blipFill>
        <p:spPr>
          <a:xfrm>
            <a:off x="58476" y="1463040"/>
            <a:ext cx="8354004" cy="475973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002D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9144000" cy="320040"/>
          </a:xfrm>
          <a:prstGeom prst="rect">
            <a:avLst/>
          </a:prstGeom>
          <a:noFill/>
        </p:spPr>
        <p:txBody>
          <a:bodyPr wrap="square" lIns="45720" tIns="27432" rIns="45720" bIns="27432" anchor="t">
            <a:spAutoFit/>
          </a:bodyPr>
          <a:lstStyle/>
          <a:p>
            <a:pPr algn="l"/>
            <a:r>
              <a:rPr sz="1000" b="1" i="0">
                <a:solidFill>
                  <a:srgbClr val="68ACE5"/>
                </a:solidFill>
                <a:latin typeface="Outfit"/>
              </a:rPr>
              <a:t>SYSTEMS ANALYSIS · COMPOSITE</a:t>
            </a:r>
          </a:p>
        </p:txBody>
      </p:sp>
      <p:sp>
        <p:nvSpPr>
          <p:cNvPr id="4" name="TextBox 3"/>
          <p:cNvSpPr txBox="1"/>
          <p:nvPr/>
        </p:nvSpPr>
        <p:spPr>
          <a:xfrm>
            <a:off x="502920" y="457200"/>
            <a:ext cx="10515600" cy="548640"/>
          </a:xfrm>
          <a:prstGeom prst="rect">
            <a:avLst/>
          </a:prstGeom>
          <a:noFill/>
        </p:spPr>
        <p:txBody>
          <a:bodyPr wrap="square" lIns="45720" tIns="27432" rIns="45720" bIns="27432" anchor="t">
            <a:spAutoFit/>
          </a:bodyPr>
          <a:lstStyle/>
          <a:p>
            <a:pPr algn="l"/>
            <a:r>
              <a:rPr sz="2400" b="1" i="0">
                <a:solidFill>
                  <a:srgbClr val="FFFFFF"/>
                </a:solidFill>
                <a:latin typeface="Outfit"/>
              </a:rPr>
              <a:t>The four loops are interlocked</a:t>
            </a:r>
          </a:p>
        </p:txBody>
      </p:sp>
      <p:sp>
        <p:nvSpPr>
          <p:cNvPr id="5" name="TextBox 4"/>
          <p:cNvSpPr txBox="1"/>
          <p:nvPr/>
        </p:nvSpPr>
        <p:spPr>
          <a:xfrm>
            <a:off x="11338560" y="256032"/>
            <a:ext cx="640080" cy="224677"/>
          </a:xfrm>
          <a:prstGeom prst="rect">
            <a:avLst/>
          </a:prstGeom>
          <a:noFill/>
        </p:spPr>
        <p:txBody>
          <a:bodyPr wrap="square" lIns="45720" tIns="27432" rIns="45720" bIns="27432" anchor="t">
            <a:spAutoFit/>
          </a:bodyPr>
          <a:lstStyle/>
          <a:p>
            <a:pPr algn="r"/>
            <a:r>
              <a:rPr lang="en-US" sz="1100" b="1" i="0" dirty="0">
                <a:solidFill>
                  <a:srgbClr val="68ACE5"/>
                </a:solidFill>
                <a:latin typeface="Outfit"/>
              </a:rPr>
              <a:t>11</a:t>
            </a:r>
            <a:endParaRPr sz="1100" b="1" i="0" dirty="0">
              <a:solidFill>
                <a:srgbClr val="68ACE5"/>
              </a:solidFill>
              <a:latin typeface="Outfit"/>
            </a:endParaRPr>
          </a:p>
        </p:txBody>
      </p:sp>
      <p:sp>
        <p:nvSpPr>
          <p:cNvPr id="6" name="TextBox 5"/>
          <p:cNvSpPr txBox="1"/>
          <p:nvPr/>
        </p:nvSpPr>
        <p:spPr>
          <a:xfrm>
            <a:off x="502920" y="1062107"/>
            <a:ext cx="11155680" cy="365760"/>
          </a:xfrm>
          <a:prstGeom prst="rect">
            <a:avLst/>
          </a:prstGeom>
          <a:noFill/>
        </p:spPr>
        <p:txBody>
          <a:bodyPr wrap="square" lIns="45720" tIns="27432" rIns="45720" bIns="27432" anchor="t">
            <a:spAutoFit/>
          </a:bodyPr>
          <a:lstStyle/>
          <a:p>
            <a:pPr algn="l"/>
            <a:r>
              <a:rPr sz="1100" b="1" i="1">
                <a:solidFill>
                  <a:srgbClr val="68ACE5"/>
                </a:solidFill>
                <a:latin typeface="Outfit"/>
              </a:rPr>
              <a:t>Composite Causal Loop Diagram — single integrated systems view</a:t>
            </a:r>
          </a:p>
        </p:txBody>
      </p:sp>
      <p:sp>
        <p:nvSpPr>
          <p:cNvPr id="7" name="Rounded Rectangle 6"/>
          <p:cNvSpPr/>
          <p:nvPr/>
        </p:nvSpPr>
        <p:spPr>
          <a:xfrm>
            <a:off x="5303520" y="2679192"/>
            <a:ext cx="1828800" cy="640080"/>
          </a:xfrm>
          <a:prstGeom prst="roundRect">
            <a:avLst>
              <a:gd name="adj" fmla="val 20000"/>
            </a:avLst>
          </a:prstGeom>
          <a:solidFill>
            <a:srgbClr val="002D72"/>
          </a:solidFill>
          <a:ln w="15875">
            <a:solidFill>
              <a:srgbClr val="002D72"/>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400" b="1" dirty="0">
                <a:solidFill>
                  <a:srgbClr val="FFFFFF"/>
                </a:solidFill>
                <a:latin typeface="Outfit"/>
              </a:rPr>
              <a:t>MASLD detection</a:t>
            </a:r>
          </a:p>
          <a:p>
            <a:pPr algn="ctr"/>
            <a:r>
              <a:rPr sz="1400" b="1" dirty="0">
                <a:solidFill>
                  <a:srgbClr val="FFFFFF"/>
                </a:solidFill>
                <a:latin typeface="Outfit"/>
              </a:rPr>
              <a:t>at screening</a:t>
            </a:r>
          </a:p>
        </p:txBody>
      </p:sp>
      <p:sp>
        <p:nvSpPr>
          <p:cNvPr id="8" name="Rounded Rectangle 7"/>
          <p:cNvSpPr/>
          <p:nvPr/>
        </p:nvSpPr>
        <p:spPr>
          <a:xfrm>
            <a:off x="3890433" y="3881870"/>
            <a:ext cx="1828800" cy="640080"/>
          </a:xfrm>
          <a:prstGeom prst="roundRect">
            <a:avLst>
              <a:gd name="adj" fmla="val 20000"/>
            </a:avLst>
          </a:prstGeom>
          <a:solidFill>
            <a:srgbClr val="002D72"/>
          </a:solidFill>
          <a:ln w="15875">
            <a:solidFill>
              <a:srgbClr val="002D72"/>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400" b="1">
                <a:solidFill>
                  <a:srgbClr val="FFFFFF"/>
                </a:solidFill>
                <a:latin typeface="Outfit"/>
              </a:rPr>
              <a:t>Public awareness</a:t>
            </a:r>
          </a:p>
          <a:p>
            <a:pPr algn="ctr"/>
            <a:r>
              <a:rPr sz="1400" b="1">
                <a:solidFill>
                  <a:srgbClr val="FFFFFF"/>
                </a:solidFill>
                <a:latin typeface="Outfit"/>
              </a:rPr>
              <a:t>of MASLD</a:t>
            </a:r>
          </a:p>
        </p:txBody>
      </p:sp>
      <p:sp>
        <p:nvSpPr>
          <p:cNvPr id="9" name="Rounded Rectangle 8"/>
          <p:cNvSpPr/>
          <p:nvPr/>
        </p:nvSpPr>
        <p:spPr>
          <a:xfrm>
            <a:off x="6633633" y="3822192"/>
            <a:ext cx="1828800" cy="640080"/>
          </a:xfrm>
          <a:prstGeom prst="roundRect">
            <a:avLst>
              <a:gd name="adj" fmla="val 20000"/>
            </a:avLst>
          </a:prstGeom>
          <a:solidFill>
            <a:srgbClr val="002D72"/>
          </a:solidFill>
          <a:ln w="15875">
            <a:solidFill>
              <a:srgbClr val="002D72"/>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400" b="1" dirty="0">
                <a:solidFill>
                  <a:srgbClr val="FFFFFF"/>
                </a:solidFill>
                <a:latin typeface="Outfit"/>
              </a:rPr>
              <a:t>Referral volume</a:t>
            </a:r>
          </a:p>
          <a:p>
            <a:pPr algn="ctr"/>
            <a:r>
              <a:rPr sz="1400" b="1" dirty="0">
                <a:solidFill>
                  <a:srgbClr val="FFFFFF"/>
                </a:solidFill>
                <a:latin typeface="Outfit"/>
              </a:rPr>
              <a:t>(1°/2°→ tertiary)</a:t>
            </a:r>
          </a:p>
        </p:txBody>
      </p:sp>
      <p:sp>
        <p:nvSpPr>
          <p:cNvPr id="10" name="Rounded Rectangle 9"/>
          <p:cNvSpPr/>
          <p:nvPr/>
        </p:nvSpPr>
        <p:spPr>
          <a:xfrm>
            <a:off x="1188720" y="1427867"/>
            <a:ext cx="1828800" cy="640080"/>
          </a:xfrm>
          <a:prstGeom prst="roundRect">
            <a:avLst>
              <a:gd name="adj" fmla="val 20000"/>
            </a:avLst>
          </a:prstGeom>
          <a:solidFill>
            <a:srgbClr val="D64045"/>
          </a:solidFill>
          <a:ln w="15875">
            <a:solidFill>
              <a:srgbClr val="D64045"/>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200" b="1">
                <a:solidFill>
                  <a:srgbClr val="FFFFFF"/>
                </a:solidFill>
                <a:latin typeface="Outfit"/>
              </a:rPr>
              <a:t>Patient-initiated</a:t>
            </a:r>
          </a:p>
          <a:p>
            <a:pPr algn="ctr"/>
            <a:r>
              <a:rPr sz="1200" b="1">
                <a:solidFill>
                  <a:srgbClr val="FFFFFF"/>
                </a:solidFill>
                <a:latin typeface="Outfit"/>
              </a:rPr>
              <a:t>screening requests</a:t>
            </a:r>
          </a:p>
        </p:txBody>
      </p:sp>
      <p:sp>
        <p:nvSpPr>
          <p:cNvPr id="11" name="Rounded Rectangle 10"/>
          <p:cNvSpPr/>
          <p:nvPr/>
        </p:nvSpPr>
        <p:spPr>
          <a:xfrm>
            <a:off x="1188720" y="2982347"/>
            <a:ext cx="1828800" cy="640080"/>
          </a:xfrm>
          <a:prstGeom prst="roundRect">
            <a:avLst>
              <a:gd name="adj" fmla="val 20000"/>
            </a:avLst>
          </a:prstGeom>
          <a:solidFill>
            <a:srgbClr val="D64045"/>
          </a:solidFill>
          <a:ln w="15875">
            <a:solidFill>
              <a:srgbClr val="D64045"/>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200" b="1">
                <a:solidFill>
                  <a:srgbClr val="FFFFFF"/>
                </a:solidFill>
                <a:latin typeface="Outfit"/>
              </a:rPr>
              <a:t>HCP demand for</a:t>
            </a:r>
          </a:p>
          <a:p>
            <a:pPr algn="ctr"/>
            <a:r>
              <a:rPr sz="1200" b="1">
                <a:solidFill>
                  <a:srgbClr val="FFFFFF"/>
                </a:solidFill>
                <a:latin typeface="Outfit"/>
              </a:rPr>
              <a:t>MASLD education</a:t>
            </a:r>
          </a:p>
        </p:txBody>
      </p:sp>
      <p:sp>
        <p:nvSpPr>
          <p:cNvPr id="12" name="Rounded Rectangle 11"/>
          <p:cNvSpPr/>
          <p:nvPr/>
        </p:nvSpPr>
        <p:spPr>
          <a:xfrm>
            <a:off x="3200400" y="2205107"/>
            <a:ext cx="1828800" cy="640080"/>
          </a:xfrm>
          <a:prstGeom prst="roundRect">
            <a:avLst>
              <a:gd name="adj" fmla="val 20000"/>
            </a:avLst>
          </a:prstGeom>
          <a:solidFill>
            <a:srgbClr val="D64045"/>
          </a:solidFill>
          <a:ln w="15875">
            <a:solidFill>
              <a:srgbClr val="D64045"/>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200" b="1" dirty="0">
                <a:solidFill>
                  <a:srgbClr val="FFFFFF"/>
                </a:solidFill>
                <a:latin typeface="Outfit"/>
              </a:rPr>
              <a:t>Society / industry</a:t>
            </a:r>
          </a:p>
          <a:p>
            <a:pPr algn="ctr"/>
            <a:r>
              <a:rPr sz="1200" b="1" dirty="0">
                <a:solidFill>
                  <a:srgbClr val="FFFFFF"/>
                </a:solidFill>
                <a:latin typeface="Outfit"/>
              </a:rPr>
              <a:t>education investment</a:t>
            </a:r>
          </a:p>
        </p:txBody>
      </p:sp>
      <p:sp>
        <p:nvSpPr>
          <p:cNvPr id="13" name="Oval 12"/>
          <p:cNvSpPr/>
          <p:nvPr/>
        </p:nvSpPr>
        <p:spPr>
          <a:xfrm>
            <a:off x="548640" y="2205107"/>
            <a:ext cx="640080" cy="640080"/>
          </a:xfrm>
          <a:prstGeom prst="ellipse">
            <a:avLst/>
          </a:prstGeom>
          <a:solidFill>
            <a:srgbClr val="D64045"/>
          </a:solidFill>
          <a:ln w="6350">
            <a:solidFill>
              <a:srgbClr val="D64045"/>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800" b="1">
                <a:solidFill>
                  <a:srgbClr val="FFFFFF"/>
                </a:solidFill>
                <a:latin typeface="Outfit"/>
              </a:rPr>
              <a:t>R1</a:t>
            </a:r>
          </a:p>
        </p:txBody>
      </p:sp>
      <p:sp>
        <p:nvSpPr>
          <p:cNvPr id="14" name="TextBox 13"/>
          <p:cNvSpPr txBox="1"/>
          <p:nvPr/>
        </p:nvSpPr>
        <p:spPr>
          <a:xfrm>
            <a:off x="-45719" y="1993634"/>
            <a:ext cx="1280160" cy="240066"/>
          </a:xfrm>
          <a:prstGeom prst="rect">
            <a:avLst/>
          </a:prstGeom>
          <a:noFill/>
        </p:spPr>
        <p:txBody>
          <a:bodyPr wrap="square" lIns="45720" tIns="27432" rIns="45720" bIns="27432" anchor="t">
            <a:spAutoFit/>
          </a:bodyPr>
          <a:lstStyle/>
          <a:p>
            <a:pPr algn="ctr"/>
            <a:r>
              <a:rPr sz="1200" b="1" i="1">
                <a:solidFill>
                  <a:srgbClr val="D64045"/>
                </a:solidFill>
                <a:latin typeface="Outfit"/>
              </a:rPr>
              <a:t>Awareness Trap</a:t>
            </a:r>
          </a:p>
        </p:txBody>
      </p:sp>
      <p:cxnSp>
        <p:nvCxnSpPr>
          <p:cNvPr id="15" name="Connector 14"/>
          <p:cNvCxnSpPr>
            <a:cxnSpLocks/>
            <a:stCxn id="10" idx="2"/>
            <a:endCxn id="11" idx="0"/>
          </p:cNvCxnSpPr>
          <p:nvPr/>
        </p:nvCxnSpPr>
        <p:spPr>
          <a:xfrm>
            <a:off x="2103120" y="2067947"/>
            <a:ext cx="0" cy="914400"/>
          </a:xfrm>
          <a:prstGeom prst="line">
            <a:avLst/>
          </a:prstGeom>
          <a:ln w="38100" cap="flat">
            <a:solidFill>
              <a:srgbClr val="00B050"/>
            </a:solidFill>
            <a:round/>
            <a:tailEnd type="triangle" w="lg" len="lg"/>
          </a:ln>
        </p:spPr>
        <p:style>
          <a:lnRef idx="2">
            <a:schemeClr val="accent1"/>
          </a:lnRef>
          <a:fillRef idx="0">
            <a:schemeClr val="accent1"/>
          </a:fillRef>
          <a:effectRef idx="1">
            <a:schemeClr val="accent1"/>
          </a:effectRef>
          <a:fontRef idx="minor">
            <a:schemeClr val="tx1"/>
          </a:fontRef>
        </p:style>
      </p:cxnSp>
      <p:cxnSp>
        <p:nvCxnSpPr>
          <p:cNvPr id="16" name="Connector 15"/>
          <p:cNvCxnSpPr>
            <a:cxnSpLocks/>
            <a:stCxn id="11" idx="3"/>
            <a:endCxn id="12" idx="2"/>
          </p:cNvCxnSpPr>
          <p:nvPr/>
        </p:nvCxnSpPr>
        <p:spPr>
          <a:xfrm flipV="1">
            <a:off x="3017520" y="2845187"/>
            <a:ext cx="1097280" cy="457200"/>
          </a:xfrm>
          <a:prstGeom prst="line">
            <a:avLst/>
          </a:prstGeom>
          <a:ln w="38100" cap="flat">
            <a:solidFill>
              <a:srgbClr val="00B050"/>
            </a:solidFill>
            <a:round/>
            <a:tailEnd type="triangle" w="lg" len="lg"/>
          </a:ln>
        </p:spPr>
        <p:style>
          <a:lnRef idx="2">
            <a:schemeClr val="accent1"/>
          </a:lnRef>
          <a:fillRef idx="0">
            <a:schemeClr val="accent1"/>
          </a:fillRef>
          <a:effectRef idx="1">
            <a:schemeClr val="accent1"/>
          </a:effectRef>
          <a:fontRef idx="minor">
            <a:schemeClr val="tx1"/>
          </a:fontRef>
        </p:style>
      </p:cxnSp>
      <p:cxnSp>
        <p:nvCxnSpPr>
          <p:cNvPr id="17" name="Connector 16"/>
          <p:cNvCxnSpPr>
            <a:cxnSpLocks/>
            <a:stCxn id="12" idx="0"/>
            <a:endCxn id="10" idx="3"/>
          </p:cNvCxnSpPr>
          <p:nvPr/>
        </p:nvCxnSpPr>
        <p:spPr>
          <a:xfrm flipH="1" flipV="1">
            <a:off x="3017520" y="1747907"/>
            <a:ext cx="1097280" cy="457200"/>
          </a:xfrm>
          <a:prstGeom prst="line">
            <a:avLst/>
          </a:prstGeom>
          <a:ln w="38100" cap="flat">
            <a:solidFill>
              <a:srgbClr val="00B050"/>
            </a:solidFill>
            <a:round/>
            <a:tailEnd type="triangle" w="lg" len="lg"/>
          </a:ln>
        </p:spPr>
        <p:style>
          <a:lnRef idx="2">
            <a:schemeClr val="accent1"/>
          </a:lnRef>
          <a:fillRef idx="0">
            <a:schemeClr val="accent1"/>
          </a:fillRef>
          <a:effectRef idx="1">
            <a:schemeClr val="accent1"/>
          </a:effectRef>
          <a:fontRef idx="minor">
            <a:schemeClr val="tx1"/>
          </a:fontRef>
        </p:style>
      </p:cxnSp>
      <p:cxnSp>
        <p:nvCxnSpPr>
          <p:cNvPr id="18" name="Connector 17"/>
          <p:cNvCxnSpPr>
            <a:cxnSpLocks/>
            <a:stCxn id="12" idx="2"/>
            <a:endCxn id="8" idx="0"/>
          </p:cNvCxnSpPr>
          <p:nvPr/>
        </p:nvCxnSpPr>
        <p:spPr>
          <a:xfrm>
            <a:off x="4114800" y="2845187"/>
            <a:ext cx="690033" cy="1036683"/>
          </a:xfrm>
          <a:prstGeom prst="line">
            <a:avLst/>
          </a:prstGeom>
          <a:ln w="38100" cap="flat">
            <a:solidFill>
              <a:srgbClr val="00B050"/>
            </a:solidFill>
            <a:round/>
            <a:tailEnd type="triangle" w="lg" len="lg"/>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680960" y="2101717"/>
            <a:ext cx="1828800" cy="640080"/>
          </a:xfrm>
          <a:prstGeom prst="roundRect">
            <a:avLst>
              <a:gd name="adj" fmla="val 20000"/>
            </a:avLst>
          </a:prstGeom>
          <a:solidFill>
            <a:srgbClr val="1C6E8C"/>
          </a:solidFill>
          <a:ln w="15875">
            <a:solidFill>
              <a:srgbClr val="1C6E8C"/>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200" b="1">
                <a:solidFill>
                  <a:srgbClr val="FFFFFF"/>
                </a:solidFill>
                <a:latin typeface="Outfit"/>
              </a:rPr>
              <a:t>Screening panel</a:t>
            </a:r>
          </a:p>
          <a:p>
            <a:pPr algn="ctr"/>
            <a:r>
              <a:rPr sz="1200" b="1">
                <a:solidFill>
                  <a:srgbClr val="FFFFFF"/>
                </a:solidFill>
                <a:latin typeface="Outfit"/>
              </a:rPr>
              <a:t>completeness</a:t>
            </a:r>
          </a:p>
        </p:txBody>
      </p:sp>
      <p:sp>
        <p:nvSpPr>
          <p:cNvPr id="20" name="Rounded Rectangle 19"/>
          <p:cNvSpPr/>
          <p:nvPr/>
        </p:nvSpPr>
        <p:spPr>
          <a:xfrm>
            <a:off x="9144000" y="2982347"/>
            <a:ext cx="1828800" cy="640080"/>
          </a:xfrm>
          <a:prstGeom prst="roundRect">
            <a:avLst>
              <a:gd name="adj" fmla="val 20000"/>
            </a:avLst>
          </a:prstGeom>
          <a:solidFill>
            <a:srgbClr val="1C6E8C"/>
          </a:solidFill>
          <a:ln w="15875">
            <a:solidFill>
              <a:srgbClr val="1C6E8C"/>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200" b="1">
                <a:solidFill>
                  <a:srgbClr val="FFFFFF"/>
                </a:solidFill>
                <a:latin typeface="Outfit"/>
              </a:rPr>
              <a:t>Panel update</a:t>
            </a:r>
          </a:p>
          <a:p>
            <a:pPr algn="ctr"/>
            <a:r>
              <a:rPr sz="1200" b="1">
                <a:solidFill>
                  <a:srgbClr val="FFFFFF"/>
                </a:solidFill>
                <a:latin typeface="Outfit"/>
              </a:rPr>
              <a:t>incentive</a:t>
            </a:r>
          </a:p>
        </p:txBody>
      </p:sp>
      <p:sp>
        <p:nvSpPr>
          <p:cNvPr id="21" name="Rounded Rectangle 20"/>
          <p:cNvSpPr/>
          <p:nvPr/>
        </p:nvSpPr>
        <p:spPr>
          <a:xfrm>
            <a:off x="9031896" y="1261872"/>
            <a:ext cx="1828800" cy="640080"/>
          </a:xfrm>
          <a:prstGeom prst="roundRect">
            <a:avLst>
              <a:gd name="adj" fmla="val 20000"/>
            </a:avLst>
          </a:prstGeom>
          <a:solidFill>
            <a:srgbClr val="1C6E8C"/>
          </a:solidFill>
          <a:ln w="15875">
            <a:solidFill>
              <a:srgbClr val="1C6E8C"/>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200" b="1">
                <a:solidFill>
                  <a:srgbClr val="FFFFFF"/>
                </a:solidFill>
                <a:latin typeface="Outfit"/>
              </a:rPr>
              <a:t>Demand signal for</a:t>
            </a:r>
          </a:p>
          <a:p>
            <a:pPr algn="ctr"/>
            <a:r>
              <a:rPr sz="1200" b="1">
                <a:solidFill>
                  <a:srgbClr val="FFFFFF"/>
                </a:solidFill>
                <a:latin typeface="Outfit"/>
              </a:rPr>
              <a:t>panel update</a:t>
            </a:r>
          </a:p>
        </p:txBody>
      </p:sp>
      <p:sp>
        <p:nvSpPr>
          <p:cNvPr id="22" name="Oval 21"/>
          <p:cNvSpPr/>
          <p:nvPr/>
        </p:nvSpPr>
        <p:spPr>
          <a:xfrm>
            <a:off x="10972800" y="2205107"/>
            <a:ext cx="640080" cy="640080"/>
          </a:xfrm>
          <a:prstGeom prst="ellipse">
            <a:avLst/>
          </a:prstGeom>
          <a:solidFill>
            <a:srgbClr val="1C6E8C"/>
          </a:solidFill>
          <a:ln w="6350">
            <a:solidFill>
              <a:srgbClr val="1C6E8C"/>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800" b="1">
                <a:solidFill>
                  <a:srgbClr val="FFFFFF"/>
                </a:solidFill>
                <a:latin typeface="Outfit"/>
              </a:rPr>
              <a:t>R2</a:t>
            </a:r>
          </a:p>
        </p:txBody>
      </p:sp>
      <p:sp>
        <p:nvSpPr>
          <p:cNvPr id="23" name="TextBox 22"/>
          <p:cNvSpPr txBox="1"/>
          <p:nvPr/>
        </p:nvSpPr>
        <p:spPr>
          <a:xfrm>
            <a:off x="10881360" y="1970774"/>
            <a:ext cx="1280160" cy="240066"/>
          </a:xfrm>
          <a:prstGeom prst="rect">
            <a:avLst/>
          </a:prstGeom>
          <a:noFill/>
        </p:spPr>
        <p:txBody>
          <a:bodyPr wrap="square" lIns="45720" tIns="27432" rIns="45720" bIns="27432" anchor="t">
            <a:spAutoFit/>
          </a:bodyPr>
          <a:lstStyle/>
          <a:p>
            <a:pPr algn="ctr"/>
            <a:r>
              <a:rPr sz="1200" b="1" i="1">
                <a:solidFill>
                  <a:srgbClr val="1C6E8C"/>
                </a:solidFill>
                <a:latin typeface="Outfit"/>
              </a:rPr>
              <a:t>Screening Loss</a:t>
            </a:r>
          </a:p>
        </p:txBody>
      </p:sp>
      <p:cxnSp>
        <p:nvCxnSpPr>
          <p:cNvPr id="24" name="Connector 23"/>
          <p:cNvCxnSpPr>
            <a:cxnSpLocks/>
            <a:stCxn id="19" idx="2"/>
            <a:endCxn id="20" idx="1"/>
          </p:cNvCxnSpPr>
          <p:nvPr/>
        </p:nvCxnSpPr>
        <p:spPr>
          <a:xfrm>
            <a:off x="8595360" y="2741797"/>
            <a:ext cx="548640" cy="560590"/>
          </a:xfrm>
          <a:prstGeom prst="line">
            <a:avLst/>
          </a:prstGeom>
          <a:ln w="38100" cap="flat">
            <a:solidFill>
              <a:srgbClr val="00B050"/>
            </a:solidFill>
            <a:round/>
            <a:tailEnd type="triangle" w="lg" len="lg"/>
          </a:ln>
        </p:spPr>
        <p:style>
          <a:lnRef idx="2">
            <a:schemeClr val="accent1"/>
          </a:lnRef>
          <a:fillRef idx="0">
            <a:schemeClr val="accent1"/>
          </a:fillRef>
          <a:effectRef idx="1">
            <a:schemeClr val="accent1"/>
          </a:effectRef>
          <a:fontRef idx="minor">
            <a:schemeClr val="tx1"/>
          </a:fontRef>
        </p:style>
      </p:cxnSp>
      <p:cxnSp>
        <p:nvCxnSpPr>
          <p:cNvPr id="25" name="Connector 24"/>
          <p:cNvCxnSpPr>
            <a:cxnSpLocks/>
            <a:stCxn id="20" idx="0"/>
            <a:endCxn id="21" idx="2"/>
          </p:cNvCxnSpPr>
          <p:nvPr/>
        </p:nvCxnSpPr>
        <p:spPr>
          <a:xfrm flipH="1" flipV="1">
            <a:off x="9946296" y="1901952"/>
            <a:ext cx="112104" cy="1080395"/>
          </a:xfrm>
          <a:prstGeom prst="line">
            <a:avLst/>
          </a:prstGeom>
          <a:ln w="38100" cap="flat">
            <a:solidFill>
              <a:srgbClr val="00B050"/>
            </a:solidFill>
            <a:round/>
            <a:tailEnd type="triangle" w="lg" len="lg"/>
          </a:ln>
        </p:spPr>
        <p:style>
          <a:lnRef idx="2">
            <a:schemeClr val="accent1"/>
          </a:lnRef>
          <a:fillRef idx="0">
            <a:schemeClr val="accent1"/>
          </a:fillRef>
          <a:effectRef idx="1">
            <a:schemeClr val="accent1"/>
          </a:effectRef>
          <a:fontRef idx="minor">
            <a:schemeClr val="tx1"/>
          </a:fontRef>
        </p:style>
      </p:cxnSp>
      <p:cxnSp>
        <p:nvCxnSpPr>
          <p:cNvPr id="26" name="Connector 25"/>
          <p:cNvCxnSpPr>
            <a:cxnSpLocks/>
            <a:stCxn id="21" idx="1"/>
            <a:endCxn id="19" idx="0"/>
          </p:cNvCxnSpPr>
          <p:nvPr/>
        </p:nvCxnSpPr>
        <p:spPr>
          <a:xfrm flipH="1">
            <a:off x="8595360" y="1581912"/>
            <a:ext cx="436536" cy="519805"/>
          </a:xfrm>
          <a:prstGeom prst="line">
            <a:avLst/>
          </a:prstGeom>
          <a:ln w="38100" cap="flat">
            <a:solidFill>
              <a:srgbClr val="00B050"/>
            </a:solidFill>
            <a:round/>
            <a:tailEnd type="triangle" w="lg" len="lg"/>
          </a:ln>
        </p:spPr>
        <p:style>
          <a:lnRef idx="2">
            <a:schemeClr val="accent1"/>
          </a:lnRef>
          <a:fillRef idx="0">
            <a:schemeClr val="accent1"/>
          </a:fillRef>
          <a:effectRef idx="1">
            <a:schemeClr val="accent1"/>
          </a:effectRef>
          <a:fontRef idx="minor">
            <a:schemeClr val="tx1"/>
          </a:fontRef>
        </p:style>
      </p:cxnSp>
      <p:cxnSp>
        <p:nvCxnSpPr>
          <p:cNvPr id="27" name="Connector 26"/>
          <p:cNvCxnSpPr>
            <a:cxnSpLocks/>
            <a:stCxn id="19" idx="1"/>
            <a:endCxn id="7" idx="3"/>
          </p:cNvCxnSpPr>
          <p:nvPr/>
        </p:nvCxnSpPr>
        <p:spPr>
          <a:xfrm flipH="1">
            <a:off x="7132320" y="2421757"/>
            <a:ext cx="548640" cy="577475"/>
          </a:xfrm>
          <a:prstGeom prst="line">
            <a:avLst/>
          </a:prstGeom>
          <a:ln w="38100" cap="flat">
            <a:solidFill>
              <a:srgbClr val="00B050"/>
            </a:solidFill>
            <a:round/>
            <a:tailEnd type="triangle" w="lg" len="lg"/>
          </a:ln>
        </p:spPr>
        <p:style>
          <a:lnRef idx="2">
            <a:schemeClr val="accent1"/>
          </a:lnRef>
          <a:fillRef idx="0">
            <a:schemeClr val="accent1"/>
          </a:fillRef>
          <a:effectRef idx="1">
            <a:schemeClr val="accent1"/>
          </a:effectRef>
          <a:fontRef idx="minor">
            <a:schemeClr val="tx1"/>
          </a:fontRef>
        </p:style>
      </p:cxnSp>
      <p:cxnSp>
        <p:nvCxnSpPr>
          <p:cNvPr id="28" name="Connector 27"/>
          <p:cNvCxnSpPr>
            <a:cxnSpLocks/>
            <a:stCxn id="8" idx="0"/>
            <a:endCxn id="7" idx="2"/>
          </p:cNvCxnSpPr>
          <p:nvPr/>
        </p:nvCxnSpPr>
        <p:spPr>
          <a:xfrm flipV="1">
            <a:off x="4804833" y="3319272"/>
            <a:ext cx="1413087" cy="562598"/>
          </a:xfrm>
          <a:prstGeom prst="line">
            <a:avLst/>
          </a:prstGeom>
          <a:ln w="31750" cap="flat">
            <a:solidFill>
              <a:srgbClr val="00B050"/>
            </a:solidFill>
            <a:round/>
            <a:tailEnd type="triangle" w="lg" len="lg"/>
          </a:ln>
        </p:spPr>
        <p:style>
          <a:lnRef idx="2">
            <a:schemeClr val="accent1"/>
          </a:lnRef>
          <a:fillRef idx="0">
            <a:schemeClr val="accent1"/>
          </a:fillRef>
          <a:effectRef idx="1">
            <a:schemeClr val="accent1"/>
          </a:effectRef>
          <a:fontRef idx="minor">
            <a:schemeClr val="tx1"/>
          </a:fontRef>
        </p:style>
      </p:cxnSp>
      <p:cxnSp>
        <p:nvCxnSpPr>
          <p:cNvPr id="29" name="Connector 28"/>
          <p:cNvCxnSpPr>
            <a:cxnSpLocks/>
            <a:stCxn id="7" idx="2"/>
            <a:endCxn id="9" idx="0"/>
          </p:cNvCxnSpPr>
          <p:nvPr/>
        </p:nvCxnSpPr>
        <p:spPr>
          <a:xfrm>
            <a:off x="6217920" y="3319272"/>
            <a:ext cx="1330113" cy="502920"/>
          </a:xfrm>
          <a:prstGeom prst="line">
            <a:avLst/>
          </a:prstGeom>
          <a:ln w="31750" cap="flat">
            <a:solidFill>
              <a:srgbClr val="00B050"/>
            </a:solidFill>
            <a:round/>
            <a:tailEnd type="triangle" w="lg" len="lg"/>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1282361" y="4479860"/>
            <a:ext cx="1828800" cy="640080"/>
          </a:xfrm>
          <a:prstGeom prst="roundRect">
            <a:avLst>
              <a:gd name="adj" fmla="val 20000"/>
            </a:avLst>
          </a:prstGeom>
          <a:solidFill>
            <a:srgbClr val="6B4E9C"/>
          </a:solidFill>
          <a:ln w="15875">
            <a:solidFill>
              <a:srgbClr val="6B4E9C"/>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200" b="1">
                <a:solidFill>
                  <a:srgbClr val="FFFFFF"/>
                </a:solidFill>
                <a:latin typeface="Outfit"/>
              </a:rPr>
              <a:t>1°/2° HCP</a:t>
            </a:r>
          </a:p>
          <a:p>
            <a:pPr algn="ctr"/>
            <a:r>
              <a:rPr sz="1200" b="1">
                <a:solidFill>
                  <a:srgbClr val="FFFFFF"/>
                </a:solidFill>
                <a:latin typeface="Outfit"/>
              </a:rPr>
              <a:t>active assessment</a:t>
            </a:r>
          </a:p>
        </p:txBody>
      </p:sp>
      <p:sp>
        <p:nvSpPr>
          <p:cNvPr id="31" name="Rounded Rectangle 30"/>
          <p:cNvSpPr/>
          <p:nvPr/>
        </p:nvSpPr>
        <p:spPr>
          <a:xfrm>
            <a:off x="3359066" y="4953193"/>
            <a:ext cx="1828800" cy="640080"/>
          </a:xfrm>
          <a:prstGeom prst="roundRect">
            <a:avLst>
              <a:gd name="adj" fmla="val 20000"/>
            </a:avLst>
          </a:prstGeom>
          <a:solidFill>
            <a:srgbClr val="6B4E9C"/>
          </a:solidFill>
          <a:ln w="15875">
            <a:solidFill>
              <a:srgbClr val="6B4E9C"/>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200" b="1" dirty="0">
                <a:solidFill>
                  <a:srgbClr val="FFFFFF"/>
                </a:solidFill>
                <a:latin typeface="Outfit"/>
              </a:rPr>
              <a:t>Industry investment</a:t>
            </a:r>
          </a:p>
          <a:p>
            <a:pPr algn="ctr"/>
            <a:r>
              <a:rPr sz="1200" b="1" dirty="0">
                <a:solidFill>
                  <a:srgbClr val="FFFFFF"/>
                </a:solidFill>
                <a:latin typeface="Outfit"/>
              </a:rPr>
              <a:t>in 1°/2° tools</a:t>
            </a:r>
          </a:p>
        </p:txBody>
      </p:sp>
      <p:sp>
        <p:nvSpPr>
          <p:cNvPr id="32" name="Rounded Rectangle 31"/>
          <p:cNvSpPr/>
          <p:nvPr/>
        </p:nvSpPr>
        <p:spPr>
          <a:xfrm>
            <a:off x="1304374" y="5610776"/>
            <a:ext cx="1828800" cy="640080"/>
          </a:xfrm>
          <a:prstGeom prst="roundRect">
            <a:avLst>
              <a:gd name="adj" fmla="val 20000"/>
            </a:avLst>
          </a:prstGeom>
          <a:solidFill>
            <a:srgbClr val="6B4E9C"/>
          </a:solidFill>
          <a:ln w="15875">
            <a:solidFill>
              <a:srgbClr val="6B4E9C"/>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200" b="1">
                <a:solidFill>
                  <a:srgbClr val="FFFFFF"/>
                </a:solidFill>
                <a:latin typeface="Outfit"/>
              </a:rPr>
              <a:t>Intervention</a:t>
            </a:r>
          </a:p>
          <a:p>
            <a:pPr algn="ctr"/>
            <a:r>
              <a:rPr sz="1200" b="1">
                <a:solidFill>
                  <a:srgbClr val="FFFFFF"/>
                </a:solidFill>
                <a:latin typeface="Outfit"/>
              </a:rPr>
              <a:t>availability</a:t>
            </a:r>
          </a:p>
        </p:txBody>
      </p:sp>
      <p:sp>
        <p:nvSpPr>
          <p:cNvPr id="33" name="Oval 32"/>
          <p:cNvSpPr/>
          <p:nvPr/>
        </p:nvSpPr>
        <p:spPr>
          <a:xfrm>
            <a:off x="548640" y="5085467"/>
            <a:ext cx="640080" cy="640080"/>
          </a:xfrm>
          <a:prstGeom prst="ellipse">
            <a:avLst/>
          </a:prstGeom>
          <a:solidFill>
            <a:srgbClr val="6B4E9C"/>
          </a:solidFill>
          <a:ln w="6350">
            <a:solidFill>
              <a:srgbClr val="6B4E9C"/>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800" b="1">
                <a:solidFill>
                  <a:srgbClr val="FFFFFF"/>
                </a:solidFill>
                <a:latin typeface="Outfit"/>
              </a:rPr>
              <a:t>R3</a:t>
            </a:r>
          </a:p>
        </p:txBody>
      </p:sp>
      <p:sp>
        <p:nvSpPr>
          <p:cNvPr id="34" name="TextBox 33"/>
          <p:cNvSpPr txBox="1"/>
          <p:nvPr/>
        </p:nvSpPr>
        <p:spPr>
          <a:xfrm>
            <a:off x="2202" y="4867390"/>
            <a:ext cx="1280160" cy="240066"/>
          </a:xfrm>
          <a:prstGeom prst="rect">
            <a:avLst/>
          </a:prstGeom>
          <a:noFill/>
        </p:spPr>
        <p:txBody>
          <a:bodyPr wrap="square" lIns="45720" tIns="27432" rIns="45720" bIns="27432" anchor="t">
            <a:spAutoFit/>
          </a:bodyPr>
          <a:lstStyle/>
          <a:p>
            <a:pPr algn="ctr"/>
            <a:r>
              <a:rPr sz="1200" b="1" i="1" dirty="0">
                <a:solidFill>
                  <a:srgbClr val="6B4E9C"/>
                </a:solidFill>
                <a:latin typeface="Outfit"/>
              </a:rPr>
              <a:t>1°/2° Inertia</a:t>
            </a:r>
          </a:p>
        </p:txBody>
      </p:sp>
      <p:cxnSp>
        <p:nvCxnSpPr>
          <p:cNvPr id="35" name="Connector 34"/>
          <p:cNvCxnSpPr>
            <a:cxnSpLocks/>
            <a:stCxn id="30" idx="3"/>
            <a:endCxn id="31" idx="0"/>
          </p:cNvCxnSpPr>
          <p:nvPr/>
        </p:nvCxnSpPr>
        <p:spPr>
          <a:xfrm>
            <a:off x="3111161" y="4799900"/>
            <a:ext cx="1162305" cy="153293"/>
          </a:xfrm>
          <a:prstGeom prst="line">
            <a:avLst/>
          </a:prstGeom>
          <a:ln w="38100" cap="flat">
            <a:solidFill>
              <a:srgbClr val="00B050"/>
            </a:solidFill>
            <a:round/>
            <a:tailEnd type="triangle" w="lg" len="lg"/>
          </a:ln>
        </p:spPr>
        <p:style>
          <a:lnRef idx="2">
            <a:schemeClr val="accent1"/>
          </a:lnRef>
          <a:fillRef idx="0">
            <a:schemeClr val="accent1"/>
          </a:fillRef>
          <a:effectRef idx="1">
            <a:schemeClr val="accent1"/>
          </a:effectRef>
          <a:fontRef idx="minor">
            <a:schemeClr val="tx1"/>
          </a:fontRef>
        </p:style>
      </p:cxnSp>
      <p:cxnSp>
        <p:nvCxnSpPr>
          <p:cNvPr id="36" name="Connector 35"/>
          <p:cNvCxnSpPr>
            <a:cxnSpLocks/>
            <a:stCxn id="31" idx="2"/>
            <a:endCxn id="32" idx="3"/>
          </p:cNvCxnSpPr>
          <p:nvPr/>
        </p:nvCxnSpPr>
        <p:spPr>
          <a:xfrm flipH="1">
            <a:off x="3133174" y="5593273"/>
            <a:ext cx="1140292" cy="337543"/>
          </a:xfrm>
          <a:prstGeom prst="line">
            <a:avLst/>
          </a:prstGeom>
          <a:ln w="38100" cap="flat">
            <a:solidFill>
              <a:srgbClr val="00B050"/>
            </a:solidFill>
            <a:round/>
            <a:tailEnd type="triangle" w="lg" len="lg"/>
          </a:ln>
        </p:spPr>
        <p:style>
          <a:lnRef idx="2">
            <a:schemeClr val="accent1"/>
          </a:lnRef>
          <a:fillRef idx="0">
            <a:schemeClr val="accent1"/>
          </a:fillRef>
          <a:effectRef idx="1">
            <a:schemeClr val="accent1"/>
          </a:effectRef>
          <a:fontRef idx="minor">
            <a:schemeClr val="tx1"/>
          </a:fontRef>
        </p:style>
      </p:cxnSp>
      <p:cxnSp>
        <p:nvCxnSpPr>
          <p:cNvPr id="37" name="Connector 36"/>
          <p:cNvCxnSpPr>
            <a:cxnSpLocks/>
            <a:stCxn id="32" idx="0"/>
            <a:endCxn id="30" idx="2"/>
          </p:cNvCxnSpPr>
          <p:nvPr/>
        </p:nvCxnSpPr>
        <p:spPr>
          <a:xfrm flipH="1" flipV="1">
            <a:off x="2196761" y="5119940"/>
            <a:ext cx="22013" cy="490836"/>
          </a:xfrm>
          <a:prstGeom prst="line">
            <a:avLst/>
          </a:prstGeom>
          <a:ln w="38100" cap="flat">
            <a:solidFill>
              <a:srgbClr val="00B050"/>
            </a:solidFill>
            <a:round/>
            <a:tailEnd type="triangle" w="lg" len="lg"/>
          </a:ln>
        </p:spPr>
        <p:style>
          <a:lnRef idx="2">
            <a:schemeClr val="accent1"/>
          </a:lnRef>
          <a:fillRef idx="0">
            <a:schemeClr val="accent1"/>
          </a:fillRef>
          <a:effectRef idx="1">
            <a:schemeClr val="accent1"/>
          </a:effectRef>
          <a:fontRef idx="minor">
            <a:schemeClr val="tx1"/>
          </a:fontRef>
        </p:style>
      </p:cxnSp>
      <p:cxnSp>
        <p:nvCxnSpPr>
          <p:cNvPr id="38" name="Connector 37"/>
          <p:cNvCxnSpPr>
            <a:cxnSpLocks/>
            <a:stCxn id="31" idx="3"/>
            <a:endCxn id="9" idx="1"/>
          </p:cNvCxnSpPr>
          <p:nvPr/>
        </p:nvCxnSpPr>
        <p:spPr>
          <a:xfrm flipV="1">
            <a:off x="5187866" y="4142232"/>
            <a:ext cx="1445767" cy="1131001"/>
          </a:xfrm>
          <a:prstGeom prst="line">
            <a:avLst/>
          </a:prstGeom>
          <a:ln w="38100" cap="flat">
            <a:solidFill>
              <a:srgbClr val="00B050"/>
            </a:solidFill>
            <a:round/>
            <a:tailEnd type="triangle" w="lg" len="lg"/>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9031896" y="4445387"/>
            <a:ext cx="1828800" cy="640080"/>
          </a:xfrm>
          <a:prstGeom prst="roundRect">
            <a:avLst>
              <a:gd name="adj" fmla="val 20000"/>
            </a:avLst>
          </a:prstGeom>
          <a:solidFill>
            <a:srgbClr val="B8860B"/>
          </a:solidFill>
          <a:ln w="15875">
            <a:solidFill>
              <a:srgbClr val="B8860B"/>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200" b="1" dirty="0">
                <a:solidFill>
                  <a:srgbClr val="FFFFFF"/>
                </a:solidFill>
                <a:latin typeface="Outfit"/>
              </a:rPr>
              <a:t>Hepatology MASLD</a:t>
            </a:r>
          </a:p>
          <a:p>
            <a:pPr algn="ctr"/>
            <a:r>
              <a:rPr sz="1200" b="1" dirty="0">
                <a:solidFill>
                  <a:srgbClr val="FFFFFF"/>
                </a:solidFill>
                <a:latin typeface="Outfit"/>
              </a:rPr>
              <a:t>engagement</a:t>
            </a:r>
          </a:p>
        </p:txBody>
      </p:sp>
      <p:sp>
        <p:nvSpPr>
          <p:cNvPr id="40" name="Rounded Rectangle 39"/>
          <p:cNvSpPr/>
          <p:nvPr/>
        </p:nvSpPr>
        <p:spPr>
          <a:xfrm>
            <a:off x="6809396" y="4919043"/>
            <a:ext cx="1828800" cy="640080"/>
          </a:xfrm>
          <a:prstGeom prst="roundRect">
            <a:avLst>
              <a:gd name="adj" fmla="val 20000"/>
            </a:avLst>
          </a:prstGeom>
          <a:solidFill>
            <a:srgbClr val="B8860B"/>
          </a:solidFill>
          <a:ln w="15875">
            <a:solidFill>
              <a:srgbClr val="B8860B"/>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200" b="1">
                <a:solidFill>
                  <a:srgbClr val="FFFFFF"/>
                </a:solidFill>
                <a:latin typeface="Outfit"/>
              </a:rPr>
              <a:t>HBV/HCV</a:t>
            </a:r>
          </a:p>
          <a:p>
            <a:pPr algn="ctr"/>
            <a:r>
              <a:rPr sz="1200" b="1">
                <a:solidFill>
                  <a:srgbClr val="FFFFFF"/>
                </a:solidFill>
                <a:latin typeface="Outfit"/>
              </a:rPr>
              <a:t>legacy focus</a:t>
            </a:r>
          </a:p>
        </p:txBody>
      </p:sp>
      <p:sp>
        <p:nvSpPr>
          <p:cNvPr id="41" name="Rounded Rectangle 40"/>
          <p:cNvSpPr/>
          <p:nvPr/>
        </p:nvSpPr>
        <p:spPr>
          <a:xfrm>
            <a:off x="9074229" y="5524518"/>
            <a:ext cx="1828800" cy="640080"/>
          </a:xfrm>
          <a:prstGeom prst="roundRect">
            <a:avLst>
              <a:gd name="adj" fmla="val 20000"/>
            </a:avLst>
          </a:prstGeom>
          <a:solidFill>
            <a:srgbClr val="B8860B"/>
          </a:solidFill>
          <a:ln w="15875">
            <a:solidFill>
              <a:srgbClr val="B8860B"/>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200" b="1">
                <a:solidFill>
                  <a:srgbClr val="FFFFFF"/>
                </a:solidFill>
                <a:latin typeface="Outfit"/>
              </a:rPr>
              <a:t>Society MASLD</a:t>
            </a:r>
          </a:p>
          <a:p>
            <a:pPr algn="ctr"/>
            <a:r>
              <a:rPr sz="1200" b="1">
                <a:solidFill>
                  <a:srgbClr val="FFFFFF"/>
                </a:solidFill>
                <a:latin typeface="Outfit"/>
              </a:rPr>
              <a:t>prioritization</a:t>
            </a:r>
          </a:p>
        </p:txBody>
      </p:sp>
      <p:sp>
        <p:nvSpPr>
          <p:cNvPr id="42" name="Oval 41"/>
          <p:cNvSpPr/>
          <p:nvPr/>
        </p:nvSpPr>
        <p:spPr>
          <a:xfrm>
            <a:off x="10972800" y="5085467"/>
            <a:ext cx="640080" cy="640080"/>
          </a:xfrm>
          <a:prstGeom prst="ellipse">
            <a:avLst/>
          </a:prstGeom>
          <a:solidFill>
            <a:srgbClr val="B8860B"/>
          </a:solidFill>
          <a:ln w="6350">
            <a:solidFill>
              <a:srgbClr val="B8860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800" b="1">
                <a:solidFill>
                  <a:srgbClr val="FFFFFF"/>
                </a:solidFill>
                <a:latin typeface="Outfit"/>
              </a:rPr>
              <a:t>R4</a:t>
            </a:r>
          </a:p>
        </p:txBody>
      </p:sp>
      <p:sp>
        <p:nvSpPr>
          <p:cNvPr id="43" name="TextBox 42"/>
          <p:cNvSpPr txBox="1"/>
          <p:nvPr/>
        </p:nvSpPr>
        <p:spPr>
          <a:xfrm>
            <a:off x="10881360" y="4833160"/>
            <a:ext cx="1280160" cy="240066"/>
          </a:xfrm>
          <a:prstGeom prst="rect">
            <a:avLst/>
          </a:prstGeom>
          <a:noFill/>
        </p:spPr>
        <p:txBody>
          <a:bodyPr wrap="square" lIns="45720" tIns="27432" rIns="45720" bIns="27432" anchor="t">
            <a:spAutoFit/>
          </a:bodyPr>
          <a:lstStyle/>
          <a:p>
            <a:pPr algn="ctr"/>
            <a:r>
              <a:rPr sz="1200" b="1" i="1" dirty="0">
                <a:solidFill>
                  <a:srgbClr val="B8860B"/>
                </a:solidFill>
                <a:latin typeface="Outfit"/>
              </a:rPr>
              <a:t>Tertiary Bias</a:t>
            </a:r>
          </a:p>
        </p:txBody>
      </p:sp>
      <p:cxnSp>
        <p:nvCxnSpPr>
          <p:cNvPr id="44" name="Connector 43"/>
          <p:cNvCxnSpPr>
            <a:cxnSpLocks/>
            <a:stCxn id="40" idx="3"/>
            <a:endCxn id="39" idx="1"/>
          </p:cNvCxnSpPr>
          <p:nvPr/>
        </p:nvCxnSpPr>
        <p:spPr>
          <a:xfrm flipV="1">
            <a:off x="8638196" y="4765427"/>
            <a:ext cx="393700" cy="473656"/>
          </a:xfrm>
          <a:prstGeom prst="line">
            <a:avLst/>
          </a:prstGeom>
          <a:ln w="38100" cap="flat">
            <a:solidFill>
              <a:srgbClr val="C83737"/>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cxnSp>
        <p:nvCxnSpPr>
          <p:cNvPr id="45" name="Connector 44"/>
          <p:cNvCxnSpPr>
            <a:cxnSpLocks/>
            <a:stCxn id="39" idx="2"/>
            <a:endCxn id="41" idx="0"/>
          </p:cNvCxnSpPr>
          <p:nvPr/>
        </p:nvCxnSpPr>
        <p:spPr>
          <a:xfrm>
            <a:off x="9946296" y="5085467"/>
            <a:ext cx="42333" cy="439051"/>
          </a:xfrm>
          <a:prstGeom prst="line">
            <a:avLst/>
          </a:prstGeom>
          <a:ln w="38100" cap="flat">
            <a:solidFill>
              <a:srgbClr val="00B050"/>
            </a:solidFill>
            <a:round/>
            <a:tailEnd type="triangle" w="lg" len="lg"/>
          </a:ln>
        </p:spPr>
        <p:style>
          <a:lnRef idx="2">
            <a:schemeClr val="accent1"/>
          </a:lnRef>
          <a:fillRef idx="0">
            <a:schemeClr val="accent1"/>
          </a:fillRef>
          <a:effectRef idx="1">
            <a:schemeClr val="accent1"/>
          </a:effectRef>
          <a:fontRef idx="minor">
            <a:schemeClr val="tx1"/>
          </a:fontRef>
        </p:style>
      </p:cxnSp>
      <p:cxnSp>
        <p:nvCxnSpPr>
          <p:cNvPr id="46" name="Connector 45"/>
          <p:cNvCxnSpPr>
            <a:cxnSpLocks/>
            <a:stCxn id="41" idx="1"/>
            <a:endCxn id="40" idx="3"/>
          </p:cNvCxnSpPr>
          <p:nvPr/>
        </p:nvCxnSpPr>
        <p:spPr>
          <a:xfrm flipH="1" flipV="1">
            <a:off x="8638196" y="5239083"/>
            <a:ext cx="436033" cy="605475"/>
          </a:xfrm>
          <a:prstGeom prst="line">
            <a:avLst/>
          </a:prstGeom>
          <a:ln w="38100" cap="flat">
            <a:solidFill>
              <a:srgbClr val="C83737"/>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cxnSp>
        <p:nvCxnSpPr>
          <p:cNvPr id="47" name="Connector 46"/>
          <p:cNvCxnSpPr>
            <a:cxnSpLocks/>
            <a:stCxn id="40" idx="0"/>
            <a:endCxn id="9" idx="2"/>
          </p:cNvCxnSpPr>
          <p:nvPr/>
        </p:nvCxnSpPr>
        <p:spPr>
          <a:xfrm flipH="1" flipV="1">
            <a:off x="7548033" y="4462272"/>
            <a:ext cx="175763" cy="456771"/>
          </a:xfrm>
          <a:prstGeom prst="line">
            <a:avLst/>
          </a:prstGeom>
          <a:ln w="38100" cap="flat">
            <a:solidFill>
              <a:srgbClr val="00B050"/>
            </a:solidFill>
            <a:round/>
            <a:tailEnd type="triangle" w="lg" len="lg"/>
          </a:ln>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548640" y="6319907"/>
            <a:ext cx="164592" cy="164592"/>
          </a:xfrm>
          <a:prstGeom prst="rect">
            <a:avLst/>
          </a:prstGeom>
          <a:solidFill>
            <a:srgbClr val="D640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9" name="TextBox 48"/>
          <p:cNvSpPr txBox="1"/>
          <p:nvPr/>
        </p:nvSpPr>
        <p:spPr>
          <a:xfrm>
            <a:off x="749808" y="6301619"/>
            <a:ext cx="1828800" cy="240066"/>
          </a:xfrm>
          <a:prstGeom prst="rect">
            <a:avLst/>
          </a:prstGeom>
          <a:noFill/>
        </p:spPr>
        <p:txBody>
          <a:bodyPr wrap="square" lIns="45720" tIns="27432" rIns="45720" bIns="27432" anchor="t">
            <a:spAutoFit/>
          </a:bodyPr>
          <a:lstStyle/>
          <a:p>
            <a:pPr algn="l"/>
            <a:r>
              <a:rPr sz="1200" b="0" i="0">
                <a:solidFill>
                  <a:srgbClr val="002D72"/>
                </a:solidFill>
                <a:latin typeface="Outfit"/>
              </a:rPr>
              <a:t>R1 Awareness Trap</a:t>
            </a:r>
          </a:p>
        </p:txBody>
      </p:sp>
      <p:sp>
        <p:nvSpPr>
          <p:cNvPr id="50" name="Rectangle 49"/>
          <p:cNvSpPr/>
          <p:nvPr/>
        </p:nvSpPr>
        <p:spPr>
          <a:xfrm>
            <a:off x="2423159" y="6319907"/>
            <a:ext cx="164592" cy="164592"/>
          </a:xfrm>
          <a:prstGeom prst="rect">
            <a:avLst/>
          </a:prstGeom>
          <a:solidFill>
            <a:srgbClr val="1C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1" name="TextBox 50"/>
          <p:cNvSpPr txBox="1"/>
          <p:nvPr/>
        </p:nvSpPr>
        <p:spPr>
          <a:xfrm>
            <a:off x="2624327" y="6301619"/>
            <a:ext cx="1828800" cy="240066"/>
          </a:xfrm>
          <a:prstGeom prst="rect">
            <a:avLst/>
          </a:prstGeom>
          <a:noFill/>
        </p:spPr>
        <p:txBody>
          <a:bodyPr wrap="square" lIns="45720" tIns="27432" rIns="45720" bIns="27432" anchor="t">
            <a:spAutoFit/>
          </a:bodyPr>
          <a:lstStyle/>
          <a:p>
            <a:pPr algn="l"/>
            <a:r>
              <a:rPr sz="1200" b="0" i="0">
                <a:solidFill>
                  <a:srgbClr val="002D72"/>
                </a:solidFill>
                <a:latin typeface="Outfit"/>
              </a:rPr>
              <a:t>R2 Screening Loss</a:t>
            </a:r>
          </a:p>
        </p:txBody>
      </p:sp>
      <p:sp>
        <p:nvSpPr>
          <p:cNvPr id="52" name="Rectangle 51"/>
          <p:cNvSpPr/>
          <p:nvPr/>
        </p:nvSpPr>
        <p:spPr>
          <a:xfrm>
            <a:off x="4297678" y="6319907"/>
            <a:ext cx="164592" cy="164592"/>
          </a:xfrm>
          <a:prstGeom prst="rect">
            <a:avLst/>
          </a:prstGeom>
          <a:solidFill>
            <a:srgbClr val="6B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3" name="TextBox 52"/>
          <p:cNvSpPr txBox="1"/>
          <p:nvPr/>
        </p:nvSpPr>
        <p:spPr>
          <a:xfrm>
            <a:off x="4498846" y="6301619"/>
            <a:ext cx="1828800" cy="240066"/>
          </a:xfrm>
          <a:prstGeom prst="rect">
            <a:avLst/>
          </a:prstGeom>
          <a:noFill/>
        </p:spPr>
        <p:txBody>
          <a:bodyPr wrap="square" lIns="45720" tIns="27432" rIns="45720" bIns="27432" anchor="t">
            <a:spAutoFit/>
          </a:bodyPr>
          <a:lstStyle/>
          <a:p>
            <a:pPr algn="l"/>
            <a:r>
              <a:rPr sz="1200" b="0" i="0">
                <a:solidFill>
                  <a:srgbClr val="002D72"/>
                </a:solidFill>
                <a:latin typeface="Outfit"/>
              </a:rPr>
              <a:t>R3 1°/2° Inertia</a:t>
            </a:r>
          </a:p>
        </p:txBody>
      </p:sp>
      <p:sp>
        <p:nvSpPr>
          <p:cNvPr id="54" name="Rectangle 53"/>
          <p:cNvSpPr/>
          <p:nvPr/>
        </p:nvSpPr>
        <p:spPr>
          <a:xfrm>
            <a:off x="6172197" y="6319907"/>
            <a:ext cx="164592" cy="164592"/>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5" name="TextBox 54"/>
          <p:cNvSpPr txBox="1"/>
          <p:nvPr/>
        </p:nvSpPr>
        <p:spPr>
          <a:xfrm>
            <a:off x="6373365" y="6301619"/>
            <a:ext cx="1828800" cy="240066"/>
          </a:xfrm>
          <a:prstGeom prst="rect">
            <a:avLst/>
          </a:prstGeom>
          <a:noFill/>
        </p:spPr>
        <p:txBody>
          <a:bodyPr wrap="square" lIns="45720" tIns="27432" rIns="45720" bIns="27432" anchor="t">
            <a:spAutoFit/>
          </a:bodyPr>
          <a:lstStyle/>
          <a:p>
            <a:pPr algn="l"/>
            <a:r>
              <a:rPr sz="1200" b="0" i="0">
                <a:solidFill>
                  <a:srgbClr val="002D72"/>
                </a:solidFill>
                <a:latin typeface="Outfit"/>
              </a:rPr>
              <a:t>R4 Tertiary Bias</a:t>
            </a:r>
          </a:p>
        </p:txBody>
      </p:sp>
      <p:sp>
        <p:nvSpPr>
          <p:cNvPr id="56" name="Rectangle 55"/>
          <p:cNvSpPr/>
          <p:nvPr/>
        </p:nvSpPr>
        <p:spPr>
          <a:xfrm>
            <a:off x="8046716" y="6319907"/>
            <a:ext cx="164592" cy="164592"/>
          </a:xfrm>
          <a:prstGeom prst="rect">
            <a:avLst/>
          </a:prstGeom>
          <a:solidFill>
            <a:srgbClr val="002D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7" name="TextBox 56"/>
          <p:cNvSpPr txBox="1"/>
          <p:nvPr/>
        </p:nvSpPr>
        <p:spPr>
          <a:xfrm>
            <a:off x="8247884" y="6301619"/>
            <a:ext cx="1828800" cy="240066"/>
          </a:xfrm>
          <a:prstGeom prst="rect">
            <a:avLst/>
          </a:prstGeom>
          <a:noFill/>
        </p:spPr>
        <p:txBody>
          <a:bodyPr wrap="square" lIns="45720" tIns="27432" rIns="45720" bIns="27432" anchor="t">
            <a:spAutoFit/>
          </a:bodyPr>
          <a:lstStyle/>
          <a:p>
            <a:pPr algn="l"/>
            <a:r>
              <a:rPr sz="1200" b="0" i="0">
                <a:solidFill>
                  <a:srgbClr val="002D72"/>
                </a:solidFill>
                <a:latin typeface="Outfit"/>
              </a:rPr>
              <a:t>Shared variable</a:t>
            </a:r>
          </a:p>
        </p:txBody>
      </p:sp>
      <p:sp>
        <p:nvSpPr>
          <p:cNvPr id="58" name="Rectangle 57"/>
          <p:cNvSpPr/>
          <p:nvPr/>
        </p:nvSpPr>
        <p:spPr>
          <a:xfrm>
            <a:off x="9921235" y="6319907"/>
            <a:ext cx="164592" cy="164592"/>
          </a:xfrm>
          <a:prstGeom prst="rect">
            <a:avLst/>
          </a:prstGeom>
          <a:solidFill>
            <a:srgbClr val="C83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9" name="TextBox 58"/>
          <p:cNvSpPr txBox="1"/>
          <p:nvPr/>
        </p:nvSpPr>
        <p:spPr>
          <a:xfrm>
            <a:off x="10122403" y="6301619"/>
            <a:ext cx="1828800" cy="240066"/>
          </a:xfrm>
          <a:prstGeom prst="rect">
            <a:avLst/>
          </a:prstGeom>
          <a:noFill/>
        </p:spPr>
        <p:txBody>
          <a:bodyPr wrap="square" lIns="45720" tIns="27432" rIns="45720" bIns="27432" anchor="t">
            <a:spAutoFit/>
          </a:bodyPr>
          <a:lstStyle/>
          <a:p>
            <a:pPr algn="l"/>
            <a:r>
              <a:rPr sz="1200" b="0" i="0">
                <a:solidFill>
                  <a:srgbClr val="002D72"/>
                </a:solidFill>
                <a:latin typeface="Outfit"/>
              </a:rPr>
              <a:t>Negative (dashed)</a:t>
            </a:r>
          </a:p>
        </p:txBody>
      </p:sp>
      <p:sp>
        <p:nvSpPr>
          <p:cNvPr id="60" name="Rectangle 59"/>
          <p:cNvSpPr/>
          <p:nvPr/>
        </p:nvSpPr>
        <p:spPr>
          <a:xfrm>
            <a:off x="502920" y="6592448"/>
            <a:ext cx="11155680" cy="76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1" name="TextBox 60"/>
          <p:cNvSpPr txBox="1"/>
          <p:nvPr/>
        </p:nvSpPr>
        <p:spPr>
          <a:xfrm>
            <a:off x="502920" y="6601968"/>
            <a:ext cx="7315200" cy="228600"/>
          </a:xfrm>
          <a:prstGeom prst="rect">
            <a:avLst/>
          </a:prstGeom>
          <a:noFill/>
        </p:spPr>
        <p:txBody>
          <a:bodyPr wrap="square" lIns="45720" tIns="27432" rIns="45720" bIns="27432" anchor="t">
            <a:spAutoFit/>
          </a:bodyPr>
          <a:lstStyle/>
          <a:p>
            <a:pPr algn="l"/>
            <a:r>
              <a:rPr sz="800" b="0" i="0">
                <a:solidFill>
                  <a:srgbClr val="898885"/>
                </a:solidFill>
                <a:latin typeface="Outfit"/>
              </a:rPr>
              <a:t>Korea MASLD/MASH Ecosystem Blueprint  |  Johns Hopkins Bloomberg SPH  ·  MPH Practicum</a:t>
            </a:r>
          </a:p>
        </p:txBody>
      </p:sp>
      <p:sp>
        <p:nvSpPr>
          <p:cNvPr id="62" name="TextBox 61"/>
          <p:cNvSpPr txBox="1"/>
          <p:nvPr/>
        </p:nvSpPr>
        <p:spPr>
          <a:xfrm>
            <a:off x="7315200" y="6601968"/>
            <a:ext cx="4572000" cy="178510"/>
          </a:xfrm>
          <a:prstGeom prst="rect">
            <a:avLst/>
          </a:prstGeom>
          <a:noFill/>
        </p:spPr>
        <p:txBody>
          <a:bodyPr wrap="square" lIns="45720" tIns="27432" rIns="45720" bIns="27432" anchor="t">
            <a:spAutoFit/>
          </a:bodyPr>
          <a:lstStyle/>
          <a:p>
            <a:pPr algn="r"/>
            <a:r>
              <a:rPr sz="800" b="0" i="0" dirty="0">
                <a:solidFill>
                  <a:srgbClr val="898885"/>
                </a:solidFill>
                <a:latin typeface="Outfit"/>
              </a:rPr>
              <a:t>Medical Affairs, Boehringer Ingelheim Korea  | </a:t>
            </a:r>
            <a:r>
              <a:rPr lang="en-US" sz="800" b="0" i="0" dirty="0">
                <a:solidFill>
                  <a:srgbClr val="898885"/>
                </a:solidFill>
                <a:latin typeface="Outfit"/>
              </a:rPr>
              <a:t> Apr 2026</a:t>
            </a:r>
            <a:endParaRPr sz="800" b="0" i="0" dirty="0">
              <a:solidFill>
                <a:srgbClr val="898885"/>
              </a:solidFill>
              <a:latin typeface="Outfit"/>
            </a:endParaRPr>
          </a:p>
        </p:txBody>
      </p:sp>
      <p:cxnSp>
        <p:nvCxnSpPr>
          <p:cNvPr id="203" name="Connector 27">
            <a:extLst>
              <a:ext uri="{FF2B5EF4-FFF2-40B4-BE49-F238E27FC236}">
                <a16:creationId xmlns:a16="http://schemas.microsoft.com/office/drawing/2014/main" id="{9EF0A962-C836-064E-E2C0-0E4530B0D676}"/>
              </a:ext>
            </a:extLst>
          </p:cNvPr>
          <p:cNvCxnSpPr>
            <a:cxnSpLocks/>
            <a:stCxn id="8" idx="3"/>
            <a:endCxn id="9" idx="1"/>
          </p:cNvCxnSpPr>
          <p:nvPr/>
        </p:nvCxnSpPr>
        <p:spPr>
          <a:xfrm flipV="1">
            <a:off x="5719233" y="4142232"/>
            <a:ext cx="914400" cy="59678"/>
          </a:xfrm>
          <a:prstGeom prst="line">
            <a:avLst/>
          </a:prstGeom>
          <a:ln w="31750" cap="flat">
            <a:solidFill>
              <a:srgbClr val="00B050"/>
            </a:solidFill>
            <a:round/>
            <a:tailEnd type="triangle" w="lg" len="lg"/>
          </a:ln>
        </p:spPr>
        <p:style>
          <a:lnRef idx="2">
            <a:schemeClr val="accent1"/>
          </a:lnRef>
          <a:fillRef idx="0">
            <a:schemeClr val="accent1"/>
          </a:fillRef>
          <a:effectRef idx="1">
            <a:schemeClr val="accent1"/>
          </a:effectRef>
          <a:fontRef idx="minor">
            <a:schemeClr val="tx1"/>
          </a:fontRef>
        </p:style>
      </p:cxnSp>
      <p:cxnSp>
        <p:nvCxnSpPr>
          <p:cNvPr id="206" name="Connector 28">
            <a:extLst>
              <a:ext uri="{FF2B5EF4-FFF2-40B4-BE49-F238E27FC236}">
                <a16:creationId xmlns:a16="http://schemas.microsoft.com/office/drawing/2014/main" id="{820665D2-5ABA-FD5B-31F8-5E8B5F43D723}"/>
              </a:ext>
            </a:extLst>
          </p:cNvPr>
          <p:cNvCxnSpPr>
            <a:cxnSpLocks/>
            <a:stCxn id="39" idx="0"/>
            <a:endCxn id="9" idx="3"/>
          </p:cNvCxnSpPr>
          <p:nvPr/>
        </p:nvCxnSpPr>
        <p:spPr>
          <a:xfrm flipH="1" flipV="1">
            <a:off x="8462433" y="4142232"/>
            <a:ext cx="1483863" cy="303155"/>
          </a:xfrm>
          <a:prstGeom prst="line">
            <a:avLst/>
          </a:prstGeom>
          <a:ln w="31750" cap="flat">
            <a:solidFill>
              <a:srgbClr val="00B050"/>
            </a:solidFill>
            <a:round/>
            <a:tailEnd type="triangle" w="lg" len="lg"/>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002D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9144000" cy="320040"/>
          </a:xfrm>
          <a:prstGeom prst="rect">
            <a:avLst/>
          </a:prstGeom>
          <a:noFill/>
        </p:spPr>
        <p:txBody>
          <a:bodyPr wrap="square" lIns="45720" tIns="27432" rIns="45720" bIns="27432" anchor="t">
            <a:spAutoFit/>
          </a:bodyPr>
          <a:lstStyle/>
          <a:p>
            <a:pPr algn="l"/>
            <a:r>
              <a:rPr sz="1000" b="1" i="0">
                <a:solidFill>
                  <a:srgbClr val="68ACE5"/>
                </a:solidFill>
                <a:latin typeface="Outfit"/>
              </a:rPr>
              <a:t>INTERVENTION · LEVERAGE</a:t>
            </a:r>
          </a:p>
        </p:txBody>
      </p:sp>
      <p:sp>
        <p:nvSpPr>
          <p:cNvPr id="4" name="TextBox 3"/>
          <p:cNvSpPr txBox="1"/>
          <p:nvPr/>
        </p:nvSpPr>
        <p:spPr>
          <a:xfrm>
            <a:off x="502920" y="457200"/>
            <a:ext cx="10515600" cy="548640"/>
          </a:xfrm>
          <a:prstGeom prst="rect">
            <a:avLst/>
          </a:prstGeom>
          <a:noFill/>
        </p:spPr>
        <p:txBody>
          <a:bodyPr wrap="square" lIns="45720" tIns="27432" rIns="45720" bIns="27432" anchor="t">
            <a:spAutoFit/>
          </a:bodyPr>
          <a:lstStyle/>
          <a:p>
            <a:pPr algn="l"/>
            <a:r>
              <a:rPr sz="2400" b="1" i="0">
                <a:solidFill>
                  <a:srgbClr val="FFFFFF"/>
                </a:solidFill>
                <a:latin typeface="Outfit"/>
              </a:rPr>
              <a:t>Where each loop can be broken</a:t>
            </a:r>
          </a:p>
        </p:txBody>
      </p:sp>
      <p:sp>
        <p:nvSpPr>
          <p:cNvPr id="5" name="TextBox 4"/>
          <p:cNvSpPr txBox="1"/>
          <p:nvPr/>
        </p:nvSpPr>
        <p:spPr>
          <a:xfrm>
            <a:off x="11338560" y="256032"/>
            <a:ext cx="640080" cy="224677"/>
          </a:xfrm>
          <a:prstGeom prst="rect">
            <a:avLst/>
          </a:prstGeom>
          <a:noFill/>
        </p:spPr>
        <p:txBody>
          <a:bodyPr wrap="square" lIns="45720" tIns="27432" rIns="45720" bIns="27432" anchor="t">
            <a:spAutoFit/>
          </a:bodyPr>
          <a:lstStyle/>
          <a:p>
            <a:pPr algn="r"/>
            <a:r>
              <a:rPr lang="en-US" sz="1100" b="1" i="0" dirty="0">
                <a:solidFill>
                  <a:srgbClr val="68ACE5"/>
                </a:solidFill>
                <a:latin typeface="Outfit"/>
              </a:rPr>
              <a:t>12</a:t>
            </a:r>
            <a:endParaRPr sz="1100" b="1" i="0" dirty="0">
              <a:solidFill>
                <a:srgbClr val="68ACE5"/>
              </a:solidFill>
              <a:latin typeface="Outfit"/>
            </a:endParaRPr>
          </a:p>
        </p:txBody>
      </p:sp>
      <p:sp>
        <p:nvSpPr>
          <p:cNvPr id="6" name="Rectangle 5"/>
          <p:cNvSpPr/>
          <p:nvPr/>
        </p:nvSpPr>
        <p:spPr>
          <a:xfrm>
            <a:off x="502920" y="1234440"/>
            <a:ext cx="11155680" cy="457200"/>
          </a:xfrm>
          <a:prstGeom prst="rect">
            <a:avLst/>
          </a:prstGeom>
          <a:solidFill>
            <a:srgbClr val="002D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 name="TextBox 6"/>
          <p:cNvSpPr txBox="1"/>
          <p:nvPr/>
        </p:nvSpPr>
        <p:spPr>
          <a:xfrm>
            <a:off x="594360" y="1289304"/>
            <a:ext cx="1463040" cy="424732"/>
          </a:xfrm>
          <a:prstGeom prst="rect">
            <a:avLst/>
          </a:prstGeom>
          <a:noFill/>
        </p:spPr>
        <p:txBody>
          <a:bodyPr wrap="square" lIns="45720" tIns="27432" rIns="45720" bIns="27432" anchor="t">
            <a:spAutoFit/>
          </a:bodyPr>
          <a:lstStyle/>
          <a:p>
            <a:pPr algn="l"/>
            <a:r>
              <a:rPr sz="2400" b="1" i="0" dirty="0">
                <a:solidFill>
                  <a:srgbClr val="68ACE5"/>
                </a:solidFill>
                <a:latin typeface="Outfit"/>
              </a:rPr>
              <a:t>Loop</a:t>
            </a:r>
          </a:p>
        </p:txBody>
      </p:sp>
      <p:sp>
        <p:nvSpPr>
          <p:cNvPr id="8" name="TextBox 7"/>
          <p:cNvSpPr txBox="1"/>
          <p:nvPr/>
        </p:nvSpPr>
        <p:spPr>
          <a:xfrm>
            <a:off x="2103120" y="1289058"/>
            <a:ext cx="3063240" cy="424732"/>
          </a:xfrm>
          <a:prstGeom prst="rect">
            <a:avLst/>
          </a:prstGeom>
          <a:noFill/>
        </p:spPr>
        <p:txBody>
          <a:bodyPr wrap="square" lIns="45720" tIns="27432" rIns="45720" bIns="27432" anchor="t">
            <a:spAutoFit/>
          </a:bodyPr>
          <a:lstStyle/>
          <a:p>
            <a:pPr algn="l"/>
            <a:r>
              <a:rPr sz="2400" b="1" i="0">
                <a:solidFill>
                  <a:srgbClr val="68ACE5"/>
                </a:solidFill>
                <a:latin typeface="Outfit"/>
              </a:rPr>
              <a:t>Structural lock-in</a:t>
            </a:r>
          </a:p>
        </p:txBody>
      </p:sp>
      <p:sp>
        <p:nvSpPr>
          <p:cNvPr id="9" name="TextBox 8"/>
          <p:cNvSpPr txBox="1"/>
          <p:nvPr/>
        </p:nvSpPr>
        <p:spPr>
          <a:xfrm>
            <a:off x="5212080" y="1289058"/>
            <a:ext cx="3337560" cy="424732"/>
          </a:xfrm>
          <a:prstGeom prst="rect">
            <a:avLst/>
          </a:prstGeom>
          <a:noFill/>
        </p:spPr>
        <p:txBody>
          <a:bodyPr wrap="square" lIns="45720" tIns="27432" rIns="45720" bIns="27432" anchor="t">
            <a:spAutoFit/>
          </a:bodyPr>
          <a:lstStyle/>
          <a:p>
            <a:pPr algn="l"/>
            <a:r>
              <a:rPr sz="2400" b="1" i="0">
                <a:solidFill>
                  <a:srgbClr val="68ACE5"/>
                </a:solidFill>
                <a:latin typeface="Outfit"/>
              </a:rPr>
              <a:t>Leverage point</a:t>
            </a:r>
          </a:p>
        </p:txBody>
      </p:sp>
      <p:sp>
        <p:nvSpPr>
          <p:cNvPr id="10" name="TextBox 9"/>
          <p:cNvSpPr txBox="1"/>
          <p:nvPr/>
        </p:nvSpPr>
        <p:spPr>
          <a:xfrm>
            <a:off x="8595360" y="1289058"/>
            <a:ext cx="3154680" cy="424732"/>
          </a:xfrm>
          <a:prstGeom prst="rect">
            <a:avLst/>
          </a:prstGeom>
          <a:noFill/>
        </p:spPr>
        <p:txBody>
          <a:bodyPr wrap="square" lIns="45720" tIns="27432" rIns="45720" bIns="27432" anchor="t">
            <a:spAutoFit/>
          </a:bodyPr>
          <a:lstStyle/>
          <a:p>
            <a:pPr algn="l"/>
            <a:r>
              <a:rPr sz="2400" b="1" i="0" dirty="0">
                <a:solidFill>
                  <a:srgbClr val="68ACE5"/>
                </a:solidFill>
                <a:latin typeface="Outfit"/>
              </a:rPr>
              <a:t>Delivery sector</a:t>
            </a:r>
          </a:p>
        </p:txBody>
      </p:sp>
      <p:sp>
        <p:nvSpPr>
          <p:cNvPr id="11" name="Rectangle 10"/>
          <p:cNvSpPr/>
          <p:nvPr/>
        </p:nvSpPr>
        <p:spPr>
          <a:xfrm>
            <a:off x="502920" y="1737360"/>
            <a:ext cx="11155680" cy="10515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2" name="Rectangle 11"/>
          <p:cNvSpPr/>
          <p:nvPr/>
        </p:nvSpPr>
        <p:spPr>
          <a:xfrm>
            <a:off x="502920" y="1737360"/>
            <a:ext cx="137160" cy="1051560"/>
          </a:xfrm>
          <a:prstGeom prst="rect">
            <a:avLst/>
          </a:prstGeom>
          <a:solidFill>
            <a:srgbClr val="D640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3" name="TextBox 12"/>
          <p:cNvSpPr txBox="1"/>
          <p:nvPr/>
        </p:nvSpPr>
        <p:spPr>
          <a:xfrm>
            <a:off x="777240" y="1965960"/>
            <a:ext cx="1463040" cy="670953"/>
          </a:xfrm>
          <a:prstGeom prst="rect">
            <a:avLst/>
          </a:prstGeom>
          <a:noFill/>
        </p:spPr>
        <p:txBody>
          <a:bodyPr wrap="square" lIns="45720" tIns="27432" rIns="45720" bIns="27432" anchor="t">
            <a:spAutoFit/>
          </a:bodyPr>
          <a:lstStyle/>
          <a:p>
            <a:pPr algn="l"/>
            <a:r>
              <a:rPr sz="4000" b="1" i="0">
                <a:solidFill>
                  <a:srgbClr val="D64045"/>
                </a:solidFill>
                <a:latin typeface="Outfit"/>
              </a:rPr>
              <a:t>R1</a:t>
            </a:r>
          </a:p>
        </p:txBody>
      </p:sp>
      <p:sp>
        <p:nvSpPr>
          <p:cNvPr id="14" name="TextBox 13"/>
          <p:cNvSpPr txBox="1"/>
          <p:nvPr/>
        </p:nvSpPr>
        <p:spPr>
          <a:xfrm>
            <a:off x="2103120" y="1847088"/>
            <a:ext cx="3063240" cy="609398"/>
          </a:xfrm>
          <a:prstGeom prst="rect">
            <a:avLst/>
          </a:prstGeom>
          <a:noFill/>
        </p:spPr>
        <p:txBody>
          <a:bodyPr wrap="square" lIns="45720" tIns="27432" rIns="45720" bIns="27432" anchor="t">
            <a:spAutoFit/>
          </a:bodyPr>
          <a:lstStyle/>
          <a:p>
            <a:pPr algn="l"/>
            <a:r>
              <a:rPr b="0" i="0" dirty="0">
                <a:solidFill>
                  <a:srgbClr val="002D72"/>
                </a:solidFill>
                <a:latin typeface="Outfit"/>
              </a:rPr>
              <a:t>Public awareness absent → no patient pull</a:t>
            </a:r>
          </a:p>
        </p:txBody>
      </p:sp>
      <p:sp>
        <p:nvSpPr>
          <p:cNvPr id="15" name="TextBox 14"/>
          <p:cNvSpPr txBox="1"/>
          <p:nvPr/>
        </p:nvSpPr>
        <p:spPr>
          <a:xfrm>
            <a:off x="5212080" y="1847088"/>
            <a:ext cx="3337560" cy="609398"/>
          </a:xfrm>
          <a:prstGeom prst="rect">
            <a:avLst/>
          </a:prstGeom>
          <a:noFill/>
        </p:spPr>
        <p:txBody>
          <a:bodyPr wrap="square" lIns="45720" tIns="27432" rIns="45720" bIns="27432" anchor="t">
            <a:spAutoFit/>
          </a:bodyPr>
          <a:lstStyle/>
          <a:p>
            <a:pPr algn="l"/>
            <a:r>
              <a:rPr b="0" i="0">
                <a:solidFill>
                  <a:srgbClr val="002D72"/>
                </a:solidFill>
                <a:latin typeface="Outfit"/>
              </a:rPr>
              <a:t>Brand-anchored liver narrative at scale</a:t>
            </a:r>
          </a:p>
        </p:txBody>
      </p:sp>
      <p:sp>
        <p:nvSpPr>
          <p:cNvPr id="16" name="TextBox 15"/>
          <p:cNvSpPr txBox="1"/>
          <p:nvPr/>
        </p:nvSpPr>
        <p:spPr>
          <a:xfrm>
            <a:off x="8595360" y="1847088"/>
            <a:ext cx="3154680" cy="609398"/>
          </a:xfrm>
          <a:prstGeom prst="rect">
            <a:avLst/>
          </a:prstGeom>
          <a:noFill/>
        </p:spPr>
        <p:txBody>
          <a:bodyPr wrap="square" lIns="45720" tIns="27432" rIns="45720" bIns="27432" anchor="t">
            <a:spAutoFit/>
          </a:bodyPr>
          <a:lstStyle/>
          <a:p>
            <a:pPr algn="l"/>
            <a:r>
              <a:rPr b="0" i="1">
                <a:solidFill>
                  <a:srgbClr val="002D72"/>
                </a:solidFill>
                <a:latin typeface="Outfit"/>
              </a:rPr>
              <a:t>365MC (obesity clinic + media brand)</a:t>
            </a:r>
          </a:p>
        </p:txBody>
      </p:sp>
      <p:sp>
        <p:nvSpPr>
          <p:cNvPr id="17" name="Rectangle 16"/>
          <p:cNvSpPr/>
          <p:nvPr/>
        </p:nvSpPr>
        <p:spPr>
          <a:xfrm>
            <a:off x="502920" y="2834640"/>
            <a:ext cx="11155680" cy="10515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8" name="Rectangle 17"/>
          <p:cNvSpPr/>
          <p:nvPr/>
        </p:nvSpPr>
        <p:spPr>
          <a:xfrm>
            <a:off x="502920" y="2834640"/>
            <a:ext cx="137160" cy="1051560"/>
          </a:xfrm>
          <a:prstGeom prst="rect">
            <a:avLst/>
          </a:prstGeom>
          <a:solidFill>
            <a:srgbClr val="1C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9" name="TextBox 18"/>
          <p:cNvSpPr txBox="1"/>
          <p:nvPr/>
        </p:nvSpPr>
        <p:spPr>
          <a:xfrm>
            <a:off x="777240" y="3063240"/>
            <a:ext cx="1463040" cy="670953"/>
          </a:xfrm>
          <a:prstGeom prst="rect">
            <a:avLst/>
          </a:prstGeom>
          <a:noFill/>
        </p:spPr>
        <p:txBody>
          <a:bodyPr wrap="square" lIns="45720" tIns="27432" rIns="45720" bIns="27432" anchor="t">
            <a:spAutoFit/>
          </a:bodyPr>
          <a:lstStyle/>
          <a:p>
            <a:pPr algn="l"/>
            <a:r>
              <a:rPr sz="4000" b="1" i="0">
                <a:solidFill>
                  <a:srgbClr val="1C6E8C"/>
                </a:solidFill>
                <a:latin typeface="Outfit"/>
              </a:rPr>
              <a:t>R2</a:t>
            </a:r>
          </a:p>
        </p:txBody>
      </p:sp>
      <p:sp>
        <p:nvSpPr>
          <p:cNvPr id="20" name="TextBox 19"/>
          <p:cNvSpPr txBox="1"/>
          <p:nvPr/>
        </p:nvSpPr>
        <p:spPr>
          <a:xfrm>
            <a:off x="2103120" y="2944368"/>
            <a:ext cx="3063240" cy="609398"/>
          </a:xfrm>
          <a:prstGeom prst="rect">
            <a:avLst/>
          </a:prstGeom>
          <a:noFill/>
        </p:spPr>
        <p:txBody>
          <a:bodyPr wrap="square" lIns="45720" tIns="27432" rIns="45720" bIns="27432" anchor="t">
            <a:spAutoFit/>
          </a:bodyPr>
          <a:lstStyle/>
          <a:p>
            <a:pPr algn="l"/>
            <a:r>
              <a:rPr b="0" i="0">
                <a:solidFill>
                  <a:srgbClr val="002D72"/>
                </a:solidFill>
                <a:latin typeface="Outfit"/>
              </a:rPr>
              <a:t>Screening panels do not detect MASLD</a:t>
            </a:r>
          </a:p>
        </p:txBody>
      </p:sp>
      <p:sp>
        <p:nvSpPr>
          <p:cNvPr id="21" name="TextBox 20"/>
          <p:cNvSpPr txBox="1"/>
          <p:nvPr/>
        </p:nvSpPr>
        <p:spPr>
          <a:xfrm>
            <a:off x="5212080" y="2944368"/>
            <a:ext cx="3337560" cy="886397"/>
          </a:xfrm>
          <a:prstGeom prst="rect">
            <a:avLst/>
          </a:prstGeom>
          <a:noFill/>
        </p:spPr>
        <p:txBody>
          <a:bodyPr wrap="square" lIns="45720" tIns="27432" rIns="45720" bIns="27432" anchor="t">
            <a:spAutoFit/>
          </a:bodyPr>
          <a:lstStyle/>
          <a:p>
            <a:pPr algn="l"/>
            <a:r>
              <a:rPr b="0" i="0">
                <a:solidFill>
                  <a:srgbClr val="002D72"/>
                </a:solidFill>
                <a:latin typeface="Outfit"/>
              </a:rPr>
              <a:t>Compute FIB-4/HSI/FLI from existing screening data; add liver USG</a:t>
            </a:r>
          </a:p>
        </p:txBody>
      </p:sp>
      <p:sp>
        <p:nvSpPr>
          <p:cNvPr id="22" name="TextBox 21"/>
          <p:cNvSpPr txBox="1"/>
          <p:nvPr/>
        </p:nvSpPr>
        <p:spPr>
          <a:xfrm>
            <a:off x="8595360" y="2944368"/>
            <a:ext cx="3154680" cy="609398"/>
          </a:xfrm>
          <a:prstGeom prst="rect">
            <a:avLst/>
          </a:prstGeom>
          <a:noFill/>
        </p:spPr>
        <p:txBody>
          <a:bodyPr wrap="square" lIns="45720" tIns="27432" rIns="45720" bIns="27432" anchor="t">
            <a:spAutoFit/>
          </a:bodyPr>
          <a:lstStyle/>
          <a:p>
            <a:pPr algn="l"/>
            <a:r>
              <a:rPr b="0" i="1">
                <a:solidFill>
                  <a:srgbClr val="002D72"/>
                </a:solidFill>
                <a:latin typeface="Outfit"/>
              </a:rPr>
              <a:t>KMI + national screening operators</a:t>
            </a:r>
          </a:p>
        </p:txBody>
      </p:sp>
      <p:sp>
        <p:nvSpPr>
          <p:cNvPr id="23" name="Rectangle 22"/>
          <p:cNvSpPr/>
          <p:nvPr/>
        </p:nvSpPr>
        <p:spPr>
          <a:xfrm>
            <a:off x="502920" y="3931920"/>
            <a:ext cx="11155680" cy="10515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4" name="Rectangle 23"/>
          <p:cNvSpPr/>
          <p:nvPr/>
        </p:nvSpPr>
        <p:spPr>
          <a:xfrm>
            <a:off x="502920" y="3931920"/>
            <a:ext cx="137160" cy="1051560"/>
          </a:xfrm>
          <a:prstGeom prst="rect">
            <a:avLst/>
          </a:prstGeom>
          <a:solidFill>
            <a:srgbClr val="6B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777240" y="4160520"/>
            <a:ext cx="1463040" cy="670953"/>
          </a:xfrm>
          <a:prstGeom prst="rect">
            <a:avLst/>
          </a:prstGeom>
          <a:noFill/>
        </p:spPr>
        <p:txBody>
          <a:bodyPr wrap="square" lIns="45720" tIns="27432" rIns="45720" bIns="27432" anchor="t">
            <a:spAutoFit/>
          </a:bodyPr>
          <a:lstStyle/>
          <a:p>
            <a:pPr algn="l"/>
            <a:r>
              <a:rPr sz="4000" b="1" i="0">
                <a:solidFill>
                  <a:srgbClr val="6B4E9C"/>
                </a:solidFill>
                <a:latin typeface="Outfit"/>
              </a:rPr>
              <a:t>R3</a:t>
            </a:r>
          </a:p>
        </p:txBody>
      </p:sp>
      <p:sp>
        <p:nvSpPr>
          <p:cNvPr id="26" name="TextBox 25"/>
          <p:cNvSpPr txBox="1"/>
          <p:nvPr/>
        </p:nvSpPr>
        <p:spPr>
          <a:xfrm>
            <a:off x="2103120" y="4041648"/>
            <a:ext cx="3063240" cy="609398"/>
          </a:xfrm>
          <a:prstGeom prst="rect">
            <a:avLst/>
          </a:prstGeom>
          <a:noFill/>
        </p:spPr>
        <p:txBody>
          <a:bodyPr wrap="square" lIns="45720" tIns="27432" rIns="45720" bIns="27432" anchor="t">
            <a:spAutoFit/>
          </a:bodyPr>
          <a:lstStyle/>
          <a:p>
            <a:pPr algn="l"/>
            <a:r>
              <a:rPr b="0" i="0" dirty="0">
                <a:solidFill>
                  <a:srgbClr val="002D72"/>
                </a:solidFill>
                <a:latin typeface="Outfit"/>
              </a:rPr>
              <a:t>No intervention </a:t>
            </a:r>
            <a:br>
              <a:rPr lang="en-US" b="0" i="0" dirty="0">
                <a:solidFill>
                  <a:srgbClr val="002D72"/>
                </a:solidFill>
                <a:latin typeface="Outfit"/>
              </a:rPr>
            </a:br>
            <a:r>
              <a:rPr lang="en-US" dirty="0">
                <a:solidFill>
                  <a:srgbClr val="002D72"/>
                </a:solidFill>
                <a:latin typeface="Outfit"/>
              </a:rPr>
              <a:t>d/t </a:t>
            </a:r>
            <a:r>
              <a:rPr b="0" i="0" dirty="0">
                <a:solidFill>
                  <a:srgbClr val="002D72"/>
                </a:solidFill>
                <a:latin typeface="Outfit"/>
              </a:rPr>
              <a:t>no active assessment</a:t>
            </a:r>
          </a:p>
        </p:txBody>
      </p:sp>
      <p:sp>
        <p:nvSpPr>
          <p:cNvPr id="27" name="TextBox 26"/>
          <p:cNvSpPr txBox="1"/>
          <p:nvPr/>
        </p:nvSpPr>
        <p:spPr>
          <a:xfrm>
            <a:off x="5212080" y="4041648"/>
            <a:ext cx="3337560" cy="886397"/>
          </a:xfrm>
          <a:prstGeom prst="rect">
            <a:avLst/>
          </a:prstGeom>
          <a:noFill/>
        </p:spPr>
        <p:txBody>
          <a:bodyPr wrap="square" lIns="45720" tIns="27432" rIns="45720" bIns="27432" anchor="t">
            <a:spAutoFit/>
          </a:bodyPr>
          <a:lstStyle/>
          <a:p>
            <a:pPr algn="l"/>
            <a:r>
              <a:rPr b="0" i="0">
                <a:solidFill>
                  <a:srgbClr val="002D72"/>
                </a:solidFill>
                <a:latin typeface="Outfit"/>
              </a:rPr>
              <a:t>Bedside 2D-SWE + HCP Masterclass create pre-launch pathway</a:t>
            </a:r>
          </a:p>
        </p:txBody>
      </p:sp>
      <p:sp>
        <p:nvSpPr>
          <p:cNvPr id="28" name="TextBox 27"/>
          <p:cNvSpPr txBox="1"/>
          <p:nvPr/>
        </p:nvSpPr>
        <p:spPr>
          <a:xfrm>
            <a:off x="8595360" y="4041648"/>
            <a:ext cx="3154680" cy="332399"/>
          </a:xfrm>
          <a:prstGeom prst="rect">
            <a:avLst/>
          </a:prstGeom>
          <a:noFill/>
        </p:spPr>
        <p:txBody>
          <a:bodyPr wrap="square" lIns="45720" tIns="27432" rIns="45720" bIns="27432" anchor="t">
            <a:spAutoFit/>
          </a:bodyPr>
          <a:lstStyle/>
          <a:p>
            <a:pPr algn="l"/>
            <a:r>
              <a:rPr b="0" i="1">
                <a:solidFill>
                  <a:srgbClr val="002D72"/>
                </a:solidFill>
                <a:latin typeface="Outfit"/>
              </a:rPr>
              <a:t>Philips + HCP education</a:t>
            </a:r>
          </a:p>
        </p:txBody>
      </p:sp>
      <p:sp>
        <p:nvSpPr>
          <p:cNvPr id="29" name="Rectangle 28"/>
          <p:cNvSpPr/>
          <p:nvPr/>
        </p:nvSpPr>
        <p:spPr>
          <a:xfrm>
            <a:off x="502920" y="5029200"/>
            <a:ext cx="11155680" cy="10515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0" name="Rectangle 29"/>
          <p:cNvSpPr/>
          <p:nvPr/>
        </p:nvSpPr>
        <p:spPr>
          <a:xfrm>
            <a:off x="502920" y="5029200"/>
            <a:ext cx="137160" cy="105156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777240" y="5257800"/>
            <a:ext cx="1463040" cy="670953"/>
          </a:xfrm>
          <a:prstGeom prst="rect">
            <a:avLst/>
          </a:prstGeom>
          <a:noFill/>
        </p:spPr>
        <p:txBody>
          <a:bodyPr wrap="square" lIns="45720" tIns="27432" rIns="45720" bIns="27432" anchor="t">
            <a:spAutoFit/>
          </a:bodyPr>
          <a:lstStyle/>
          <a:p>
            <a:pPr algn="l"/>
            <a:r>
              <a:rPr sz="4000" b="1" i="0">
                <a:solidFill>
                  <a:srgbClr val="B8860B"/>
                </a:solidFill>
                <a:latin typeface="Outfit"/>
              </a:rPr>
              <a:t>R4</a:t>
            </a:r>
          </a:p>
        </p:txBody>
      </p:sp>
      <p:sp>
        <p:nvSpPr>
          <p:cNvPr id="32" name="TextBox 31"/>
          <p:cNvSpPr txBox="1"/>
          <p:nvPr/>
        </p:nvSpPr>
        <p:spPr>
          <a:xfrm>
            <a:off x="2103120" y="5138928"/>
            <a:ext cx="3063240" cy="609398"/>
          </a:xfrm>
          <a:prstGeom prst="rect">
            <a:avLst/>
          </a:prstGeom>
          <a:noFill/>
        </p:spPr>
        <p:txBody>
          <a:bodyPr wrap="square" lIns="45720" tIns="27432" rIns="45720" bIns="27432" anchor="t">
            <a:spAutoFit/>
          </a:bodyPr>
          <a:lstStyle/>
          <a:p>
            <a:pPr algn="l"/>
            <a:r>
              <a:rPr b="0" i="0">
                <a:solidFill>
                  <a:srgbClr val="002D72"/>
                </a:solidFill>
                <a:latin typeface="Outfit"/>
              </a:rPr>
              <a:t>HBV/HCV legacy blocks MASLD engagement</a:t>
            </a:r>
          </a:p>
        </p:txBody>
      </p:sp>
      <p:sp>
        <p:nvSpPr>
          <p:cNvPr id="33" name="TextBox 32"/>
          <p:cNvSpPr txBox="1"/>
          <p:nvPr/>
        </p:nvSpPr>
        <p:spPr>
          <a:xfrm>
            <a:off x="5212080" y="5138928"/>
            <a:ext cx="3337560" cy="609398"/>
          </a:xfrm>
          <a:prstGeom prst="rect">
            <a:avLst/>
          </a:prstGeom>
          <a:noFill/>
        </p:spPr>
        <p:txBody>
          <a:bodyPr wrap="square" lIns="45720" tIns="27432" rIns="45720" bIns="27432" anchor="t">
            <a:spAutoFit/>
          </a:bodyPr>
          <a:lstStyle/>
          <a:p>
            <a:pPr algn="l"/>
            <a:r>
              <a:rPr b="0" i="0">
                <a:solidFill>
                  <a:srgbClr val="002D72"/>
                </a:solidFill>
                <a:latin typeface="Outfit"/>
              </a:rPr>
              <a:t>MASLD-specific tertiary pathway via society + digital health</a:t>
            </a:r>
          </a:p>
        </p:txBody>
      </p:sp>
      <p:sp>
        <p:nvSpPr>
          <p:cNvPr id="34" name="TextBox 33"/>
          <p:cNvSpPr txBox="1"/>
          <p:nvPr/>
        </p:nvSpPr>
        <p:spPr>
          <a:xfrm>
            <a:off x="8595360" y="5138928"/>
            <a:ext cx="3154680" cy="609398"/>
          </a:xfrm>
          <a:prstGeom prst="rect">
            <a:avLst/>
          </a:prstGeom>
          <a:noFill/>
        </p:spPr>
        <p:txBody>
          <a:bodyPr wrap="square" lIns="45720" tIns="27432" rIns="45720" bIns="27432" anchor="t">
            <a:spAutoFit/>
          </a:bodyPr>
          <a:lstStyle/>
          <a:p>
            <a:pPr algn="l"/>
            <a:r>
              <a:rPr b="0" i="1" dirty="0">
                <a:solidFill>
                  <a:srgbClr val="002D72"/>
                </a:solidFill>
                <a:latin typeface="Outfit"/>
              </a:rPr>
              <a:t>KA</a:t>
            </a:r>
            <a:r>
              <a:rPr lang="en-US" b="0" i="1" dirty="0">
                <a:solidFill>
                  <a:srgbClr val="002D72"/>
                </a:solidFill>
                <a:latin typeface="Outfit"/>
              </a:rPr>
              <a:t>SL(KSSG)</a:t>
            </a:r>
            <a:r>
              <a:rPr b="0" i="1" dirty="0">
                <a:solidFill>
                  <a:srgbClr val="002D72"/>
                </a:solidFill>
                <a:latin typeface="Outfit"/>
              </a:rPr>
              <a:t>, </a:t>
            </a:r>
            <a:r>
              <a:rPr lang="en-US" i="1" dirty="0">
                <a:solidFill>
                  <a:srgbClr val="002D72"/>
                </a:solidFill>
                <a:latin typeface="Outfit"/>
              </a:rPr>
              <a:t>KSSO</a:t>
            </a:r>
            <a:r>
              <a:rPr b="0" i="1" dirty="0">
                <a:solidFill>
                  <a:srgbClr val="002D72"/>
                </a:solidFill>
                <a:latin typeface="Outfit"/>
              </a:rPr>
              <a:t>, </a:t>
            </a:r>
            <a:br>
              <a:rPr lang="en-US" b="0" i="1" dirty="0">
                <a:solidFill>
                  <a:srgbClr val="002D72"/>
                </a:solidFill>
                <a:latin typeface="Outfit"/>
              </a:rPr>
            </a:br>
            <a:r>
              <a:rPr b="0" i="1" dirty="0">
                <a:solidFill>
                  <a:srgbClr val="002D72"/>
                </a:solidFill>
                <a:latin typeface="Outfit"/>
              </a:rPr>
              <a:t>digital health partner (potential)</a:t>
            </a:r>
          </a:p>
        </p:txBody>
      </p:sp>
      <p:sp>
        <p:nvSpPr>
          <p:cNvPr id="35" name="Rectangle 34"/>
          <p:cNvSpPr/>
          <p:nvPr/>
        </p:nvSpPr>
        <p:spPr>
          <a:xfrm>
            <a:off x="502920" y="6537960"/>
            <a:ext cx="11155680" cy="76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02920" y="6601968"/>
            <a:ext cx="7315200" cy="228600"/>
          </a:xfrm>
          <a:prstGeom prst="rect">
            <a:avLst/>
          </a:prstGeom>
          <a:noFill/>
        </p:spPr>
        <p:txBody>
          <a:bodyPr wrap="square" lIns="45720" tIns="27432" rIns="45720" bIns="27432" anchor="t">
            <a:spAutoFit/>
          </a:bodyPr>
          <a:lstStyle/>
          <a:p>
            <a:pPr algn="l"/>
            <a:r>
              <a:rPr sz="800" b="0" i="0">
                <a:solidFill>
                  <a:srgbClr val="898885"/>
                </a:solidFill>
                <a:latin typeface="Outfit"/>
              </a:rPr>
              <a:t>Korea MASLD/MASH Ecosystem Blueprint  |  Johns Hopkins Bloomberg SPH  ·  MPH Practicum</a:t>
            </a:r>
          </a:p>
        </p:txBody>
      </p:sp>
      <p:sp>
        <p:nvSpPr>
          <p:cNvPr id="37" name="TextBox 36"/>
          <p:cNvSpPr txBox="1"/>
          <p:nvPr/>
        </p:nvSpPr>
        <p:spPr>
          <a:xfrm>
            <a:off x="7315200" y="6601968"/>
            <a:ext cx="4572000" cy="178510"/>
          </a:xfrm>
          <a:prstGeom prst="rect">
            <a:avLst/>
          </a:prstGeom>
          <a:noFill/>
        </p:spPr>
        <p:txBody>
          <a:bodyPr wrap="square" lIns="45720" tIns="27432" rIns="45720" bIns="27432" anchor="t">
            <a:spAutoFit/>
          </a:bodyPr>
          <a:lstStyle/>
          <a:p>
            <a:pPr algn="r"/>
            <a:r>
              <a:rPr sz="800" b="0" i="0" dirty="0">
                <a:solidFill>
                  <a:srgbClr val="898885"/>
                </a:solidFill>
                <a:latin typeface="Outfit"/>
              </a:rPr>
              <a:t>Medical Affairs, Boehringer Ingelheim Korea  |  </a:t>
            </a:r>
            <a:r>
              <a:rPr lang="en-US" sz="800" b="0" i="0" dirty="0">
                <a:solidFill>
                  <a:srgbClr val="898885"/>
                </a:solidFill>
                <a:latin typeface="Outfit"/>
              </a:rPr>
              <a:t>Apr 2026</a:t>
            </a:r>
            <a:endParaRPr sz="800" b="0" i="0" dirty="0">
              <a:solidFill>
                <a:srgbClr val="898885"/>
              </a:solidFill>
              <a:latin typeface="Outfi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002D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9144000" cy="320040"/>
          </a:xfrm>
          <a:prstGeom prst="rect">
            <a:avLst/>
          </a:prstGeom>
          <a:noFill/>
        </p:spPr>
        <p:txBody>
          <a:bodyPr wrap="square" lIns="45720" tIns="27432" rIns="45720" bIns="27432" anchor="t">
            <a:spAutoFit/>
          </a:bodyPr>
          <a:lstStyle/>
          <a:p>
            <a:pPr algn="l"/>
            <a:r>
              <a:rPr sz="1000" b="1" i="0">
                <a:solidFill>
                  <a:srgbClr val="68ACE5"/>
                </a:solidFill>
                <a:latin typeface="Outfit"/>
              </a:rPr>
              <a:t>STRATEGIC FRAMEWORK</a:t>
            </a:r>
          </a:p>
        </p:txBody>
      </p:sp>
      <p:sp>
        <p:nvSpPr>
          <p:cNvPr id="4" name="TextBox 3"/>
          <p:cNvSpPr txBox="1"/>
          <p:nvPr/>
        </p:nvSpPr>
        <p:spPr>
          <a:xfrm>
            <a:off x="502920" y="457200"/>
            <a:ext cx="10515600" cy="548640"/>
          </a:xfrm>
          <a:prstGeom prst="rect">
            <a:avLst/>
          </a:prstGeom>
          <a:noFill/>
        </p:spPr>
        <p:txBody>
          <a:bodyPr wrap="square" lIns="45720" tIns="27432" rIns="45720" bIns="27432" anchor="t">
            <a:spAutoFit/>
          </a:bodyPr>
          <a:lstStyle/>
          <a:p>
            <a:pPr algn="l"/>
            <a:r>
              <a:rPr sz="2400" b="1" i="0">
                <a:solidFill>
                  <a:srgbClr val="FFFFFF"/>
                </a:solidFill>
                <a:latin typeface="Outfit"/>
              </a:rPr>
              <a:t>Four-pillar ecosystem structure</a:t>
            </a:r>
          </a:p>
        </p:txBody>
      </p:sp>
      <p:sp>
        <p:nvSpPr>
          <p:cNvPr id="5" name="TextBox 4"/>
          <p:cNvSpPr txBox="1"/>
          <p:nvPr/>
        </p:nvSpPr>
        <p:spPr>
          <a:xfrm>
            <a:off x="11338560" y="256032"/>
            <a:ext cx="640080" cy="224677"/>
          </a:xfrm>
          <a:prstGeom prst="rect">
            <a:avLst/>
          </a:prstGeom>
          <a:noFill/>
        </p:spPr>
        <p:txBody>
          <a:bodyPr wrap="square" lIns="45720" tIns="27432" rIns="45720" bIns="27432" anchor="t">
            <a:spAutoFit/>
          </a:bodyPr>
          <a:lstStyle/>
          <a:p>
            <a:pPr algn="r"/>
            <a:r>
              <a:rPr lang="en-US" sz="1100" b="1" i="0" dirty="0">
                <a:solidFill>
                  <a:srgbClr val="68ACE5"/>
                </a:solidFill>
                <a:latin typeface="Outfit"/>
              </a:rPr>
              <a:t>13</a:t>
            </a:r>
            <a:endParaRPr sz="1100" b="1" i="0" dirty="0">
              <a:solidFill>
                <a:srgbClr val="68ACE5"/>
              </a:solidFill>
              <a:latin typeface="Outfit"/>
            </a:endParaRPr>
          </a:p>
        </p:txBody>
      </p:sp>
      <p:sp>
        <p:nvSpPr>
          <p:cNvPr id="7" name="Rectangle 6"/>
          <p:cNvSpPr/>
          <p:nvPr/>
        </p:nvSpPr>
        <p:spPr>
          <a:xfrm>
            <a:off x="502920" y="5897880"/>
            <a:ext cx="11155680" cy="502920"/>
          </a:xfrm>
          <a:prstGeom prst="rect">
            <a:avLst/>
          </a:prstGeom>
          <a:solidFill>
            <a:srgbClr val="002D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5936487"/>
            <a:ext cx="10972800" cy="701731"/>
          </a:xfrm>
          <a:prstGeom prst="rect">
            <a:avLst/>
          </a:prstGeom>
          <a:noFill/>
        </p:spPr>
        <p:txBody>
          <a:bodyPr wrap="square" lIns="45720" tIns="27432" rIns="45720" bIns="27432" anchor="t">
            <a:spAutoFit/>
          </a:bodyPr>
          <a:lstStyle/>
          <a:p>
            <a:pPr algn="l"/>
            <a:r>
              <a:rPr sz="1400" b="0" i="1" dirty="0">
                <a:solidFill>
                  <a:srgbClr val="FFFFFF"/>
                </a:solidFill>
                <a:latin typeface="Outfit"/>
              </a:rPr>
              <a:t>Each pillar is </a:t>
            </a:r>
            <a:r>
              <a:rPr sz="1400" b="0" i="1" dirty="0" err="1">
                <a:solidFill>
                  <a:srgbClr val="FFFFFF"/>
                </a:solidFill>
                <a:latin typeface="Outfit"/>
              </a:rPr>
              <a:t>operationalised</a:t>
            </a:r>
            <a:r>
              <a:rPr sz="1400" b="0" i="1" dirty="0">
                <a:solidFill>
                  <a:srgbClr val="FFFFFF"/>
                </a:solidFill>
                <a:latin typeface="Outfit"/>
              </a:rPr>
              <a:t> by one signed or targeted partnership. </a:t>
            </a:r>
            <a:endParaRPr lang="en-US" sz="1400" b="0" i="1" dirty="0">
              <a:solidFill>
                <a:srgbClr val="FFFFFF"/>
              </a:solidFill>
              <a:latin typeface="Outfit"/>
            </a:endParaRPr>
          </a:p>
          <a:p>
            <a:pPr algn="l"/>
            <a:r>
              <a:rPr sz="1400" b="0" i="1" dirty="0">
                <a:solidFill>
                  <a:srgbClr val="FFFFFF"/>
                </a:solidFill>
                <a:latin typeface="Outfit"/>
              </a:rPr>
              <a:t>Detail for Pillars 1–3 is in Deliverable 2 (KMI, 365MC, Philips MOUs). </a:t>
            </a:r>
            <a:endParaRPr lang="en-US" sz="1400" b="0" i="1" dirty="0">
              <a:solidFill>
                <a:srgbClr val="FFFFFF"/>
              </a:solidFill>
              <a:latin typeface="Outfit"/>
            </a:endParaRPr>
          </a:p>
          <a:p>
            <a:pPr algn="l"/>
            <a:r>
              <a:rPr sz="1400" b="0" i="1" dirty="0">
                <a:solidFill>
                  <a:srgbClr val="FFFFFF"/>
                </a:solidFill>
                <a:latin typeface="Outfit"/>
              </a:rPr>
              <a:t>Pillar 4 is a potential partnership area</a:t>
            </a:r>
            <a:r>
              <a:rPr lang="en-US" sz="1400" b="0" i="1" dirty="0">
                <a:solidFill>
                  <a:srgbClr val="FFFFFF"/>
                </a:solidFill>
                <a:latin typeface="Outfit"/>
              </a:rPr>
              <a:t> which is</a:t>
            </a:r>
            <a:r>
              <a:rPr sz="1400" b="0" i="1" dirty="0">
                <a:solidFill>
                  <a:srgbClr val="FFFFFF"/>
                </a:solidFill>
                <a:latin typeface="Outfit"/>
              </a:rPr>
              <a:t> not yet contracted.</a:t>
            </a:r>
          </a:p>
        </p:txBody>
      </p:sp>
      <p:sp>
        <p:nvSpPr>
          <p:cNvPr id="9" name="Rectangle 8"/>
          <p:cNvSpPr/>
          <p:nvPr/>
        </p:nvSpPr>
        <p:spPr>
          <a:xfrm>
            <a:off x="502920" y="6537960"/>
            <a:ext cx="11155680" cy="76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6601968"/>
            <a:ext cx="7315200" cy="228600"/>
          </a:xfrm>
          <a:prstGeom prst="rect">
            <a:avLst/>
          </a:prstGeom>
          <a:noFill/>
        </p:spPr>
        <p:txBody>
          <a:bodyPr wrap="square" lIns="45720" tIns="27432" rIns="45720" bIns="27432" anchor="t">
            <a:spAutoFit/>
          </a:bodyPr>
          <a:lstStyle/>
          <a:p>
            <a:pPr algn="l"/>
            <a:r>
              <a:rPr sz="800" b="0" i="0">
                <a:solidFill>
                  <a:srgbClr val="898885"/>
                </a:solidFill>
                <a:latin typeface="Outfit"/>
              </a:rPr>
              <a:t>Korea MASLD/MASH Ecosystem Blueprint  |  Johns Hopkins Bloomberg SPH  ·  MPH Practicum</a:t>
            </a:r>
          </a:p>
        </p:txBody>
      </p:sp>
      <p:sp>
        <p:nvSpPr>
          <p:cNvPr id="11" name="TextBox 10"/>
          <p:cNvSpPr txBox="1"/>
          <p:nvPr/>
        </p:nvSpPr>
        <p:spPr>
          <a:xfrm>
            <a:off x="7315200" y="6601968"/>
            <a:ext cx="4572000" cy="178510"/>
          </a:xfrm>
          <a:prstGeom prst="rect">
            <a:avLst/>
          </a:prstGeom>
          <a:noFill/>
        </p:spPr>
        <p:txBody>
          <a:bodyPr wrap="square" lIns="45720" tIns="27432" rIns="45720" bIns="27432" anchor="t">
            <a:spAutoFit/>
          </a:bodyPr>
          <a:lstStyle/>
          <a:p>
            <a:pPr algn="r"/>
            <a:r>
              <a:rPr sz="800" b="0" i="0" dirty="0">
                <a:solidFill>
                  <a:srgbClr val="898885"/>
                </a:solidFill>
                <a:latin typeface="Outfit"/>
              </a:rPr>
              <a:t>Medical Affairs, Boehringer Ingelheim Korea  |  </a:t>
            </a:r>
            <a:r>
              <a:rPr lang="en-US" sz="800" b="0" i="0" dirty="0">
                <a:solidFill>
                  <a:srgbClr val="898885"/>
                </a:solidFill>
                <a:latin typeface="Outfit"/>
              </a:rPr>
              <a:t>Apr 2026</a:t>
            </a:r>
            <a:endParaRPr sz="800" b="0" i="0" dirty="0">
              <a:solidFill>
                <a:srgbClr val="898885"/>
              </a:solidFill>
              <a:latin typeface="Outfit"/>
            </a:endParaRPr>
          </a:p>
        </p:txBody>
      </p:sp>
      <p:sp>
        <p:nvSpPr>
          <p:cNvPr id="12" name="Rectangle 5">
            <a:extLst>
              <a:ext uri="{FF2B5EF4-FFF2-40B4-BE49-F238E27FC236}">
                <a16:creationId xmlns:a16="http://schemas.microsoft.com/office/drawing/2014/main" id="{A162A3DE-5636-3F8F-55D7-6F5919F7D419}"/>
              </a:ext>
            </a:extLst>
          </p:cNvPr>
          <p:cNvSpPr/>
          <p:nvPr/>
        </p:nvSpPr>
        <p:spPr>
          <a:xfrm>
            <a:off x="126997" y="1261872"/>
            <a:ext cx="2743200" cy="1280160"/>
          </a:xfrm>
          <a:prstGeom prst="rect">
            <a:avLst/>
          </a:prstGeom>
          <a:solidFill>
            <a:srgbClr val="D640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3" name="TextBox 12">
            <a:extLst>
              <a:ext uri="{FF2B5EF4-FFF2-40B4-BE49-F238E27FC236}">
                <a16:creationId xmlns:a16="http://schemas.microsoft.com/office/drawing/2014/main" id="{6C0A9585-8E99-28B8-EDD9-D3AA9A24FA1A}"/>
              </a:ext>
            </a:extLst>
          </p:cNvPr>
          <p:cNvSpPr txBox="1"/>
          <p:nvPr/>
        </p:nvSpPr>
        <p:spPr>
          <a:xfrm>
            <a:off x="126997" y="1336375"/>
            <a:ext cx="2743200" cy="609398"/>
          </a:xfrm>
          <a:prstGeom prst="rect">
            <a:avLst/>
          </a:prstGeom>
          <a:noFill/>
        </p:spPr>
        <p:txBody>
          <a:bodyPr wrap="square" lIns="45720" tIns="27432" rIns="45720" bIns="27432" anchor="t">
            <a:spAutoFit/>
          </a:bodyPr>
          <a:lstStyle/>
          <a:p>
            <a:pPr algn="ctr"/>
            <a:r>
              <a:rPr b="1" i="0">
                <a:solidFill>
                  <a:srgbClr val="FFFFFF"/>
                </a:solidFill>
                <a:latin typeface="Outfit"/>
              </a:rPr>
              <a:t>PILLAR 1</a:t>
            </a:r>
          </a:p>
          <a:p>
            <a:pPr algn="ctr"/>
            <a:r>
              <a:rPr b="1" i="0">
                <a:solidFill>
                  <a:srgbClr val="FFFFFF"/>
                </a:solidFill>
                <a:latin typeface="Outfit"/>
              </a:rPr>
              <a:t>Public Awareness</a:t>
            </a:r>
          </a:p>
        </p:txBody>
      </p:sp>
      <p:sp>
        <p:nvSpPr>
          <p:cNvPr id="14" name="Rectangle 7">
            <a:extLst>
              <a:ext uri="{FF2B5EF4-FFF2-40B4-BE49-F238E27FC236}">
                <a16:creationId xmlns:a16="http://schemas.microsoft.com/office/drawing/2014/main" id="{AE1C98A5-9F00-B70E-1438-5627F4CF8B68}"/>
              </a:ext>
            </a:extLst>
          </p:cNvPr>
          <p:cNvSpPr/>
          <p:nvPr/>
        </p:nvSpPr>
        <p:spPr>
          <a:xfrm>
            <a:off x="126997" y="2542032"/>
            <a:ext cx="2743200" cy="2468880"/>
          </a:xfrm>
          <a:prstGeom prst="rect">
            <a:avLst/>
          </a:prstGeom>
          <a:solidFill>
            <a:srgbClr val="FFFFFF"/>
          </a:solidFill>
          <a:ln w="19050">
            <a:solidFill>
              <a:srgbClr val="D64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5" name="TextBox 14">
            <a:extLst>
              <a:ext uri="{FF2B5EF4-FFF2-40B4-BE49-F238E27FC236}">
                <a16:creationId xmlns:a16="http://schemas.microsoft.com/office/drawing/2014/main" id="{E7F64EE3-4BA7-FF6D-AE75-D134093F228B}"/>
              </a:ext>
            </a:extLst>
          </p:cNvPr>
          <p:cNvSpPr txBox="1"/>
          <p:nvPr/>
        </p:nvSpPr>
        <p:spPr>
          <a:xfrm>
            <a:off x="126997" y="3182112"/>
            <a:ext cx="2743200" cy="824841"/>
          </a:xfrm>
          <a:prstGeom prst="rect">
            <a:avLst/>
          </a:prstGeom>
          <a:noFill/>
        </p:spPr>
        <p:txBody>
          <a:bodyPr wrap="square" lIns="45720" tIns="27432" rIns="45720" bIns="27432" anchor="t">
            <a:spAutoFit/>
          </a:bodyPr>
          <a:lstStyle/>
          <a:p>
            <a:pPr algn="ctr"/>
            <a:r>
              <a:rPr sz="1600" b="0" i="0">
                <a:solidFill>
                  <a:srgbClr val="002D72"/>
                </a:solidFill>
                <a:latin typeface="Outfit"/>
              </a:rPr>
              <a:t>365MC partnership</a:t>
            </a:r>
          </a:p>
          <a:p>
            <a:pPr algn="ctr"/>
            <a:r>
              <a:rPr sz="1600" b="0" i="0">
                <a:solidFill>
                  <a:srgbClr val="002D72"/>
                </a:solidFill>
                <a:latin typeface="Outfit"/>
              </a:rPr>
              <a:t>"See Obesity, Think Liver"</a:t>
            </a:r>
          </a:p>
          <a:p>
            <a:pPr algn="ctr"/>
            <a:r>
              <a:rPr sz="1600" b="0" i="0">
                <a:solidFill>
                  <a:srgbClr val="002D72"/>
                </a:solidFill>
                <a:latin typeface="Outfit"/>
              </a:rPr>
              <a:t>Jibang-i character</a:t>
            </a:r>
          </a:p>
        </p:txBody>
      </p:sp>
      <p:sp>
        <p:nvSpPr>
          <p:cNvPr id="16" name="Rectangle 9">
            <a:extLst>
              <a:ext uri="{FF2B5EF4-FFF2-40B4-BE49-F238E27FC236}">
                <a16:creationId xmlns:a16="http://schemas.microsoft.com/office/drawing/2014/main" id="{D096160F-6234-8DE2-5CC7-385888DA2438}"/>
              </a:ext>
            </a:extLst>
          </p:cNvPr>
          <p:cNvSpPr/>
          <p:nvPr/>
        </p:nvSpPr>
        <p:spPr>
          <a:xfrm>
            <a:off x="126997" y="5102352"/>
            <a:ext cx="2743200" cy="640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a:extLst>
              <a:ext uri="{FF2B5EF4-FFF2-40B4-BE49-F238E27FC236}">
                <a16:creationId xmlns:a16="http://schemas.microsoft.com/office/drawing/2014/main" id="{6298A4D7-F828-39D3-158D-21DCAA2C99AE}"/>
              </a:ext>
            </a:extLst>
          </p:cNvPr>
          <p:cNvSpPr txBox="1"/>
          <p:nvPr/>
        </p:nvSpPr>
        <p:spPr>
          <a:xfrm>
            <a:off x="126997" y="5239512"/>
            <a:ext cx="2743200" cy="301621"/>
          </a:xfrm>
          <a:prstGeom prst="rect">
            <a:avLst/>
          </a:prstGeom>
          <a:noFill/>
        </p:spPr>
        <p:txBody>
          <a:bodyPr wrap="square" lIns="45720" tIns="27432" rIns="45720" bIns="27432" anchor="t">
            <a:spAutoFit/>
          </a:bodyPr>
          <a:lstStyle/>
          <a:p>
            <a:pPr algn="ctr"/>
            <a:r>
              <a:rPr sz="1600" b="1" i="0">
                <a:solidFill>
                  <a:srgbClr val="002D72"/>
                </a:solidFill>
                <a:latin typeface="Outfit"/>
              </a:rPr>
              <a:t>Breaks R1 · Assists R3</a:t>
            </a:r>
          </a:p>
        </p:txBody>
      </p:sp>
      <p:sp>
        <p:nvSpPr>
          <p:cNvPr id="18" name="Rectangle 11">
            <a:extLst>
              <a:ext uri="{FF2B5EF4-FFF2-40B4-BE49-F238E27FC236}">
                <a16:creationId xmlns:a16="http://schemas.microsoft.com/office/drawing/2014/main" id="{EAB6841E-5E36-03D5-D455-072B6D17AC2A}"/>
              </a:ext>
            </a:extLst>
          </p:cNvPr>
          <p:cNvSpPr/>
          <p:nvPr/>
        </p:nvSpPr>
        <p:spPr>
          <a:xfrm>
            <a:off x="3200392" y="1261872"/>
            <a:ext cx="2743200" cy="1280160"/>
          </a:xfrm>
          <a:prstGeom prst="rect">
            <a:avLst/>
          </a:prstGeom>
          <a:solidFill>
            <a:srgbClr val="1C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9" name="TextBox 18">
            <a:extLst>
              <a:ext uri="{FF2B5EF4-FFF2-40B4-BE49-F238E27FC236}">
                <a16:creationId xmlns:a16="http://schemas.microsoft.com/office/drawing/2014/main" id="{831A7CF1-A840-F1BA-BCC0-698D5EA3E312}"/>
              </a:ext>
            </a:extLst>
          </p:cNvPr>
          <p:cNvSpPr txBox="1"/>
          <p:nvPr/>
        </p:nvSpPr>
        <p:spPr>
          <a:xfrm>
            <a:off x="3200392" y="1336375"/>
            <a:ext cx="2743200" cy="609398"/>
          </a:xfrm>
          <a:prstGeom prst="rect">
            <a:avLst/>
          </a:prstGeom>
          <a:noFill/>
        </p:spPr>
        <p:txBody>
          <a:bodyPr wrap="square" lIns="45720" tIns="27432" rIns="45720" bIns="27432" anchor="t">
            <a:spAutoFit/>
          </a:bodyPr>
          <a:lstStyle/>
          <a:p>
            <a:pPr algn="ctr"/>
            <a:r>
              <a:rPr b="1" i="0">
                <a:solidFill>
                  <a:srgbClr val="FFFFFF"/>
                </a:solidFill>
                <a:latin typeface="Outfit"/>
              </a:rPr>
              <a:t>PILLAR 2</a:t>
            </a:r>
          </a:p>
          <a:p>
            <a:pPr algn="ctr"/>
            <a:r>
              <a:rPr b="1" i="0">
                <a:solidFill>
                  <a:srgbClr val="FFFFFF"/>
                </a:solidFill>
                <a:latin typeface="Outfit"/>
              </a:rPr>
              <a:t>Screening Activation</a:t>
            </a:r>
          </a:p>
        </p:txBody>
      </p:sp>
      <p:sp>
        <p:nvSpPr>
          <p:cNvPr id="20" name="Rectangle 13">
            <a:extLst>
              <a:ext uri="{FF2B5EF4-FFF2-40B4-BE49-F238E27FC236}">
                <a16:creationId xmlns:a16="http://schemas.microsoft.com/office/drawing/2014/main" id="{B8F1A78C-0CD9-384E-78F1-6CD0695888B7}"/>
              </a:ext>
            </a:extLst>
          </p:cNvPr>
          <p:cNvSpPr/>
          <p:nvPr/>
        </p:nvSpPr>
        <p:spPr>
          <a:xfrm>
            <a:off x="3200392" y="2542032"/>
            <a:ext cx="2743200" cy="2468880"/>
          </a:xfrm>
          <a:prstGeom prst="rect">
            <a:avLst/>
          </a:prstGeom>
          <a:solidFill>
            <a:srgbClr val="FFFFFF"/>
          </a:solidFill>
          <a:ln w="19050">
            <a:solidFill>
              <a:srgbClr val="1C6E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1" name="TextBox 20">
            <a:extLst>
              <a:ext uri="{FF2B5EF4-FFF2-40B4-BE49-F238E27FC236}">
                <a16:creationId xmlns:a16="http://schemas.microsoft.com/office/drawing/2014/main" id="{1A273DEE-D348-B105-505F-D8F0CC3FD436}"/>
              </a:ext>
            </a:extLst>
          </p:cNvPr>
          <p:cNvSpPr txBox="1"/>
          <p:nvPr/>
        </p:nvSpPr>
        <p:spPr>
          <a:xfrm>
            <a:off x="3200392" y="3182112"/>
            <a:ext cx="2743200" cy="824841"/>
          </a:xfrm>
          <a:prstGeom prst="rect">
            <a:avLst/>
          </a:prstGeom>
          <a:noFill/>
        </p:spPr>
        <p:txBody>
          <a:bodyPr wrap="square" lIns="45720" tIns="27432" rIns="45720" bIns="27432" anchor="t">
            <a:spAutoFit/>
          </a:bodyPr>
          <a:lstStyle/>
          <a:p>
            <a:pPr algn="ctr"/>
            <a:r>
              <a:rPr sz="1600" b="0" i="0">
                <a:solidFill>
                  <a:srgbClr val="002D72"/>
                </a:solidFill>
                <a:latin typeface="Outfit"/>
              </a:rPr>
              <a:t>KMI integration of FIB-4,</a:t>
            </a:r>
          </a:p>
          <a:p>
            <a:pPr algn="ctr"/>
            <a:r>
              <a:rPr sz="1600" b="0" i="0">
                <a:solidFill>
                  <a:srgbClr val="002D72"/>
                </a:solidFill>
                <a:latin typeface="Outfit"/>
              </a:rPr>
              <a:t>HSI / FLI, liver USG</a:t>
            </a:r>
          </a:p>
          <a:p>
            <a:pPr algn="ctr"/>
            <a:r>
              <a:rPr sz="1600" b="0" i="0">
                <a:solidFill>
                  <a:srgbClr val="002D72"/>
                </a:solidFill>
                <a:latin typeface="Outfit"/>
              </a:rPr>
              <a:t>into screening panels</a:t>
            </a:r>
          </a:p>
        </p:txBody>
      </p:sp>
      <p:sp>
        <p:nvSpPr>
          <p:cNvPr id="22" name="Rectangle 15">
            <a:extLst>
              <a:ext uri="{FF2B5EF4-FFF2-40B4-BE49-F238E27FC236}">
                <a16:creationId xmlns:a16="http://schemas.microsoft.com/office/drawing/2014/main" id="{75C6719F-4DB6-AD65-6579-B0472D4C8291}"/>
              </a:ext>
            </a:extLst>
          </p:cNvPr>
          <p:cNvSpPr/>
          <p:nvPr/>
        </p:nvSpPr>
        <p:spPr>
          <a:xfrm>
            <a:off x="3200392" y="5102352"/>
            <a:ext cx="2743200" cy="640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a:extLst>
              <a:ext uri="{FF2B5EF4-FFF2-40B4-BE49-F238E27FC236}">
                <a16:creationId xmlns:a16="http://schemas.microsoft.com/office/drawing/2014/main" id="{DF403B64-A817-6C18-3640-E79F0BF00FF7}"/>
              </a:ext>
            </a:extLst>
          </p:cNvPr>
          <p:cNvSpPr txBox="1"/>
          <p:nvPr/>
        </p:nvSpPr>
        <p:spPr>
          <a:xfrm>
            <a:off x="3200392" y="5239512"/>
            <a:ext cx="2743200" cy="301621"/>
          </a:xfrm>
          <a:prstGeom prst="rect">
            <a:avLst/>
          </a:prstGeom>
          <a:noFill/>
        </p:spPr>
        <p:txBody>
          <a:bodyPr wrap="square" lIns="45720" tIns="27432" rIns="45720" bIns="27432" anchor="t">
            <a:spAutoFit/>
          </a:bodyPr>
          <a:lstStyle/>
          <a:p>
            <a:pPr algn="ctr"/>
            <a:r>
              <a:rPr sz="1600" b="1" i="0">
                <a:solidFill>
                  <a:srgbClr val="002D72"/>
                </a:solidFill>
                <a:latin typeface="Outfit"/>
              </a:rPr>
              <a:t>Breaks R2 · Assists R3</a:t>
            </a:r>
          </a:p>
        </p:txBody>
      </p:sp>
      <p:sp>
        <p:nvSpPr>
          <p:cNvPr id="24" name="Rectangle 17">
            <a:extLst>
              <a:ext uri="{FF2B5EF4-FFF2-40B4-BE49-F238E27FC236}">
                <a16:creationId xmlns:a16="http://schemas.microsoft.com/office/drawing/2014/main" id="{8F8690A9-8C61-6FA0-160E-22EB34343959}"/>
              </a:ext>
            </a:extLst>
          </p:cNvPr>
          <p:cNvSpPr/>
          <p:nvPr/>
        </p:nvSpPr>
        <p:spPr>
          <a:xfrm>
            <a:off x="6273787" y="1261872"/>
            <a:ext cx="2743200" cy="1280160"/>
          </a:xfrm>
          <a:prstGeom prst="rect">
            <a:avLst/>
          </a:prstGeom>
          <a:solidFill>
            <a:srgbClr val="6B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5" name="TextBox 24">
            <a:extLst>
              <a:ext uri="{FF2B5EF4-FFF2-40B4-BE49-F238E27FC236}">
                <a16:creationId xmlns:a16="http://schemas.microsoft.com/office/drawing/2014/main" id="{84FD998A-BFA6-5933-7130-59D985593404}"/>
              </a:ext>
            </a:extLst>
          </p:cNvPr>
          <p:cNvSpPr txBox="1"/>
          <p:nvPr/>
        </p:nvSpPr>
        <p:spPr>
          <a:xfrm>
            <a:off x="6273787" y="1336375"/>
            <a:ext cx="2743200" cy="886397"/>
          </a:xfrm>
          <a:prstGeom prst="rect">
            <a:avLst/>
          </a:prstGeom>
          <a:noFill/>
        </p:spPr>
        <p:txBody>
          <a:bodyPr wrap="square" lIns="45720" tIns="27432" rIns="45720" bIns="27432" anchor="t">
            <a:spAutoFit/>
          </a:bodyPr>
          <a:lstStyle/>
          <a:p>
            <a:pPr algn="ctr"/>
            <a:r>
              <a:rPr b="1" i="0" dirty="0">
                <a:solidFill>
                  <a:srgbClr val="FFFFFF"/>
                </a:solidFill>
                <a:latin typeface="Outfit"/>
              </a:rPr>
              <a:t>PILLAR 3</a:t>
            </a:r>
          </a:p>
          <a:p>
            <a:pPr algn="ctr"/>
            <a:r>
              <a:rPr b="1" i="0" dirty="0">
                <a:solidFill>
                  <a:srgbClr val="FFFFFF"/>
                </a:solidFill>
                <a:latin typeface="Outfit"/>
              </a:rPr>
              <a:t>Diagnostic &amp; HCP Enablement</a:t>
            </a:r>
          </a:p>
        </p:txBody>
      </p:sp>
      <p:sp>
        <p:nvSpPr>
          <p:cNvPr id="26" name="Rectangle 19">
            <a:extLst>
              <a:ext uri="{FF2B5EF4-FFF2-40B4-BE49-F238E27FC236}">
                <a16:creationId xmlns:a16="http://schemas.microsoft.com/office/drawing/2014/main" id="{2A482A35-4729-33B4-030D-CD5676F30C99}"/>
              </a:ext>
            </a:extLst>
          </p:cNvPr>
          <p:cNvSpPr/>
          <p:nvPr/>
        </p:nvSpPr>
        <p:spPr>
          <a:xfrm>
            <a:off x="6273787" y="2542032"/>
            <a:ext cx="2743200" cy="2468880"/>
          </a:xfrm>
          <a:prstGeom prst="rect">
            <a:avLst/>
          </a:prstGeom>
          <a:solidFill>
            <a:srgbClr val="FFFFFF"/>
          </a:solidFill>
          <a:ln w="19050">
            <a:solidFill>
              <a:srgbClr val="6B4E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7" name="TextBox 26">
            <a:extLst>
              <a:ext uri="{FF2B5EF4-FFF2-40B4-BE49-F238E27FC236}">
                <a16:creationId xmlns:a16="http://schemas.microsoft.com/office/drawing/2014/main" id="{33ED3742-D60D-E9F9-D291-765C3B73C3CD}"/>
              </a:ext>
            </a:extLst>
          </p:cNvPr>
          <p:cNvSpPr txBox="1"/>
          <p:nvPr/>
        </p:nvSpPr>
        <p:spPr>
          <a:xfrm>
            <a:off x="6273787" y="3182112"/>
            <a:ext cx="2743200" cy="824841"/>
          </a:xfrm>
          <a:prstGeom prst="rect">
            <a:avLst/>
          </a:prstGeom>
          <a:noFill/>
        </p:spPr>
        <p:txBody>
          <a:bodyPr wrap="square" lIns="45720" tIns="27432" rIns="45720" bIns="27432" anchor="t">
            <a:spAutoFit/>
          </a:bodyPr>
          <a:lstStyle/>
          <a:p>
            <a:pPr algn="ctr"/>
            <a:r>
              <a:rPr sz="1600" b="0" i="0">
                <a:solidFill>
                  <a:srgbClr val="002D72"/>
                </a:solidFill>
                <a:latin typeface="Outfit"/>
              </a:rPr>
              <a:t>Philips 2D-SWE +</a:t>
            </a:r>
          </a:p>
          <a:p>
            <a:pPr algn="ctr"/>
            <a:r>
              <a:rPr sz="1600" b="0" i="0">
                <a:solidFill>
                  <a:srgbClr val="002D72"/>
                </a:solidFill>
                <a:latin typeface="Outfit"/>
              </a:rPr>
              <a:t>HCP Masterclass</a:t>
            </a:r>
          </a:p>
          <a:p>
            <a:pPr algn="ctr"/>
            <a:r>
              <a:rPr sz="1600" b="0" i="0">
                <a:solidFill>
                  <a:srgbClr val="002D72"/>
                </a:solidFill>
                <a:latin typeface="Outfit"/>
              </a:rPr>
              <a:t>(Auto ElastQ)</a:t>
            </a:r>
          </a:p>
        </p:txBody>
      </p:sp>
      <p:sp>
        <p:nvSpPr>
          <p:cNvPr id="28" name="Rectangle 21">
            <a:extLst>
              <a:ext uri="{FF2B5EF4-FFF2-40B4-BE49-F238E27FC236}">
                <a16:creationId xmlns:a16="http://schemas.microsoft.com/office/drawing/2014/main" id="{9ACE7802-07B8-7F7F-3A59-6C8AB24D2809}"/>
              </a:ext>
            </a:extLst>
          </p:cNvPr>
          <p:cNvSpPr/>
          <p:nvPr/>
        </p:nvSpPr>
        <p:spPr>
          <a:xfrm>
            <a:off x="6273787" y="5102352"/>
            <a:ext cx="2743200" cy="640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a:extLst>
              <a:ext uri="{FF2B5EF4-FFF2-40B4-BE49-F238E27FC236}">
                <a16:creationId xmlns:a16="http://schemas.microsoft.com/office/drawing/2014/main" id="{76D819CF-2685-39EB-DA6F-D68C22C6017C}"/>
              </a:ext>
            </a:extLst>
          </p:cNvPr>
          <p:cNvSpPr txBox="1"/>
          <p:nvPr/>
        </p:nvSpPr>
        <p:spPr>
          <a:xfrm>
            <a:off x="6273787" y="5239512"/>
            <a:ext cx="2743200" cy="301621"/>
          </a:xfrm>
          <a:prstGeom prst="rect">
            <a:avLst/>
          </a:prstGeom>
          <a:noFill/>
        </p:spPr>
        <p:txBody>
          <a:bodyPr wrap="square" lIns="45720" tIns="27432" rIns="45720" bIns="27432" anchor="t">
            <a:spAutoFit/>
          </a:bodyPr>
          <a:lstStyle/>
          <a:p>
            <a:pPr algn="ctr"/>
            <a:r>
              <a:rPr sz="1600" b="1" i="0">
                <a:solidFill>
                  <a:srgbClr val="002D72"/>
                </a:solidFill>
                <a:latin typeface="Outfit"/>
              </a:rPr>
              <a:t>Breaks R3 · Assists R2</a:t>
            </a:r>
          </a:p>
        </p:txBody>
      </p:sp>
      <p:sp>
        <p:nvSpPr>
          <p:cNvPr id="30" name="Rectangle 23">
            <a:extLst>
              <a:ext uri="{FF2B5EF4-FFF2-40B4-BE49-F238E27FC236}">
                <a16:creationId xmlns:a16="http://schemas.microsoft.com/office/drawing/2014/main" id="{0CE0E464-142F-E9BF-D2D6-0BB774C359CF}"/>
              </a:ext>
            </a:extLst>
          </p:cNvPr>
          <p:cNvSpPr/>
          <p:nvPr/>
        </p:nvSpPr>
        <p:spPr>
          <a:xfrm>
            <a:off x="9347182" y="1261872"/>
            <a:ext cx="2743200" cy="128016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1" name="TextBox 30">
            <a:extLst>
              <a:ext uri="{FF2B5EF4-FFF2-40B4-BE49-F238E27FC236}">
                <a16:creationId xmlns:a16="http://schemas.microsoft.com/office/drawing/2014/main" id="{B3A03D6E-9637-F44B-60C0-177F459EC5E1}"/>
              </a:ext>
            </a:extLst>
          </p:cNvPr>
          <p:cNvSpPr txBox="1"/>
          <p:nvPr/>
        </p:nvSpPr>
        <p:spPr>
          <a:xfrm>
            <a:off x="9347182" y="1336375"/>
            <a:ext cx="2743200" cy="886397"/>
          </a:xfrm>
          <a:prstGeom prst="rect">
            <a:avLst/>
          </a:prstGeom>
          <a:noFill/>
        </p:spPr>
        <p:txBody>
          <a:bodyPr wrap="square" lIns="45720" tIns="27432" rIns="45720" bIns="27432" anchor="t">
            <a:spAutoFit/>
          </a:bodyPr>
          <a:lstStyle/>
          <a:p>
            <a:pPr algn="ctr"/>
            <a:r>
              <a:rPr b="1" i="0" dirty="0">
                <a:solidFill>
                  <a:srgbClr val="FFFFFF"/>
                </a:solidFill>
                <a:latin typeface="Outfit"/>
              </a:rPr>
              <a:t>PILLAR 4</a:t>
            </a:r>
          </a:p>
          <a:p>
            <a:pPr algn="ctr"/>
            <a:r>
              <a:rPr b="1" i="0" dirty="0">
                <a:solidFill>
                  <a:srgbClr val="FFFFFF"/>
                </a:solidFill>
                <a:latin typeface="Outfit"/>
              </a:rPr>
              <a:t>Tertiary &amp; Society Engagement</a:t>
            </a:r>
          </a:p>
        </p:txBody>
      </p:sp>
      <p:sp>
        <p:nvSpPr>
          <p:cNvPr id="32" name="Rectangle 25">
            <a:extLst>
              <a:ext uri="{FF2B5EF4-FFF2-40B4-BE49-F238E27FC236}">
                <a16:creationId xmlns:a16="http://schemas.microsoft.com/office/drawing/2014/main" id="{8E3D5DEC-6820-79B1-350A-EC9BF76460C6}"/>
              </a:ext>
            </a:extLst>
          </p:cNvPr>
          <p:cNvSpPr/>
          <p:nvPr/>
        </p:nvSpPr>
        <p:spPr>
          <a:xfrm>
            <a:off x="9347182" y="2542032"/>
            <a:ext cx="2743200" cy="2468880"/>
          </a:xfrm>
          <a:prstGeom prst="rect">
            <a:avLst/>
          </a:prstGeom>
          <a:solidFill>
            <a:srgbClr val="FFFFFF"/>
          </a:solidFill>
          <a:ln w="1905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3" name="TextBox 32">
            <a:extLst>
              <a:ext uri="{FF2B5EF4-FFF2-40B4-BE49-F238E27FC236}">
                <a16:creationId xmlns:a16="http://schemas.microsoft.com/office/drawing/2014/main" id="{613DD78F-AF59-3E8F-E549-3637D34ADE85}"/>
              </a:ext>
            </a:extLst>
          </p:cNvPr>
          <p:cNvSpPr txBox="1"/>
          <p:nvPr/>
        </p:nvSpPr>
        <p:spPr>
          <a:xfrm>
            <a:off x="9347182" y="3182112"/>
            <a:ext cx="2743200" cy="1040285"/>
          </a:xfrm>
          <a:prstGeom prst="rect">
            <a:avLst/>
          </a:prstGeom>
          <a:noFill/>
        </p:spPr>
        <p:txBody>
          <a:bodyPr wrap="square" lIns="45720" tIns="27432" rIns="45720" bIns="27432" anchor="t">
            <a:spAutoFit/>
          </a:bodyPr>
          <a:lstStyle/>
          <a:p>
            <a:pPr algn="ctr"/>
            <a:r>
              <a:rPr lang="en-US" altLang="ko-KR" sz="1600" dirty="0">
                <a:solidFill>
                  <a:srgbClr val="002D72"/>
                </a:solidFill>
                <a:latin typeface="Outfit"/>
              </a:rPr>
              <a:t>(Potential)</a:t>
            </a:r>
            <a:br>
              <a:rPr lang="en-US" altLang="ko-KR" sz="1600" dirty="0">
                <a:solidFill>
                  <a:srgbClr val="002D72"/>
                </a:solidFill>
                <a:latin typeface="Outfit"/>
              </a:rPr>
            </a:br>
            <a:r>
              <a:rPr sz="1600" b="0" i="0" dirty="0">
                <a:solidFill>
                  <a:srgbClr val="002D72"/>
                </a:solidFill>
                <a:latin typeface="Outfit"/>
              </a:rPr>
              <a:t>Digital health partners,</a:t>
            </a:r>
          </a:p>
          <a:p>
            <a:pPr algn="ctr"/>
            <a:r>
              <a:rPr sz="1600" b="0" i="0" dirty="0">
                <a:solidFill>
                  <a:srgbClr val="002D72"/>
                </a:solidFill>
                <a:latin typeface="Outfit"/>
              </a:rPr>
              <a:t>academic societies</a:t>
            </a:r>
          </a:p>
          <a:p>
            <a:pPr algn="ctr"/>
            <a:r>
              <a:rPr sz="1600" b="0" i="0" dirty="0">
                <a:solidFill>
                  <a:srgbClr val="002D72"/>
                </a:solidFill>
                <a:latin typeface="Outfit"/>
              </a:rPr>
              <a:t>(KASL, </a:t>
            </a:r>
            <a:r>
              <a:rPr sz="1600" b="0" i="0" dirty="0" err="1">
                <a:solidFill>
                  <a:srgbClr val="002D72"/>
                </a:solidFill>
                <a:latin typeface="Outfit"/>
              </a:rPr>
              <a:t>KS</a:t>
            </a:r>
            <a:r>
              <a:rPr lang="en-US" sz="1600" b="0" i="0" dirty="0" err="1">
                <a:solidFill>
                  <a:srgbClr val="002D72"/>
                </a:solidFill>
                <a:latin typeface="Outfit"/>
              </a:rPr>
              <a:t>SSo</a:t>
            </a:r>
            <a:r>
              <a:rPr lang="en-US" altLang="ko-KR" sz="1600" b="0" i="0" dirty="0">
                <a:solidFill>
                  <a:srgbClr val="002D72"/>
                </a:solidFill>
                <a:latin typeface="Outfit"/>
              </a:rPr>
              <a:t>)</a:t>
            </a:r>
            <a:endParaRPr sz="1600" b="0" i="0" dirty="0">
              <a:solidFill>
                <a:srgbClr val="002D72"/>
              </a:solidFill>
              <a:latin typeface="Outfit"/>
            </a:endParaRPr>
          </a:p>
        </p:txBody>
      </p:sp>
      <p:sp>
        <p:nvSpPr>
          <p:cNvPr id="34" name="Rectangle 27">
            <a:extLst>
              <a:ext uri="{FF2B5EF4-FFF2-40B4-BE49-F238E27FC236}">
                <a16:creationId xmlns:a16="http://schemas.microsoft.com/office/drawing/2014/main" id="{B7A06C07-94F7-9FE7-A385-5477029DAF02}"/>
              </a:ext>
            </a:extLst>
          </p:cNvPr>
          <p:cNvSpPr/>
          <p:nvPr/>
        </p:nvSpPr>
        <p:spPr>
          <a:xfrm>
            <a:off x="9347182" y="5102352"/>
            <a:ext cx="2743200" cy="640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a:extLst>
              <a:ext uri="{FF2B5EF4-FFF2-40B4-BE49-F238E27FC236}">
                <a16:creationId xmlns:a16="http://schemas.microsoft.com/office/drawing/2014/main" id="{B07C641F-4F36-5C1B-6774-0DC446ABFC2B}"/>
              </a:ext>
            </a:extLst>
          </p:cNvPr>
          <p:cNvSpPr txBox="1"/>
          <p:nvPr/>
        </p:nvSpPr>
        <p:spPr>
          <a:xfrm>
            <a:off x="9347182" y="5239512"/>
            <a:ext cx="2743200" cy="301621"/>
          </a:xfrm>
          <a:prstGeom prst="rect">
            <a:avLst/>
          </a:prstGeom>
          <a:noFill/>
        </p:spPr>
        <p:txBody>
          <a:bodyPr wrap="square" lIns="45720" tIns="27432" rIns="45720" bIns="27432" anchor="t">
            <a:spAutoFit/>
          </a:bodyPr>
          <a:lstStyle/>
          <a:p>
            <a:pPr algn="ctr"/>
            <a:r>
              <a:rPr sz="1600" b="1" i="0">
                <a:solidFill>
                  <a:srgbClr val="002D72"/>
                </a:solidFill>
                <a:latin typeface="Outfit"/>
              </a:rPr>
              <a:t>Addresses R4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002D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9144000" cy="320040"/>
          </a:xfrm>
          <a:prstGeom prst="rect">
            <a:avLst/>
          </a:prstGeom>
          <a:noFill/>
        </p:spPr>
        <p:txBody>
          <a:bodyPr wrap="square" lIns="45720" tIns="27432" rIns="45720" bIns="27432" anchor="t">
            <a:spAutoFit/>
          </a:bodyPr>
          <a:lstStyle/>
          <a:p>
            <a:pPr algn="l"/>
            <a:r>
              <a:rPr sz="1000" b="1" i="0">
                <a:solidFill>
                  <a:srgbClr val="68ACE5"/>
                </a:solidFill>
                <a:latin typeface="Outfit"/>
              </a:rPr>
              <a:t>EXECUTION</a:t>
            </a:r>
          </a:p>
        </p:txBody>
      </p:sp>
      <p:sp>
        <p:nvSpPr>
          <p:cNvPr id="4" name="TextBox 3"/>
          <p:cNvSpPr txBox="1"/>
          <p:nvPr/>
        </p:nvSpPr>
        <p:spPr>
          <a:xfrm>
            <a:off x="502920" y="457200"/>
            <a:ext cx="10515600" cy="548640"/>
          </a:xfrm>
          <a:prstGeom prst="rect">
            <a:avLst/>
          </a:prstGeom>
          <a:noFill/>
        </p:spPr>
        <p:txBody>
          <a:bodyPr wrap="square" lIns="45720" tIns="27432" rIns="45720" bIns="27432" anchor="t">
            <a:spAutoFit/>
          </a:bodyPr>
          <a:lstStyle/>
          <a:p>
            <a:pPr algn="l"/>
            <a:r>
              <a:rPr sz="2400" b="1" i="0">
                <a:solidFill>
                  <a:srgbClr val="FFFFFF"/>
                </a:solidFill>
                <a:latin typeface="Outfit"/>
              </a:rPr>
              <a:t>Phased roadmap and governance</a:t>
            </a:r>
          </a:p>
        </p:txBody>
      </p:sp>
      <p:sp>
        <p:nvSpPr>
          <p:cNvPr id="5" name="TextBox 4"/>
          <p:cNvSpPr txBox="1"/>
          <p:nvPr/>
        </p:nvSpPr>
        <p:spPr>
          <a:xfrm>
            <a:off x="11338560" y="256032"/>
            <a:ext cx="640080" cy="224677"/>
          </a:xfrm>
          <a:prstGeom prst="rect">
            <a:avLst/>
          </a:prstGeom>
          <a:noFill/>
        </p:spPr>
        <p:txBody>
          <a:bodyPr wrap="square" lIns="45720" tIns="27432" rIns="45720" bIns="27432" anchor="t">
            <a:spAutoFit/>
          </a:bodyPr>
          <a:lstStyle/>
          <a:p>
            <a:pPr algn="r"/>
            <a:r>
              <a:rPr lang="en-US" sz="1100" b="1" i="0" dirty="0">
                <a:solidFill>
                  <a:srgbClr val="68ACE5"/>
                </a:solidFill>
                <a:latin typeface="Outfit"/>
              </a:rPr>
              <a:t>14</a:t>
            </a:r>
            <a:endParaRPr sz="1100" b="1" i="0" dirty="0">
              <a:solidFill>
                <a:srgbClr val="68ACE5"/>
              </a:solidFill>
              <a:latin typeface="Outfit"/>
            </a:endParaRPr>
          </a:p>
        </p:txBody>
      </p:sp>
      <p:sp>
        <p:nvSpPr>
          <p:cNvPr id="6" name="TextBox 5"/>
          <p:cNvSpPr txBox="1"/>
          <p:nvPr/>
        </p:nvSpPr>
        <p:spPr>
          <a:xfrm>
            <a:off x="502920" y="1188720"/>
            <a:ext cx="10972800" cy="486287"/>
          </a:xfrm>
          <a:prstGeom prst="rect">
            <a:avLst/>
          </a:prstGeom>
          <a:noFill/>
        </p:spPr>
        <p:txBody>
          <a:bodyPr wrap="square" lIns="45720" tIns="27432" rIns="45720" bIns="27432" anchor="t">
            <a:spAutoFit/>
          </a:bodyPr>
          <a:lstStyle/>
          <a:p>
            <a:pPr algn="l"/>
            <a:r>
              <a:rPr sz="2800" b="1" i="0">
                <a:solidFill>
                  <a:srgbClr val="002D72"/>
                </a:solidFill>
                <a:latin typeface="Outfit"/>
              </a:rPr>
              <a:t>Implementation roadmap</a:t>
            </a:r>
          </a:p>
        </p:txBody>
      </p:sp>
      <p:sp>
        <p:nvSpPr>
          <p:cNvPr id="7" name="Rectangle 6"/>
          <p:cNvSpPr/>
          <p:nvPr/>
        </p:nvSpPr>
        <p:spPr>
          <a:xfrm>
            <a:off x="502920" y="1645920"/>
            <a:ext cx="3657600" cy="548640"/>
          </a:xfrm>
          <a:prstGeom prst="rect">
            <a:avLst/>
          </a:prstGeom>
          <a:solidFill>
            <a:srgbClr val="68A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8" name="TextBox 7"/>
          <p:cNvSpPr txBox="1"/>
          <p:nvPr/>
        </p:nvSpPr>
        <p:spPr>
          <a:xfrm>
            <a:off x="640080" y="1719072"/>
            <a:ext cx="3657600" cy="363176"/>
          </a:xfrm>
          <a:prstGeom prst="rect">
            <a:avLst/>
          </a:prstGeom>
          <a:noFill/>
        </p:spPr>
        <p:txBody>
          <a:bodyPr wrap="square" lIns="45720" tIns="27432" rIns="45720" bIns="27432" anchor="t">
            <a:spAutoFit/>
          </a:bodyPr>
          <a:lstStyle/>
          <a:p>
            <a:pPr algn="l"/>
            <a:r>
              <a:rPr sz="2000" b="1" i="0">
                <a:solidFill>
                  <a:srgbClr val="002D72"/>
                </a:solidFill>
                <a:latin typeface="Outfit"/>
              </a:rPr>
              <a:t>2026 H1–H2  ·  Foundation</a:t>
            </a:r>
          </a:p>
        </p:txBody>
      </p:sp>
      <p:sp>
        <p:nvSpPr>
          <p:cNvPr id="9" name="Rectangle 8"/>
          <p:cNvSpPr/>
          <p:nvPr/>
        </p:nvSpPr>
        <p:spPr>
          <a:xfrm>
            <a:off x="502920" y="2194560"/>
            <a:ext cx="3657600"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0" name="TextBox 9"/>
          <p:cNvSpPr txBox="1"/>
          <p:nvPr/>
        </p:nvSpPr>
        <p:spPr>
          <a:xfrm>
            <a:off x="640080" y="2286000"/>
            <a:ext cx="3520440" cy="1132618"/>
          </a:xfrm>
          <a:prstGeom prst="rect">
            <a:avLst/>
          </a:prstGeom>
          <a:noFill/>
        </p:spPr>
        <p:txBody>
          <a:bodyPr wrap="square" lIns="45720" tIns="27432" rIns="45720" bIns="27432" anchor="t">
            <a:spAutoFit/>
          </a:bodyPr>
          <a:lstStyle/>
          <a:p>
            <a:pPr algn="l"/>
            <a:r>
              <a:rPr sz="1400" b="0" i="0" dirty="0">
                <a:solidFill>
                  <a:srgbClr val="002D72"/>
                </a:solidFill>
                <a:latin typeface="Outfit"/>
              </a:rPr>
              <a:t>MOU execution </a:t>
            </a:r>
            <a:br>
              <a:rPr lang="en-US" sz="1400" b="0" i="0" dirty="0">
                <a:solidFill>
                  <a:srgbClr val="002D72"/>
                </a:solidFill>
                <a:latin typeface="Outfit"/>
              </a:rPr>
            </a:br>
            <a:r>
              <a:rPr lang="en-US" sz="1400" b="0" i="0" dirty="0">
                <a:solidFill>
                  <a:srgbClr val="002D72"/>
                </a:solidFill>
                <a:latin typeface="Outfit"/>
              </a:rPr>
              <a:t>· Research collaboration (CDM, Kakao Healthcare) </a:t>
            </a:r>
            <a:br>
              <a:rPr lang="en-US" sz="1400" b="0" i="0" dirty="0">
                <a:solidFill>
                  <a:srgbClr val="002D72"/>
                </a:solidFill>
                <a:latin typeface="Outfit"/>
              </a:rPr>
            </a:br>
            <a:r>
              <a:rPr sz="1400" b="0" i="0" dirty="0">
                <a:solidFill>
                  <a:srgbClr val="002D72"/>
                </a:solidFill>
                <a:latin typeface="Outfit"/>
              </a:rPr>
              <a:t>· FIB-4/HSI/FLI pilot at KMI </a:t>
            </a:r>
            <a:br>
              <a:rPr lang="en-US" sz="1400" b="0" i="0" dirty="0">
                <a:solidFill>
                  <a:srgbClr val="002D72"/>
                </a:solidFill>
                <a:latin typeface="Outfit"/>
              </a:rPr>
            </a:br>
            <a:r>
              <a:rPr sz="1400" b="0" i="0" dirty="0">
                <a:solidFill>
                  <a:srgbClr val="002D72"/>
                </a:solidFill>
                <a:latin typeface="Outfit"/>
              </a:rPr>
              <a:t>· </a:t>
            </a:r>
            <a:r>
              <a:rPr sz="1400" b="0" i="0" dirty="0" err="1">
                <a:solidFill>
                  <a:srgbClr val="002D72"/>
                </a:solidFill>
                <a:latin typeface="Outfit"/>
              </a:rPr>
              <a:t>Jibang-i</a:t>
            </a:r>
            <a:r>
              <a:rPr sz="1400" b="0" i="0" dirty="0">
                <a:solidFill>
                  <a:srgbClr val="002D72"/>
                </a:solidFill>
                <a:latin typeface="Outfit"/>
              </a:rPr>
              <a:t> </a:t>
            </a:r>
            <a:r>
              <a:rPr lang="en-US" sz="1400" dirty="0">
                <a:solidFill>
                  <a:srgbClr val="002D72"/>
                </a:solidFill>
                <a:latin typeface="Outfit"/>
              </a:rPr>
              <a:t>omni-channel </a:t>
            </a:r>
            <a:r>
              <a:rPr sz="1400" b="0" i="0" dirty="0">
                <a:solidFill>
                  <a:srgbClr val="002D72"/>
                </a:solidFill>
                <a:latin typeface="Outfit"/>
              </a:rPr>
              <a:t>campaign pilot</a:t>
            </a:r>
          </a:p>
        </p:txBody>
      </p:sp>
      <p:sp>
        <p:nvSpPr>
          <p:cNvPr id="11" name="Rectangle 10"/>
          <p:cNvSpPr/>
          <p:nvPr/>
        </p:nvSpPr>
        <p:spPr>
          <a:xfrm>
            <a:off x="4297680" y="1645920"/>
            <a:ext cx="3657600" cy="548640"/>
          </a:xfrm>
          <a:prstGeom prst="rect">
            <a:avLst/>
          </a:prstGeom>
          <a:solidFill>
            <a:srgbClr val="68A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2" name="TextBox 11"/>
          <p:cNvSpPr txBox="1"/>
          <p:nvPr/>
        </p:nvSpPr>
        <p:spPr>
          <a:xfrm>
            <a:off x="4434840" y="1719072"/>
            <a:ext cx="3657600" cy="363176"/>
          </a:xfrm>
          <a:prstGeom prst="rect">
            <a:avLst/>
          </a:prstGeom>
          <a:noFill/>
        </p:spPr>
        <p:txBody>
          <a:bodyPr wrap="square" lIns="45720" tIns="27432" rIns="45720" bIns="27432" anchor="t">
            <a:spAutoFit/>
          </a:bodyPr>
          <a:lstStyle/>
          <a:p>
            <a:pPr algn="l"/>
            <a:r>
              <a:rPr sz="2000" b="1" i="0">
                <a:solidFill>
                  <a:srgbClr val="002D72"/>
                </a:solidFill>
                <a:latin typeface="Outfit"/>
              </a:rPr>
              <a:t>2027  ·  Expansion</a:t>
            </a:r>
          </a:p>
        </p:txBody>
      </p:sp>
      <p:sp>
        <p:nvSpPr>
          <p:cNvPr id="13" name="Rectangle 12"/>
          <p:cNvSpPr/>
          <p:nvPr/>
        </p:nvSpPr>
        <p:spPr>
          <a:xfrm>
            <a:off x="4297680" y="2194560"/>
            <a:ext cx="3657600"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4" name="TextBox 13"/>
          <p:cNvSpPr txBox="1"/>
          <p:nvPr/>
        </p:nvSpPr>
        <p:spPr>
          <a:xfrm>
            <a:off x="4434840" y="2286000"/>
            <a:ext cx="3520440" cy="917174"/>
          </a:xfrm>
          <a:prstGeom prst="rect">
            <a:avLst/>
          </a:prstGeom>
          <a:noFill/>
        </p:spPr>
        <p:txBody>
          <a:bodyPr wrap="square" lIns="45720" tIns="27432" rIns="45720" bIns="27432" anchor="t">
            <a:spAutoFit/>
          </a:bodyPr>
          <a:lstStyle/>
          <a:p>
            <a:pPr algn="l"/>
            <a:r>
              <a:rPr sz="1400" b="0" i="0" dirty="0">
                <a:solidFill>
                  <a:srgbClr val="002D72"/>
                </a:solidFill>
                <a:latin typeface="Outfit"/>
              </a:rPr>
              <a:t>National FIB-4/HSI/FLI rollout across KMI </a:t>
            </a:r>
            <a:endParaRPr lang="en-US" sz="1400" b="0" i="0" dirty="0">
              <a:solidFill>
                <a:srgbClr val="002D72"/>
              </a:solidFill>
              <a:latin typeface="Outfit"/>
            </a:endParaRPr>
          </a:p>
          <a:p>
            <a:pPr algn="l"/>
            <a:r>
              <a:rPr sz="1400" b="0" i="0" dirty="0">
                <a:solidFill>
                  <a:srgbClr val="002D72"/>
                </a:solidFill>
                <a:latin typeface="Outfit"/>
              </a:rPr>
              <a:t>· HCP Masterclass scale-up </a:t>
            </a:r>
            <a:endParaRPr lang="en-US" sz="1400" b="0" i="0" dirty="0">
              <a:solidFill>
                <a:srgbClr val="002D72"/>
              </a:solidFill>
              <a:latin typeface="Outfit"/>
            </a:endParaRPr>
          </a:p>
          <a:p>
            <a:pPr algn="l"/>
            <a:r>
              <a:rPr sz="1400" b="0" i="0" dirty="0">
                <a:solidFill>
                  <a:srgbClr val="002D72"/>
                </a:solidFill>
                <a:latin typeface="Outfit"/>
              </a:rPr>
              <a:t>· 365MC content series </a:t>
            </a:r>
            <a:endParaRPr lang="en-US" sz="1400" b="0" i="0" dirty="0">
              <a:solidFill>
                <a:srgbClr val="002D72"/>
              </a:solidFill>
              <a:latin typeface="Outfit"/>
            </a:endParaRPr>
          </a:p>
          <a:p>
            <a:pPr algn="l"/>
            <a:r>
              <a:rPr sz="1400" b="0" i="0" dirty="0">
                <a:solidFill>
                  <a:srgbClr val="002D72"/>
                </a:solidFill>
                <a:latin typeface="Outfit"/>
              </a:rPr>
              <a:t>· Pillar 4 partner selection</a:t>
            </a:r>
          </a:p>
        </p:txBody>
      </p:sp>
      <p:sp>
        <p:nvSpPr>
          <p:cNvPr id="15" name="Rectangle 14"/>
          <p:cNvSpPr/>
          <p:nvPr/>
        </p:nvSpPr>
        <p:spPr>
          <a:xfrm>
            <a:off x="8092440" y="1645920"/>
            <a:ext cx="3566160" cy="548640"/>
          </a:xfrm>
          <a:prstGeom prst="rect">
            <a:avLst/>
          </a:prstGeom>
          <a:solidFill>
            <a:srgbClr val="68A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6" name="TextBox 15"/>
          <p:cNvSpPr txBox="1"/>
          <p:nvPr/>
        </p:nvSpPr>
        <p:spPr>
          <a:xfrm>
            <a:off x="8229600" y="1719072"/>
            <a:ext cx="3566160" cy="363176"/>
          </a:xfrm>
          <a:prstGeom prst="rect">
            <a:avLst/>
          </a:prstGeom>
          <a:noFill/>
        </p:spPr>
        <p:txBody>
          <a:bodyPr wrap="square" lIns="45720" tIns="27432" rIns="45720" bIns="27432" anchor="t">
            <a:spAutoFit/>
          </a:bodyPr>
          <a:lstStyle/>
          <a:p>
            <a:pPr algn="l"/>
            <a:r>
              <a:rPr sz="2000" b="1" i="0" dirty="0">
                <a:solidFill>
                  <a:srgbClr val="002D72"/>
                </a:solidFill>
                <a:latin typeface="Outfit"/>
              </a:rPr>
              <a:t>2028+  ·  National Scale-up</a:t>
            </a:r>
          </a:p>
        </p:txBody>
      </p:sp>
      <p:sp>
        <p:nvSpPr>
          <p:cNvPr id="17" name="Rectangle 16"/>
          <p:cNvSpPr/>
          <p:nvPr/>
        </p:nvSpPr>
        <p:spPr>
          <a:xfrm>
            <a:off x="8092440" y="2194560"/>
            <a:ext cx="3566160"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8" name="TextBox 17"/>
          <p:cNvSpPr txBox="1"/>
          <p:nvPr/>
        </p:nvSpPr>
        <p:spPr>
          <a:xfrm>
            <a:off x="8229600" y="2286000"/>
            <a:ext cx="3429000" cy="917174"/>
          </a:xfrm>
          <a:prstGeom prst="rect">
            <a:avLst/>
          </a:prstGeom>
          <a:noFill/>
        </p:spPr>
        <p:txBody>
          <a:bodyPr wrap="square" lIns="45720" tIns="27432" rIns="45720" bIns="27432" anchor="t">
            <a:spAutoFit/>
          </a:bodyPr>
          <a:lstStyle/>
          <a:p>
            <a:pPr algn="l"/>
            <a:r>
              <a:rPr sz="1400" b="0" i="0" dirty="0">
                <a:solidFill>
                  <a:srgbClr val="002D72"/>
                </a:solidFill>
                <a:latin typeface="Outfit"/>
              </a:rPr>
              <a:t>Policy advocacy (platelet inclusion)</a:t>
            </a:r>
            <a:endParaRPr lang="en-US" sz="1400" b="0" i="0" dirty="0">
              <a:solidFill>
                <a:srgbClr val="002D72"/>
              </a:solidFill>
              <a:latin typeface="Outfit"/>
            </a:endParaRPr>
          </a:p>
          <a:p>
            <a:pPr algn="l"/>
            <a:r>
              <a:rPr sz="1400" b="0" i="0" dirty="0">
                <a:solidFill>
                  <a:srgbClr val="002D72"/>
                </a:solidFill>
                <a:latin typeface="Outfit"/>
              </a:rPr>
              <a:t>· </a:t>
            </a:r>
            <a:r>
              <a:rPr lang="en-US" sz="1400" b="0" i="0" dirty="0">
                <a:solidFill>
                  <a:srgbClr val="002D72"/>
                </a:solidFill>
                <a:latin typeface="Outfit"/>
              </a:rPr>
              <a:t>Integrate into </a:t>
            </a:r>
            <a:r>
              <a:rPr sz="1400" b="0" i="0" dirty="0">
                <a:solidFill>
                  <a:srgbClr val="002D72"/>
                </a:solidFill>
                <a:latin typeface="Outfit"/>
              </a:rPr>
              <a:t>KASL </a:t>
            </a:r>
            <a:r>
              <a:rPr lang="en-US" sz="1400" dirty="0">
                <a:solidFill>
                  <a:srgbClr val="002D72"/>
                </a:solidFill>
                <a:latin typeface="Outfit"/>
              </a:rPr>
              <a:t>CME</a:t>
            </a:r>
            <a:r>
              <a:rPr sz="1400" b="0" i="0" dirty="0">
                <a:solidFill>
                  <a:srgbClr val="002D72"/>
                </a:solidFill>
                <a:latin typeface="Outfit"/>
              </a:rPr>
              <a:t> program </a:t>
            </a:r>
            <a:endParaRPr lang="en-US" sz="1400" b="0" i="0" dirty="0">
              <a:solidFill>
                <a:srgbClr val="002D72"/>
              </a:solidFill>
              <a:latin typeface="Outfit"/>
            </a:endParaRPr>
          </a:p>
          <a:p>
            <a:pPr algn="l"/>
            <a:r>
              <a:rPr sz="1400" b="0" i="0" dirty="0">
                <a:solidFill>
                  <a:srgbClr val="002D72"/>
                </a:solidFill>
                <a:latin typeface="Outfit"/>
              </a:rPr>
              <a:t>· Digital-health integration </a:t>
            </a:r>
            <a:endParaRPr lang="en-US" sz="1400" b="0" i="0" dirty="0">
              <a:solidFill>
                <a:srgbClr val="002D72"/>
              </a:solidFill>
              <a:latin typeface="Outfit"/>
            </a:endParaRPr>
          </a:p>
          <a:p>
            <a:pPr algn="l"/>
            <a:r>
              <a:rPr sz="1400" b="0" i="0" dirty="0">
                <a:solidFill>
                  <a:srgbClr val="002D72"/>
                </a:solidFill>
                <a:latin typeface="Outfit"/>
              </a:rPr>
              <a:t>· Intl. reference model</a:t>
            </a:r>
          </a:p>
        </p:txBody>
      </p:sp>
      <p:sp>
        <p:nvSpPr>
          <p:cNvPr id="19" name="TextBox 18"/>
          <p:cNvSpPr txBox="1"/>
          <p:nvPr/>
        </p:nvSpPr>
        <p:spPr>
          <a:xfrm>
            <a:off x="502920" y="4023360"/>
            <a:ext cx="5486400" cy="486287"/>
          </a:xfrm>
          <a:prstGeom prst="rect">
            <a:avLst/>
          </a:prstGeom>
          <a:noFill/>
        </p:spPr>
        <p:txBody>
          <a:bodyPr wrap="square" lIns="45720" tIns="27432" rIns="45720" bIns="27432" anchor="t">
            <a:spAutoFit/>
          </a:bodyPr>
          <a:lstStyle/>
          <a:p>
            <a:pPr algn="l"/>
            <a:r>
              <a:rPr sz="2800" b="1" i="0" dirty="0">
                <a:solidFill>
                  <a:srgbClr val="002D72"/>
                </a:solidFill>
                <a:latin typeface="Outfit"/>
              </a:rPr>
              <a:t>Governance structure</a:t>
            </a:r>
          </a:p>
        </p:txBody>
      </p:sp>
      <p:sp>
        <p:nvSpPr>
          <p:cNvPr id="20" name="TextBox 19"/>
          <p:cNvSpPr txBox="1"/>
          <p:nvPr/>
        </p:nvSpPr>
        <p:spPr>
          <a:xfrm>
            <a:off x="502920" y="4480560"/>
            <a:ext cx="5486400" cy="1179810"/>
          </a:xfrm>
          <a:prstGeom prst="rect">
            <a:avLst/>
          </a:prstGeom>
          <a:noFill/>
        </p:spPr>
        <p:txBody>
          <a:bodyPr wrap="square" lIns="45720" rIns="45720">
            <a:spAutoFit/>
          </a:bodyPr>
          <a:lstStyle/>
          <a:p>
            <a:pPr algn="l">
              <a:spcAft>
                <a:spcPts val="400"/>
              </a:spcAft>
            </a:pPr>
            <a:r>
              <a:rPr sz="1600" dirty="0">
                <a:solidFill>
                  <a:srgbClr val="002D72"/>
                </a:solidFill>
                <a:latin typeface="Outfit"/>
              </a:rPr>
              <a:t>•  Cross-stakeholder steering committee (BI, KMI, 365MC, Philips, KASL observer)</a:t>
            </a:r>
          </a:p>
          <a:p>
            <a:pPr algn="l">
              <a:spcAft>
                <a:spcPts val="400"/>
              </a:spcAft>
            </a:pPr>
            <a:r>
              <a:rPr sz="1600" dirty="0">
                <a:solidFill>
                  <a:srgbClr val="002D72"/>
                </a:solidFill>
                <a:latin typeface="Outfit"/>
              </a:rPr>
              <a:t>•  Quarterly Medical Affairs governance review</a:t>
            </a:r>
          </a:p>
          <a:p>
            <a:pPr algn="l">
              <a:spcAft>
                <a:spcPts val="400"/>
              </a:spcAft>
            </a:pPr>
            <a:r>
              <a:rPr sz="1600" dirty="0">
                <a:solidFill>
                  <a:srgbClr val="002D72"/>
                </a:solidFill>
                <a:latin typeface="Outfit"/>
              </a:rPr>
              <a:t>•  RACI defined at the partnership-agreement level in each MOU</a:t>
            </a:r>
          </a:p>
        </p:txBody>
      </p:sp>
      <p:sp>
        <p:nvSpPr>
          <p:cNvPr id="21" name="TextBox 20"/>
          <p:cNvSpPr txBox="1"/>
          <p:nvPr/>
        </p:nvSpPr>
        <p:spPr>
          <a:xfrm>
            <a:off x="6217920" y="4023360"/>
            <a:ext cx="5486400" cy="486287"/>
          </a:xfrm>
          <a:prstGeom prst="rect">
            <a:avLst/>
          </a:prstGeom>
          <a:noFill/>
        </p:spPr>
        <p:txBody>
          <a:bodyPr wrap="square" lIns="45720" tIns="27432" rIns="45720" bIns="27432" anchor="t">
            <a:spAutoFit/>
          </a:bodyPr>
          <a:lstStyle/>
          <a:p>
            <a:pPr algn="l"/>
            <a:r>
              <a:rPr sz="2800" b="1" i="0">
                <a:solidFill>
                  <a:srgbClr val="002D72"/>
                </a:solidFill>
                <a:latin typeface="Outfit"/>
              </a:rPr>
              <a:t>Representative KPIs</a:t>
            </a:r>
          </a:p>
        </p:txBody>
      </p:sp>
      <p:sp>
        <p:nvSpPr>
          <p:cNvPr id="22" name="TextBox 21"/>
          <p:cNvSpPr txBox="1"/>
          <p:nvPr/>
        </p:nvSpPr>
        <p:spPr>
          <a:xfrm>
            <a:off x="6217920" y="4480560"/>
            <a:ext cx="5486400" cy="1723549"/>
          </a:xfrm>
          <a:prstGeom prst="rect">
            <a:avLst/>
          </a:prstGeom>
          <a:noFill/>
        </p:spPr>
        <p:txBody>
          <a:bodyPr wrap="square" lIns="45720" rIns="45720">
            <a:spAutoFit/>
          </a:bodyPr>
          <a:lstStyle/>
          <a:p>
            <a:pPr algn="l">
              <a:spcAft>
                <a:spcPts val="400"/>
              </a:spcAft>
            </a:pPr>
            <a:r>
              <a:rPr sz="1600" dirty="0">
                <a:solidFill>
                  <a:srgbClr val="002D72"/>
                </a:solidFill>
                <a:latin typeface="Outfit"/>
              </a:rPr>
              <a:t>•  Pillar 1: Campaign reach (</a:t>
            </a:r>
            <a:r>
              <a:rPr sz="1600" dirty="0" err="1">
                <a:solidFill>
                  <a:srgbClr val="002D72"/>
                </a:solidFill>
                <a:latin typeface="Outfit"/>
              </a:rPr>
              <a:t>Jibang-i</a:t>
            </a:r>
            <a:r>
              <a:rPr sz="1600" dirty="0">
                <a:solidFill>
                  <a:srgbClr val="002D72"/>
                </a:solidFill>
                <a:latin typeface="Outfit"/>
              </a:rPr>
              <a:t> asset views, target audience recall)</a:t>
            </a:r>
          </a:p>
          <a:p>
            <a:pPr algn="l">
              <a:spcAft>
                <a:spcPts val="400"/>
              </a:spcAft>
            </a:pPr>
            <a:r>
              <a:rPr sz="1600" dirty="0">
                <a:solidFill>
                  <a:srgbClr val="002D72"/>
                </a:solidFill>
                <a:latin typeface="Outfit"/>
              </a:rPr>
              <a:t>•  Pillar 2: MASLD detection rate at KMI </a:t>
            </a:r>
            <a:r>
              <a:rPr sz="1600" dirty="0" err="1">
                <a:solidFill>
                  <a:srgbClr val="002D72"/>
                </a:solidFill>
                <a:latin typeface="Outfit"/>
              </a:rPr>
              <a:t>screenees</a:t>
            </a:r>
            <a:r>
              <a:rPr sz="1600" dirty="0">
                <a:solidFill>
                  <a:srgbClr val="002D72"/>
                </a:solidFill>
                <a:latin typeface="Outfit"/>
              </a:rPr>
              <a:t> (FIB-4 ≥ 1.3)</a:t>
            </a:r>
          </a:p>
          <a:p>
            <a:pPr algn="l">
              <a:spcAft>
                <a:spcPts val="400"/>
              </a:spcAft>
            </a:pPr>
            <a:r>
              <a:rPr sz="1600" dirty="0">
                <a:solidFill>
                  <a:srgbClr val="002D72"/>
                </a:solidFill>
                <a:latin typeface="Outfit"/>
              </a:rPr>
              <a:t>•  Pillar 3: 2D-SWE adoption, HCP Masterclass graduates</a:t>
            </a:r>
          </a:p>
          <a:p>
            <a:pPr algn="l">
              <a:spcAft>
                <a:spcPts val="400"/>
              </a:spcAft>
            </a:pPr>
            <a:r>
              <a:rPr sz="1600" dirty="0">
                <a:solidFill>
                  <a:srgbClr val="002D72"/>
                </a:solidFill>
                <a:latin typeface="Outfit"/>
              </a:rPr>
              <a:t>•  Pillar 4: Society CME participation, policy engagement milestones</a:t>
            </a:r>
          </a:p>
        </p:txBody>
      </p:sp>
      <p:sp>
        <p:nvSpPr>
          <p:cNvPr id="23" name="Rectangle 22"/>
          <p:cNvSpPr/>
          <p:nvPr/>
        </p:nvSpPr>
        <p:spPr>
          <a:xfrm>
            <a:off x="502920" y="6537960"/>
            <a:ext cx="11155680" cy="76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2920" y="6601968"/>
            <a:ext cx="7315200" cy="228600"/>
          </a:xfrm>
          <a:prstGeom prst="rect">
            <a:avLst/>
          </a:prstGeom>
          <a:noFill/>
        </p:spPr>
        <p:txBody>
          <a:bodyPr wrap="square" lIns="45720" tIns="27432" rIns="45720" bIns="27432" anchor="t">
            <a:spAutoFit/>
          </a:bodyPr>
          <a:lstStyle/>
          <a:p>
            <a:pPr algn="l"/>
            <a:r>
              <a:rPr sz="800" b="0" i="0">
                <a:solidFill>
                  <a:srgbClr val="898885"/>
                </a:solidFill>
                <a:latin typeface="Outfit"/>
              </a:rPr>
              <a:t>Korea MASLD/MASH Ecosystem Blueprint  |  Johns Hopkins Bloomberg SPH  ·  MPH Practicum</a:t>
            </a:r>
          </a:p>
        </p:txBody>
      </p:sp>
      <p:sp>
        <p:nvSpPr>
          <p:cNvPr id="25" name="TextBox 24"/>
          <p:cNvSpPr txBox="1"/>
          <p:nvPr/>
        </p:nvSpPr>
        <p:spPr>
          <a:xfrm>
            <a:off x="7315200" y="6601968"/>
            <a:ext cx="4572000" cy="178510"/>
          </a:xfrm>
          <a:prstGeom prst="rect">
            <a:avLst/>
          </a:prstGeom>
          <a:noFill/>
        </p:spPr>
        <p:txBody>
          <a:bodyPr wrap="square" lIns="45720" tIns="27432" rIns="45720" bIns="27432" anchor="t">
            <a:spAutoFit/>
          </a:bodyPr>
          <a:lstStyle/>
          <a:p>
            <a:pPr algn="r"/>
            <a:r>
              <a:rPr sz="800" b="0" i="0" dirty="0">
                <a:solidFill>
                  <a:srgbClr val="898885"/>
                </a:solidFill>
                <a:latin typeface="Outfit"/>
              </a:rPr>
              <a:t>Medical Affairs, Boehringer Ingelheim Korea  |  </a:t>
            </a:r>
            <a:r>
              <a:rPr lang="en-US" sz="800" b="0" i="0" dirty="0">
                <a:solidFill>
                  <a:srgbClr val="898885"/>
                </a:solidFill>
                <a:latin typeface="Outfit"/>
              </a:rPr>
              <a:t>Apr 2026</a:t>
            </a:r>
            <a:endParaRPr sz="800" b="0" i="0" dirty="0">
              <a:solidFill>
                <a:srgbClr val="898885"/>
              </a:solidFill>
              <a:latin typeface="Outfi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002D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9144000" cy="320040"/>
          </a:xfrm>
          <a:prstGeom prst="rect">
            <a:avLst/>
          </a:prstGeom>
          <a:noFill/>
        </p:spPr>
        <p:txBody>
          <a:bodyPr wrap="square" lIns="45720" tIns="27432" rIns="45720" bIns="27432" anchor="t">
            <a:spAutoFit/>
          </a:bodyPr>
          <a:lstStyle/>
          <a:p>
            <a:pPr algn="l"/>
            <a:r>
              <a:rPr sz="1000" b="1" i="0">
                <a:solidFill>
                  <a:srgbClr val="68ACE5"/>
                </a:solidFill>
                <a:latin typeface="Outfit"/>
              </a:rPr>
              <a:t>CLOSING · BRIDGE TO DELIVERABLE 2</a:t>
            </a:r>
          </a:p>
        </p:txBody>
      </p:sp>
      <p:sp>
        <p:nvSpPr>
          <p:cNvPr id="4" name="TextBox 3"/>
          <p:cNvSpPr txBox="1"/>
          <p:nvPr/>
        </p:nvSpPr>
        <p:spPr>
          <a:xfrm>
            <a:off x="502920" y="457200"/>
            <a:ext cx="10515600" cy="548640"/>
          </a:xfrm>
          <a:prstGeom prst="rect">
            <a:avLst/>
          </a:prstGeom>
          <a:noFill/>
        </p:spPr>
        <p:txBody>
          <a:bodyPr wrap="square" lIns="45720" tIns="27432" rIns="45720" bIns="27432" anchor="t">
            <a:spAutoFit/>
          </a:bodyPr>
          <a:lstStyle/>
          <a:p>
            <a:pPr algn="l"/>
            <a:r>
              <a:rPr sz="2400" b="1" i="0">
                <a:solidFill>
                  <a:srgbClr val="FFFFFF"/>
                </a:solidFill>
                <a:latin typeface="Outfit"/>
              </a:rPr>
              <a:t>How the blueprint is operationalised</a:t>
            </a:r>
          </a:p>
        </p:txBody>
      </p:sp>
      <p:sp>
        <p:nvSpPr>
          <p:cNvPr id="5" name="TextBox 4"/>
          <p:cNvSpPr txBox="1"/>
          <p:nvPr/>
        </p:nvSpPr>
        <p:spPr>
          <a:xfrm>
            <a:off x="11338560" y="256032"/>
            <a:ext cx="640080" cy="224677"/>
          </a:xfrm>
          <a:prstGeom prst="rect">
            <a:avLst/>
          </a:prstGeom>
          <a:noFill/>
        </p:spPr>
        <p:txBody>
          <a:bodyPr wrap="square" lIns="45720" tIns="27432" rIns="45720" bIns="27432" anchor="t">
            <a:spAutoFit/>
          </a:bodyPr>
          <a:lstStyle/>
          <a:p>
            <a:pPr algn="r"/>
            <a:r>
              <a:rPr lang="en-US" sz="1100" b="1" i="0" dirty="0">
                <a:solidFill>
                  <a:srgbClr val="68ACE5"/>
                </a:solidFill>
                <a:latin typeface="Outfit"/>
              </a:rPr>
              <a:t>15</a:t>
            </a:r>
            <a:endParaRPr sz="1100" b="1" i="0" dirty="0">
              <a:solidFill>
                <a:srgbClr val="68ACE5"/>
              </a:solidFill>
              <a:latin typeface="Outfit"/>
            </a:endParaRPr>
          </a:p>
        </p:txBody>
      </p:sp>
      <p:sp>
        <p:nvSpPr>
          <p:cNvPr id="6" name="Rectangle 5"/>
          <p:cNvSpPr/>
          <p:nvPr/>
        </p:nvSpPr>
        <p:spPr>
          <a:xfrm>
            <a:off x="502920" y="1234440"/>
            <a:ext cx="3657600" cy="502920"/>
          </a:xfrm>
          <a:prstGeom prst="rect">
            <a:avLst/>
          </a:prstGeom>
          <a:solidFill>
            <a:srgbClr val="002D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7" name="TextBox 6"/>
          <p:cNvSpPr txBox="1"/>
          <p:nvPr/>
        </p:nvSpPr>
        <p:spPr>
          <a:xfrm>
            <a:off x="640080" y="1280160"/>
            <a:ext cx="3474720" cy="363176"/>
          </a:xfrm>
          <a:prstGeom prst="rect">
            <a:avLst/>
          </a:prstGeom>
          <a:noFill/>
        </p:spPr>
        <p:txBody>
          <a:bodyPr wrap="square" lIns="45720" tIns="27432" rIns="45720" bIns="27432" anchor="t">
            <a:spAutoFit/>
          </a:bodyPr>
          <a:lstStyle/>
          <a:p>
            <a:pPr algn="l"/>
            <a:r>
              <a:rPr sz="2000" b="1" i="0" dirty="0">
                <a:solidFill>
                  <a:srgbClr val="FFFFFF"/>
                </a:solidFill>
                <a:latin typeface="Outfit"/>
              </a:rPr>
              <a:t>KMI Strategic Partnership</a:t>
            </a:r>
          </a:p>
        </p:txBody>
      </p:sp>
      <p:sp>
        <p:nvSpPr>
          <p:cNvPr id="8" name="Rectangle 7"/>
          <p:cNvSpPr/>
          <p:nvPr/>
        </p:nvSpPr>
        <p:spPr>
          <a:xfrm>
            <a:off x="502920" y="1737360"/>
            <a:ext cx="3657600" cy="21031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9" name="TextBox 8"/>
          <p:cNvSpPr txBox="1"/>
          <p:nvPr/>
        </p:nvSpPr>
        <p:spPr>
          <a:xfrm>
            <a:off x="640080" y="1828800"/>
            <a:ext cx="3383280" cy="886397"/>
          </a:xfrm>
          <a:prstGeom prst="rect">
            <a:avLst/>
          </a:prstGeom>
          <a:noFill/>
        </p:spPr>
        <p:txBody>
          <a:bodyPr wrap="square" lIns="45720" tIns="27432" rIns="45720" bIns="27432" anchor="t">
            <a:spAutoFit/>
          </a:bodyPr>
          <a:lstStyle/>
          <a:p>
            <a:r>
              <a:rPr lang="en-US" altLang="ko-KR" dirty="0">
                <a:solidFill>
                  <a:srgbClr val="002D72"/>
                </a:solidFill>
                <a:latin typeface="Outfit"/>
              </a:rPr>
              <a:t>Pillars 1 &amp; 2</a:t>
            </a:r>
            <a:endParaRPr lang="en-US" b="0" i="0" dirty="0">
              <a:solidFill>
                <a:srgbClr val="002D72"/>
              </a:solidFill>
              <a:latin typeface="Outfit"/>
            </a:endParaRPr>
          </a:p>
          <a:p>
            <a:pPr algn="l"/>
            <a:r>
              <a:rPr b="0" i="0" dirty="0">
                <a:solidFill>
                  <a:srgbClr val="002D72"/>
                </a:solidFill>
                <a:latin typeface="Outfit"/>
              </a:rPr>
              <a:t>Health-screening-driven MASLD/MASH ecosystem</a:t>
            </a:r>
          </a:p>
        </p:txBody>
      </p:sp>
      <p:sp>
        <p:nvSpPr>
          <p:cNvPr id="10" name="TextBox 9"/>
          <p:cNvSpPr txBox="1"/>
          <p:nvPr/>
        </p:nvSpPr>
        <p:spPr>
          <a:xfrm>
            <a:off x="640080" y="3383280"/>
            <a:ext cx="3383280" cy="240066"/>
          </a:xfrm>
          <a:prstGeom prst="rect">
            <a:avLst/>
          </a:prstGeom>
          <a:noFill/>
        </p:spPr>
        <p:txBody>
          <a:bodyPr wrap="square" lIns="45720" tIns="27432" rIns="45720" bIns="27432" anchor="t">
            <a:spAutoFit/>
          </a:bodyPr>
          <a:lstStyle/>
          <a:p>
            <a:pPr algn="l"/>
            <a:r>
              <a:rPr sz="1200" b="0" i="1">
                <a:solidFill>
                  <a:srgbClr val="898885"/>
                </a:solidFill>
                <a:latin typeface="Outfit"/>
              </a:rPr>
              <a:t>Version: March 2026</a:t>
            </a:r>
          </a:p>
        </p:txBody>
      </p:sp>
      <p:sp>
        <p:nvSpPr>
          <p:cNvPr id="11" name="Rectangle 10"/>
          <p:cNvSpPr/>
          <p:nvPr/>
        </p:nvSpPr>
        <p:spPr>
          <a:xfrm>
            <a:off x="4251960" y="1234440"/>
            <a:ext cx="3657600" cy="502920"/>
          </a:xfrm>
          <a:prstGeom prst="rect">
            <a:avLst/>
          </a:prstGeom>
          <a:solidFill>
            <a:srgbClr val="002D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2" name="TextBox 11"/>
          <p:cNvSpPr txBox="1"/>
          <p:nvPr/>
        </p:nvSpPr>
        <p:spPr>
          <a:xfrm>
            <a:off x="4227464" y="1323619"/>
            <a:ext cx="3749040" cy="363176"/>
          </a:xfrm>
          <a:prstGeom prst="rect">
            <a:avLst/>
          </a:prstGeom>
          <a:noFill/>
        </p:spPr>
        <p:txBody>
          <a:bodyPr wrap="square" lIns="45720" tIns="27432" rIns="45720" bIns="27432" anchor="t">
            <a:spAutoFit/>
          </a:bodyPr>
          <a:lstStyle/>
          <a:p>
            <a:pPr algn="l"/>
            <a:r>
              <a:rPr sz="2000" b="1" i="0" dirty="0">
                <a:solidFill>
                  <a:srgbClr val="FFFFFF"/>
                </a:solidFill>
                <a:latin typeface="Outfit"/>
              </a:rPr>
              <a:t>365MC Public Advocacy</a:t>
            </a:r>
            <a:r>
              <a:rPr lang="ko-KR" altLang="en-US" sz="2000" b="1" i="0" dirty="0">
                <a:solidFill>
                  <a:srgbClr val="FFFFFF"/>
                </a:solidFill>
                <a:latin typeface="Outfit"/>
              </a:rPr>
              <a:t> </a:t>
            </a:r>
            <a:r>
              <a:rPr sz="2000" b="1" i="0" dirty="0">
                <a:solidFill>
                  <a:srgbClr val="FFFFFF"/>
                </a:solidFill>
                <a:latin typeface="Outfit"/>
              </a:rPr>
              <a:t>Campaign</a:t>
            </a:r>
          </a:p>
        </p:txBody>
      </p:sp>
      <p:sp>
        <p:nvSpPr>
          <p:cNvPr id="13" name="Rectangle 12"/>
          <p:cNvSpPr/>
          <p:nvPr/>
        </p:nvSpPr>
        <p:spPr>
          <a:xfrm>
            <a:off x="4251960" y="1737360"/>
            <a:ext cx="3657600" cy="21031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4" name="TextBox 13"/>
          <p:cNvSpPr txBox="1"/>
          <p:nvPr/>
        </p:nvSpPr>
        <p:spPr>
          <a:xfrm>
            <a:off x="4389120" y="1828800"/>
            <a:ext cx="3383280" cy="886397"/>
          </a:xfrm>
          <a:prstGeom prst="rect">
            <a:avLst/>
          </a:prstGeom>
          <a:noFill/>
        </p:spPr>
        <p:txBody>
          <a:bodyPr wrap="square" lIns="45720" tIns="27432" rIns="45720" bIns="27432" anchor="t">
            <a:spAutoFit/>
          </a:bodyPr>
          <a:lstStyle/>
          <a:p>
            <a:r>
              <a:rPr lang="en-US" altLang="ko-KR" dirty="0">
                <a:solidFill>
                  <a:srgbClr val="002D72"/>
                </a:solidFill>
                <a:latin typeface="Outfit"/>
              </a:rPr>
              <a:t>Pillar 1</a:t>
            </a:r>
          </a:p>
          <a:p>
            <a:pPr algn="l"/>
            <a:r>
              <a:rPr b="0" i="0" dirty="0">
                <a:solidFill>
                  <a:srgbClr val="002D72"/>
                </a:solidFill>
                <a:latin typeface="Outfit"/>
              </a:rPr>
              <a:t>"See Obesity, Think Liver" </a:t>
            </a:r>
            <a:endParaRPr lang="en-US" b="0" i="0" dirty="0">
              <a:solidFill>
                <a:srgbClr val="002D72"/>
              </a:solidFill>
              <a:latin typeface="Outfit"/>
            </a:endParaRPr>
          </a:p>
          <a:p>
            <a:pPr algn="l"/>
            <a:r>
              <a:rPr b="0" i="0" dirty="0" err="1">
                <a:solidFill>
                  <a:srgbClr val="002D72"/>
                </a:solidFill>
                <a:latin typeface="Outfit"/>
              </a:rPr>
              <a:t>Jibang-i</a:t>
            </a:r>
            <a:r>
              <a:rPr b="0" i="0" dirty="0">
                <a:solidFill>
                  <a:srgbClr val="002D72"/>
                </a:solidFill>
                <a:latin typeface="Outfit"/>
              </a:rPr>
              <a:t> communication</a:t>
            </a:r>
          </a:p>
        </p:txBody>
      </p:sp>
      <p:sp>
        <p:nvSpPr>
          <p:cNvPr id="15" name="TextBox 14"/>
          <p:cNvSpPr txBox="1"/>
          <p:nvPr/>
        </p:nvSpPr>
        <p:spPr>
          <a:xfrm>
            <a:off x="4389120" y="3383280"/>
            <a:ext cx="3383280" cy="240066"/>
          </a:xfrm>
          <a:prstGeom prst="rect">
            <a:avLst/>
          </a:prstGeom>
          <a:noFill/>
        </p:spPr>
        <p:txBody>
          <a:bodyPr wrap="square" lIns="45720" tIns="27432" rIns="45720" bIns="27432" anchor="t">
            <a:spAutoFit/>
          </a:bodyPr>
          <a:lstStyle/>
          <a:p>
            <a:pPr algn="l"/>
            <a:r>
              <a:rPr sz="1200" b="0" i="1" dirty="0">
                <a:solidFill>
                  <a:srgbClr val="898885"/>
                </a:solidFill>
                <a:latin typeface="Outfit"/>
              </a:rPr>
              <a:t>Version: </a:t>
            </a:r>
            <a:r>
              <a:rPr lang="en-US" sz="1200" b="0" i="1" dirty="0">
                <a:solidFill>
                  <a:srgbClr val="898885"/>
                </a:solidFill>
                <a:latin typeface="Outfit"/>
              </a:rPr>
              <a:t>Feb</a:t>
            </a:r>
            <a:r>
              <a:rPr sz="1200" b="0" i="1" dirty="0">
                <a:solidFill>
                  <a:srgbClr val="898885"/>
                </a:solidFill>
                <a:latin typeface="Outfit"/>
              </a:rPr>
              <a:t> 202</a:t>
            </a:r>
            <a:r>
              <a:rPr lang="en-US" sz="1200" b="0" i="1" dirty="0">
                <a:solidFill>
                  <a:srgbClr val="898885"/>
                </a:solidFill>
                <a:latin typeface="Outfit"/>
              </a:rPr>
              <a:t>6</a:t>
            </a:r>
            <a:endParaRPr sz="1200" b="0" i="1" dirty="0">
              <a:solidFill>
                <a:srgbClr val="898885"/>
              </a:solidFill>
              <a:latin typeface="Outfit"/>
            </a:endParaRPr>
          </a:p>
        </p:txBody>
      </p:sp>
      <p:sp>
        <p:nvSpPr>
          <p:cNvPr id="16" name="Rectangle 15"/>
          <p:cNvSpPr/>
          <p:nvPr/>
        </p:nvSpPr>
        <p:spPr>
          <a:xfrm>
            <a:off x="8001000" y="1234440"/>
            <a:ext cx="3657600" cy="502920"/>
          </a:xfrm>
          <a:prstGeom prst="rect">
            <a:avLst/>
          </a:prstGeom>
          <a:solidFill>
            <a:srgbClr val="002D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7" name="TextBox 16"/>
          <p:cNvSpPr txBox="1"/>
          <p:nvPr/>
        </p:nvSpPr>
        <p:spPr>
          <a:xfrm>
            <a:off x="8138160" y="1280160"/>
            <a:ext cx="3474720" cy="363176"/>
          </a:xfrm>
          <a:prstGeom prst="rect">
            <a:avLst/>
          </a:prstGeom>
          <a:noFill/>
        </p:spPr>
        <p:txBody>
          <a:bodyPr wrap="square" lIns="45720" tIns="27432" rIns="45720" bIns="27432" anchor="t">
            <a:spAutoFit/>
          </a:bodyPr>
          <a:lstStyle/>
          <a:p>
            <a:pPr algn="l"/>
            <a:r>
              <a:rPr sz="2000" b="1" i="0" dirty="0">
                <a:solidFill>
                  <a:srgbClr val="FFFFFF"/>
                </a:solidFill>
                <a:latin typeface="Outfit"/>
              </a:rPr>
              <a:t>Philips </a:t>
            </a:r>
            <a:r>
              <a:rPr lang="en-US" sz="2000" b="1" i="0" dirty="0">
                <a:solidFill>
                  <a:srgbClr val="FFFFFF"/>
                </a:solidFill>
                <a:latin typeface="Outfit"/>
              </a:rPr>
              <a:t>HCP USG Hands on</a:t>
            </a:r>
          </a:p>
        </p:txBody>
      </p:sp>
      <p:sp>
        <p:nvSpPr>
          <p:cNvPr id="18" name="Rectangle 17"/>
          <p:cNvSpPr/>
          <p:nvPr/>
        </p:nvSpPr>
        <p:spPr>
          <a:xfrm>
            <a:off x="8001000" y="1737360"/>
            <a:ext cx="3657600" cy="21031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9" name="TextBox 18"/>
          <p:cNvSpPr txBox="1"/>
          <p:nvPr/>
        </p:nvSpPr>
        <p:spPr>
          <a:xfrm>
            <a:off x="8138160" y="1828800"/>
            <a:ext cx="3383280" cy="886397"/>
          </a:xfrm>
          <a:prstGeom prst="rect">
            <a:avLst/>
          </a:prstGeom>
          <a:noFill/>
        </p:spPr>
        <p:txBody>
          <a:bodyPr wrap="square" lIns="45720" tIns="27432" rIns="45720" bIns="27432" anchor="t">
            <a:spAutoFit/>
          </a:bodyPr>
          <a:lstStyle/>
          <a:p>
            <a:r>
              <a:rPr lang="en-US" altLang="ko-KR" dirty="0">
                <a:solidFill>
                  <a:srgbClr val="002D72"/>
                </a:solidFill>
                <a:latin typeface="Outfit"/>
              </a:rPr>
              <a:t>Pillar 3 </a:t>
            </a:r>
          </a:p>
          <a:p>
            <a:r>
              <a:rPr b="0" i="0" dirty="0">
                <a:solidFill>
                  <a:srgbClr val="002D72"/>
                </a:solidFill>
                <a:latin typeface="Outfit"/>
              </a:rPr>
              <a:t>2D-SWE + HCP education for primary-care MASLD assessment</a:t>
            </a:r>
          </a:p>
        </p:txBody>
      </p:sp>
      <p:sp>
        <p:nvSpPr>
          <p:cNvPr id="20" name="TextBox 19"/>
          <p:cNvSpPr txBox="1"/>
          <p:nvPr/>
        </p:nvSpPr>
        <p:spPr>
          <a:xfrm>
            <a:off x="8138160" y="3383280"/>
            <a:ext cx="3383280" cy="240066"/>
          </a:xfrm>
          <a:prstGeom prst="rect">
            <a:avLst/>
          </a:prstGeom>
          <a:noFill/>
        </p:spPr>
        <p:txBody>
          <a:bodyPr wrap="square" lIns="45720" tIns="27432" rIns="45720" bIns="27432" anchor="t">
            <a:spAutoFit/>
          </a:bodyPr>
          <a:lstStyle/>
          <a:p>
            <a:pPr algn="l"/>
            <a:r>
              <a:rPr sz="1200" b="0" i="1">
                <a:solidFill>
                  <a:srgbClr val="898885"/>
                </a:solidFill>
                <a:latin typeface="Outfit"/>
              </a:rPr>
              <a:t>Version: March 2026</a:t>
            </a:r>
          </a:p>
        </p:txBody>
      </p:sp>
      <p:sp>
        <p:nvSpPr>
          <p:cNvPr id="21" name="Rectangle 20"/>
          <p:cNvSpPr/>
          <p:nvPr/>
        </p:nvSpPr>
        <p:spPr>
          <a:xfrm>
            <a:off x="502920" y="4023360"/>
            <a:ext cx="11155680" cy="2331720"/>
          </a:xfrm>
          <a:prstGeom prst="rect">
            <a:avLst/>
          </a:prstGeom>
          <a:solidFill>
            <a:srgbClr val="002D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2" name="TextBox 21"/>
          <p:cNvSpPr txBox="1"/>
          <p:nvPr/>
        </p:nvSpPr>
        <p:spPr>
          <a:xfrm>
            <a:off x="640080" y="4114800"/>
            <a:ext cx="10972800" cy="363176"/>
          </a:xfrm>
          <a:prstGeom prst="rect">
            <a:avLst/>
          </a:prstGeom>
          <a:noFill/>
        </p:spPr>
        <p:txBody>
          <a:bodyPr wrap="square" lIns="45720" tIns="27432" rIns="45720" bIns="27432" anchor="t">
            <a:spAutoFit/>
          </a:bodyPr>
          <a:lstStyle/>
          <a:p>
            <a:pPr algn="l"/>
            <a:r>
              <a:rPr sz="2000" b="1" i="0" dirty="0">
                <a:solidFill>
                  <a:srgbClr val="68ACE5"/>
                </a:solidFill>
                <a:latin typeface="Outfit"/>
              </a:rPr>
              <a:t>Key References </a:t>
            </a:r>
          </a:p>
        </p:txBody>
      </p:sp>
      <p:sp>
        <p:nvSpPr>
          <p:cNvPr id="23" name="TextBox 22"/>
          <p:cNvSpPr txBox="1"/>
          <p:nvPr/>
        </p:nvSpPr>
        <p:spPr>
          <a:xfrm>
            <a:off x="640080" y="4432592"/>
            <a:ext cx="10972800" cy="1569660"/>
          </a:xfrm>
          <a:prstGeom prst="rect">
            <a:avLst/>
          </a:prstGeom>
          <a:noFill/>
        </p:spPr>
        <p:txBody>
          <a:bodyPr wrap="square" lIns="45720" rIns="45720">
            <a:spAutoFit/>
          </a:bodyPr>
          <a:lstStyle/>
          <a:p>
            <a:pPr algn="l"/>
            <a:r>
              <a:rPr sz="1200" dirty="0">
                <a:solidFill>
                  <a:srgbClr val="FFFFFF"/>
                </a:solidFill>
                <a:latin typeface="Outfit"/>
              </a:rPr>
              <a:t>·  Nah EH et al. Prevalence of liver fibrosis in the Korean general population. BMJ Open. 2021;11:e046529.</a:t>
            </a:r>
          </a:p>
          <a:p>
            <a:pPr algn="l"/>
            <a:r>
              <a:rPr sz="1200" dirty="0">
                <a:solidFill>
                  <a:srgbClr val="FFFFFF"/>
                </a:solidFill>
                <a:latin typeface="Outfit"/>
              </a:rPr>
              <a:t>·  Kim HY et al. Prevalence of clinically significant liver fibrosis: A systematic review and meta-analysis. Clin Mol Hepatol. 2024;30(S):S199-S213.</a:t>
            </a:r>
          </a:p>
          <a:p>
            <a:pPr algn="l"/>
            <a:r>
              <a:rPr sz="1200" dirty="0">
                <a:solidFill>
                  <a:srgbClr val="FFFFFF"/>
                </a:solidFill>
                <a:latin typeface="Outfit"/>
              </a:rPr>
              <a:t>·  </a:t>
            </a:r>
            <a:r>
              <a:rPr sz="1200" dirty="0" err="1">
                <a:solidFill>
                  <a:srgbClr val="FFFFFF"/>
                </a:solidFill>
                <a:latin typeface="Outfit"/>
              </a:rPr>
              <a:t>Younossi</a:t>
            </a:r>
            <a:r>
              <a:rPr sz="1200" dirty="0">
                <a:solidFill>
                  <a:srgbClr val="FFFFFF"/>
                </a:solidFill>
                <a:latin typeface="Outfit"/>
              </a:rPr>
              <a:t> ZM et al. Hepatology. 2023;77(4):1335-47. HIRA Statistics K758/K760, 2022. KOSIS 2024.</a:t>
            </a:r>
          </a:p>
          <a:p>
            <a:pPr algn="l"/>
            <a:r>
              <a:rPr sz="1200" dirty="0">
                <a:solidFill>
                  <a:srgbClr val="FFFFFF"/>
                </a:solidFill>
                <a:latin typeface="Outfit"/>
              </a:rPr>
              <a:t>·  EASL-EASD-EASO. Clinical Practice Guidelines on the management of MASLD. J Hepatol. 2024. · KASL. 2024 Clinical Practice Guidelines for NIT.</a:t>
            </a:r>
          </a:p>
          <a:p>
            <a:pPr algn="l"/>
            <a:r>
              <a:rPr sz="1200" dirty="0">
                <a:solidFill>
                  <a:srgbClr val="FFFFFF"/>
                </a:solidFill>
                <a:latin typeface="Outfit"/>
              </a:rPr>
              <a:t>·  Ferraioli G et al. WFUMB Liver Ultrasound Elastography Guidelines Update. 2018. · Rinella ME et al. AASLD Practice Guidance on NAFLD. Hepatology. 2023;77(5):1797-1835.</a:t>
            </a:r>
          </a:p>
          <a:p>
            <a:pPr algn="l"/>
            <a:r>
              <a:rPr sz="1200" dirty="0">
                <a:solidFill>
                  <a:srgbClr val="FFFFFF"/>
                </a:solidFill>
                <a:latin typeface="Outfit"/>
              </a:rPr>
              <a:t>·  Indre MG et al. Diagnostic accuracy of 2D-SWE for liver fibrosis in MASLD: meta-analysis. Hepatology. 2025;82(2):454-469.</a:t>
            </a:r>
          </a:p>
          <a:p>
            <a:pPr algn="l"/>
            <a:r>
              <a:rPr sz="1200" dirty="0">
                <a:solidFill>
                  <a:srgbClr val="FFFFFF"/>
                </a:solidFill>
                <a:latin typeface="Outfit"/>
              </a:rPr>
              <a:t>·  Jeon SK et al. Clin Ultrasound. 2020;5(2):59-64. · KHIDI 2021 Equipment Statistics. · OECD Health at a Glance 2025 (Korea). · NHIS 2024 Health Screening Yearbook.</a:t>
            </a:r>
          </a:p>
          <a:p>
            <a:pPr algn="l"/>
            <a:r>
              <a:rPr sz="1200" dirty="0">
                <a:solidFill>
                  <a:srgbClr val="FFFFFF"/>
                </a:solidFill>
                <a:latin typeface="Outfit"/>
              </a:rPr>
              <a:t>·  Senge PM. The Fifth Discipline. 1990. · Meadows DH. Thinking in Systems. 2008. (Systems-archetype framework).</a:t>
            </a:r>
          </a:p>
        </p:txBody>
      </p:sp>
      <p:sp>
        <p:nvSpPr>
          <p:cNvPr id="24" name="Rectangle 23"/>
          <p:cNvSpPr/>
          <p:nvPr/>
        </p:nvSpPr>
        <p:spPr>
          <a:xfrm>
            <a:off x="502920" y="6537960"/>
            <a:ext cx="11155680" cy="76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02920" y="6601968"/>
            <a:ext cx="7315200" cy="228600"/>
          </a:xfrm>
          <a:prstGeom prst="rect">
            <a:avLst/>
          </a:prstGeom>
          <a:noFill/>
        </p:spPr>
        <p:txBody>
          <a:bodyPr wrap="square" lIns="45720" tIns="27432" rIns="45720" bIns="27432" anchor="t">
            <a:spAutoFit/>
          </a:bodyPr>
          <a:lstStyle/>
          <a:p>
            <a:pPr algn="l"/>
            <a:r>
              <a:rPr sz="800" b="0" i="0">
                <a:solidFill>
                  <a:srgbClr val="898885"/>
                </a:solidFill>
                <a:latin typeface="Outfit"/>
              </a:rPr>
              <a:t>Korea MASLD/MASH Ecosystem Blueprint  |  Johns Hopkins Bloomberg SPH  ·  MPH Practicum</a:t>
            </a:r>
          </a:p>
        </p:txBody>
      </p:sp>
      <p:sp>
        <p:nvSpPr>
          <p:cNvPr id="26" name="TextBox 25"/>
          <p:cNvSpPr txBox="1"/>
          <p:nvPr/>
        </p:nvSpPr>
        <p:spPr>
          <a:xfrm>
            <a:off x="7315200" y="6601968"/>
            <a:ext cx="4572000" cy="178510"/>
          </a:xfrm>
          <a:prstGeom prst="rect">
            <a:avLst/>
          </a:prstGeom>
          <a:noFill/>
        </p:spPr>
        <p:txBody>
          <a:bodyPr wrap="square" lIns="45720" tIns="27432" rIns="45720" bIns="27432" anchor="t">
            <a:spAutoFit/>
          </a:bodyPr>
          <a:lstStyle/>
          <a:p>
            <a:pPr algn="r"/>
            <a:r>
              <a:rPr sz="800" b="0" i="0" dirty="0">
                <a:solidFill>
                  <a:srgbClr val="898885"/>
                </a:solidFill>
                <a:latin typeface="Outfit"/>
              </a:rPr>
              <a:t>Medical Affairs, Boehringer Ingelheim Korea  |  </a:t>
            </a:r>
            <a:r>
              <a:rPr lang="en-US" sz="800" b="0" i="0" dirty="0">
                <a:solidFill>
                  <a:srgbClr val="898885"/>
                </a:solidFill>
                <a:latin typeface="Outfit"/>
              </a:rPr>
              <a:t>Apr 2026</a:t>
            </a:r>
            <a:endParaRPr sz="800" b="0" i="0" dirty="0">
              <a:solidFill>
                <a:srgbClr val="898885"/>
              </a:solidFill>
              <a:latin typeface="Outfi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bfd0b529-4a04-4616-88d2-531082d94bb8}" enabled="1" method="Standard" siteId="{e1f8af86-ee95-4718-bd0d-375b37366c83}" removed="0"/>
</clbl:labelList>
</file>

<file path=docProps/app.xml><?xml version="1.0" encoding="utf-8"?>
<Properties xmlns="http://schemas.openxmlformats.org/officeDocument/2006/extended-properties" xmlns:vt="http://schemas.openxmlformats.org/officeDocument/2006/docPropsVTypes">
  <TotalTime>1237</TotalTime>
  <Words>2477</Words>
  <Application>Microsoft Office PowerPoint</Application>
  <PresentationFormat>와이드스크린</PresentationFormat>
  <Paragraphs>326</Paragraphs>
  <Slides>15</Slides>
  <Notes>0</Notes>
  <HiddenSlides>0</HiddenSlides>
  <MMClips>0</MMClips>
  <ScaleCrop>false</ScaleCrop>
  <HeadingPairs>
    <vt:vector size="4" baseType="variant">
      <vt:variant>
        <vt:lpstr>테마</vt:lpstr>
      </vt:variant>
      <vt:variant>
        <vt:i4>1</vt:i4>
      </vt:variant>
      <vt:variant>
        <vt:lpstr>슬라이드 제목</vt:lpstr>
      </vt:variant>
      <vt:variant>
        <vt:i4>15</vt:i4>
      </vt:variant>
    </vt:vector>
  </HeadingPairs>
  <TitlesOfParts>
    <vt:vector size="16" baseType="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subject/>
  <dc:creator/>
  <cp:keywords/>
  <dc:description>generated using python-pptx</dc:description>
  <cp:lastModifiedBy>Kim,Dr.,Kyungmoon (HP OB LI) BI-KR-S</cp:lastModifiedBy>
  <cp:revision>4</cp:revision>
  <dcterms:created xsi:type="dcterms:W3CDTF">2013-01-27T09:14:16Z</dcterms:created>
  <dcterms:modified xsi:type="dcterms:W3CDTF">2026-07-04T10:22:52Z</dcterms:modified>
  <cp:category/>
</cp:coreProperties>
</file>